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4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5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6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d4d095189b4e5f" /><Relationship Type="http://schemas.openxmlformats.org/officeDocument/2006/relationships/extended-properties" Target="/docProps/app.xml" Id="R15739d3f881c47d2" /><Relationship Type="http://schemas.openxmlformats.org/officeDocument/2006/relationships/officeDocument" Target="/ppt/presentation.xml" Id="Re99eb0ef8c084f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a16547de7645d4"/>
  </p:sldMasterIdLst>
  <p:notesMasterIdLst>
    <p:notesMasterId xmlns:r="http://schemas.openxmlformats.org/officeDocument/2006/relationships" r:id="R623a349cb487493c"/>
  </p:notesMasterIdLst>
  <p:sldIdLst>
    <p:sldId xmlns:r="http://schemas.openxmlformats.org/officeDocument/2006/relationships" id="256" r:id="R2595203c986b4b80"/>
    <p:sldId xmlns:r="http://schemas.openxmlformats.org/officeDocument/2006/relationships" id="257" r:id="R0a5c6006fb0e49a7"/>
    <p:sldId xmlns:r="http://schemas.openxmlformats.org/officeDocument/2006/relationships" id="258" r:id="R623db9bba16a4623"/>
    <p:sldId xmlns:r="http://schemas.openxmlformats.org/officeDocument/2006/relationships" id="259" r:id="R16993864dca0481d"/>
    <p:sldId xmlns:r="http://schemas.openxmlformats.org/officeDocument/2006/relationships" id="260" r:id="Ra9f515f1a6324ffe"/>
    <p:sldId xmlns:r="http://schemas.openxmlformats.org/officeDocument/2006/relationships" id="261" r:id="R52154317d4fd474c"/>
    <p:sldId xmlns:r="http://schemas.openxmlformats.org/officeDocument/2006/relationships" id="262" r:id="R694a198a77c94737"/>
    <p:sldId xmlns:r="http://schemas.openxmlformats.org/officeDocument/2006/relationships" id="263" r:id="Re79f1f58543047d5"/>
    <p:sldId xmlns:r="http://schemas.openxmlformats.org/officeDocument/2006/relationships" id="264" r:id="Rddbf75b6d347426f"/>
    <p:sldId xmlns:r="http://schemas.openxmlformats.org/officeDocument/2006/relationships" id="265" r:id="Raf0e228aa6c1429b"/>
    <p:sldId xmlns:r="http://schemas.openxmlformats.org/officeDocument/2006/relationships" id="266" r:id="Rd5802ea2aa2248a5"/>
    <p:sldId xmlns:r="http://schemas.openxmlformats.org/officeDocument/2006/relationships" id="267" r:id="R9463edfc11a44584"/>
    <p:sldId xmlns:r="http://schemas.openxmlformats.org/officeDocument/2006/relationships" id="268" r:id="R4408657dcc554993"/>
    <p:sldId xmlns:r="http://schemas.openxmlformats.org/officeDocument/2006/relationships" id="269" r:id="R53dd2fe59c224de8"/>
    <p:sldId xmlns:r="http://schemas.openxmlformats.org/officeDocument/2006/relationships" id="270" r:id="R0a9e5aec1a6f4cb0"/>
    <p:sldId xmlns:r="http://schemas.openxmlformats.org/officeDocument/2006/relationships" id="271" r:id="Rf6a7369e2a3540fe"/>
    <p:sldId xmlns:r="http://schemas.openxmlformats.org/officeDocument/2006/relationships" id="272" r:id="R3304d8eadd0f412e"/>
    <p:sldId xmlns:r="http://schemas.openxmlformats.org/officeDocument/2006/relationships" id="273" r:id="R488c2e683f424ebd"/>
    <p:sldId xmlns:r="http://schemas.openxmlformats.org/officeDocument/2006/relationships" id="274" r:id="Rdfe9e71f63a84bc2"/>
    <p:sldId xmlns:r="http://schemas.openxmlformats.org/officeDocument/2006/relationships" id="275" r:id="R847aff1a2d004215"/>
    <p:sldId xmlns:r="http://schemas.openxmlformats.org/officeDocument/2006/relationships" id="276" r:id="R0dbcec6863964ccb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322350e57544b6" /><Relationship Type="http://schemas.openxmlformats.org/officeDocument/2006/relationships/slideMaster" Target="/ppt/slideMasters/slideMaster1.xml" Id="R1ea16547de7645d4" /><Relationship Type="http://schemas.openxmlformats.org/officeDocument/2006/relationships/notesMaster" Target="/ppt/notesMasters/notesMaster1.xml" Id="R623a349cb487493c" /><Relationship Type="http://schemas.openxmlformats.org/officeDocument/2006/relationships/presProps" Target="/ppt/presProps.xml" Id="R728417828e184d54" /><Relationship Type="http://schemas.openxmlformats.org/officeDocument/2006/relationships/viewProps" Target="/ppt/viewProps.xml" Id="Recc245269c2f4fe3" /><Relationship Type="http://schemas.openxmlformats.org/officeDocument/2006/relationships/tableStyles" Target="/ppt/tableStyles.xml" Id="Re6ffd271676a4e1a" /><Relationship Type="http://schemas.openxmlformats.org/officeDocument/2006/relationships/slide" Target="/ppt/slides/slide1.xml" Id="R2595203c986b4b80" /><Relationship Type="http://schemas.openxmlformats.org/officeDocument/2006/relationships/slide" Target="/ppt/slides/slide2.xml" Id="R0a5c6006fb0e49a7" /><Relationship Type="http://schemas.openxmlformats.org/officeDocument/2006/relationships/slide" Target="/ppt/slides/slide3.xml" Id="R623db9bba16a4623" /><Relationship Type="http://schemas.openxmlformats.org/officeDocument/2006/relationships/slide" Target="/ppt/slides/slide4.xml" Id="R16993864dca0481d" /><Relationship Type="http://schemas.openxmlformats.org/officeDocument/2006/relationships/slide" Target="/ppt/slides/slide5.xml" Id="Ra9f515f1a6324ffe" /><Relationship Type="http://schemas.openxmlformats.org/officeDocument/2006/relationships/slide" Target="/ppt/slides/slide6.xml" Id="R52154317d4fd474c" /><Relationship Type="http://schemas.openxmlformats.org/officeDocument/2006/relationships/slide" Target="/ppt/slides/slide7.xml" Id="R694a198a77c94737" /><Relationship Type="http://schemas.openxmlformats.org/officeDocument/2006/relationships/slide" Target="/ppt/slides/slide8.xml" Id="Re79f1f58543047d5" /><Relationship Type="http://schemas.openxmlformats.org/officeDocument/2006/relationships/slide" Target="/ppt/slides/slide9.xml" Id="Rddbf75b6d347426f" /><Relationship Type="http://schemas.openxmlformats.org/officeDocument/2006/relationships/slide" Target="/ppt/slides/slide10.xml" Id="Raf0e228aa6c1429b" /><Relationship Type="http://schemas.openxmlformats.org/officeDocument/2006/relationships/slide" Target="/ppt/slides/slide11.xml" Id="Rd5802ea2aa2248a5" /><Relationship Type="http://schemas.openxmlformats.org/officeDocument/2006/relationships/slide" Target="/ppt/slides/slide12.xml" Id="R9463edfc11a44584" /><Relationship Type="http://schemas.openxmlformats.org/officeDocument/2006/relationships/slide" Target="/ppt/slides/slide13.xml" Id="R4408657dcc554993" /><Relationship Type="http://schemas.openxmlformats.org/officeDocument/2006/relationships/slide" Target="/ppt/slides/slide14.xml" Id="R53dd2fe59c224de8" /><Relationship Type="http://schemas.openxmlformats.org/officeDocument/2006/relationships/slide" Target="/ppt/slides/slide15.xml" Id="R0a9e5aec1a6f4cb0" /><Relationship Type="http://schemas.openxmlformats.org/officeDocument/2006/relationships/slide" Target="/ppt/slides/slide16.xml" Id="Rf6a7369e2a3540fe" /><Relationship Type="http://schemas.openxmlformats.org/officeDocument/2006/relationships/slide" Target="/ppt/slides/slide17.xml" Id="R3304d8eadd0f412e" /><Relationship Type="http://schemas.openxmlformats.org/officeDocument/2006/relationships/slide" Target="/ppt/slides/slide18.xml" Id="R488c2e683f424ebd" /><Relationship Type="http://schemas.openxmlformats.org/officeDocument/2006/relationships/slide" Target="/ppt/slides/slide19.xml" Id="Rdfe9e71f63a84bc2" /><Relationship Type="http://schemas.openxmlformats.org/officeDocument/2006/relationships/slide" Target="/ppt/slides/slide20.xml" Id="R847aff1a2d004215" /><Relationship Type="http://schemas.openxmlformats.org/officeDocument/2006/relationships/slide" Target="/ppt/slides/slide21.xml" Id="R0dbcec6863964c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c11e68a7314c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3f5d386b474638" /><Relationship Type="http://schemas.openxmlformats.org/officeDocument/2006/relationships/notesMaster" Target="/ppt/notesMasters/notesMaster1.xml" Id="Re50c44442ba543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660e078b8a4b21" /><Relationship Type="http://schemas.openxmlformats.org/officeDocument/2006/relationships/notesMaster" Target="/ppt/notesMasters/notesMaster1.xml" Id="R014d42cf2e2146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27d6c6c79148e4" /><Relationship Type="http://schemas.openxmlformats.org/officeDocument/2006/relationships/notesMaster" Target="/ppt/notesMasters/notesMaster1.xml" Id="R929dc4d8378049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b61e310c3d4064" /><Relationship Type="http://schemas.openxmlformats.org/officeDocument/2006/relationships/notesMaster" Target="/ppt/notesMasters/notesMaster1.xml" Id="Rbab7694bed664b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d90cd4b7b04dce" /><Relationship Type="http://schemas.openxmlformats.org/officeDocument/2006/relationships/notesMaster" Target="/ppt/notesMasters/notesMaster1.xml" Id="Rdd0ebaa635b443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3854d72cec4dbd" /><Relationship Type="http://schemas.openxmlformats.org/officeDocument/2006/relationships/notesMaster" Target="/ppt/notesMasters/notesMaster1.xml" Id="R2ea3e9fb8d274a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d67e5446964998" /><Relationship Type="http://schemas.openxmlformats.org/officeDocument/2006/relationships/notesMaster" Target="/ppt/notesMasters/notesMaster1.xml" Id="R027af17f10b24c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7ce2e8381b4d20" /><Relationship Type="http://schemas.openxmlformats.org/officeDocument/2006/relationships/notesMaster" Target="/ppt/notesMasters/notesMaster1.xml" Id="R5fca2c45a3264b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602ad0778c41b4" /><Relationship Type="http://schemas.openxmlformats.org/officeDocument/2006/relationships/notesMaster" Target="/ppt/notesMasters/notesMaster1.xml" Id="R83d1b406ebc840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e2756c7e044b5d" /><Relationship Type="http://schemas.openxmlformats.org/officeDocument/2006/relationships/notesMaster" Target="/ppt/notesMasters/notesMaster1.xml" Id="R4081ae809b1645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c8204fd15b43af" /><Relationship Type="http://schemas.openxmlformats.org/officeDocument/2006/relationships/notesMaster" Target="/ppt/notesMasters/notesMaster1.xml" Id="Rb1d519d3f6494c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46c05f1d8c481f" /><Relationship Type="http://schemas.openxmlformats.org/officeDocument/2006/relationships/notesMaster" Target="/ppt/notesMasters/notesMaster1.xml" Id="Rc54e7dce8edc47b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40f510154854bc3" /><Relationship Type="http://schemas.openxmlformats.org/officeDocument/2006/relationships/notesMaster" Target="/ppt/notesMasters/notesMaster1.xml" Id="Rc0a61ae35a804ef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89c8fe5bda14242" /><Relationship Type="http://schemas.openxmlformats.org/officeDocument/2006/relationships/notesMaster" Target="/ppt/notesMasters/notesMaster1.xml" Id="Re7d32ad3107d4f0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54619e0e0464f95" /><Relationship Type="http://schemas.openxmlformats.org/officeDocument/2006/relationships/notesMaster" Target="/ppt/notesMasters/notesMaster1.xml" Id="Ra08f2a2927ce4bc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d16d04c856d427c" /><Relationship Type="http://schemas.openxmlformats.org/officeDocument/2006/relationships/notesMaster" Target="/ppt/notesMasters/notesMaster1.xml" Id="R06a7bf476c4b486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d9196c119fe4116" /><Relationship Type="http://schemas.openxmlformats.org/officeDocument/2006/relationships/notesMaster" Target="/ppt/notesMasters/notesMaster1.xml" Id="R53ac7b69eec241a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7aa92890fa74865" /><Relationship Type="http://schemas.openxmlformats.org/officeDocument/2006/relationships/notesMaster" Target="/ppt/notesMasters/notesMaster1.xml" Id="R89fe59a61cb2436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bc0f799e9924693" /><Relationship Type="http://schemas.openxmlformats.org/officeDocument/2006/relationships/notesMaster" Target="/ppt/notesMasters/notesMaster1.xml" Id="Rea997fc2a80d401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274806ece624e59" /><Relationship Type="http://schemas.openxmlformats.org/officeDocument/2006/relationships/notesMaster" Target="/ppt/notesMasters/notesMaster1.xml" Id="R69d5a98c5164473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3618bbd4d1844aa" /><Relationship Type="http://schemas.openxmlformats.org/officeDocument/2006/relationships/notesMaster" Target="/ppt/notesMasters/notesMaster1.xml" Id="R281d399ceee945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老师、同学们好，我们汇报的是基于 DQN 与 PPO 的 Breakout 智能体。项目先完成 DQN 的训练与退化分析，随后加入 PPO，并围绕更新稳定性开展对照实验。下面重点介绍方法设计、实验过程，以及统一测试能够支持的结论。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我们使用自制的固定规则 Breakout，物理版本为三。游戏有五条生命、两面砖墙，满分八百六十四。球速固定为每秒一百二十像素，挡板宽十六像素。DQN 和 PPO 都只看连续画面，输出等待、发球、向右和向左四种动作，不读取球坐标。一次动作重复四个物理帧，再对末两帧取最大值、转灰度、缩放并堆叠四次观测。四帧提供运动方向的线索。最终比较统一使用原始击砖分数，辅助接球奖励只在单独实验中研究。失去一条生命不结束整局，自动发球由包装器完成。这使两种方法面对相同的控制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最初选择 DQN，是因为四个离散动作可以直接对应四个 Q 值，经验回放也方便反复利用交互数据。新增 PPO 后，我们补上了另一类学习机制：直接更新动作概率，并通过概率比裁剪控制更新幅度。DQN 的问题集中在继续训练为什么回退，PPO 则进一步研究策略与价值学习、长期奖励分配和更新幅度。两者分别代表价值学习和策略优化，具有明确的对照意义。A2C 也适用于离散任务，但继续增加算法需要对应的调参和重复实验预算。本项目选择把已有两种方法的过程与证据做完整。SB3 标准 SAC 和 TD3 面向连续动作，不能直接替换当前接口。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两种方法输入都是四乘八十四乘八十四的图像，在网络内将像素除以二百五十五。特征提取采用同类的三层 NatureCNN，输出经过展平和五百一十二维全连接层。DQN 最后输出四个动作价值，通过取最大值决定动作，并维护结构相同的目标网络。PPO 输出四个动作的概率和一个状态价值。初始标准 PPO 共享特征，后续版本改成独立的策略和价值 CNN，结构相同但参数不共享。拆分时复制原权重，使迁移前后的输出保持一致，再为两组对照同样重置优化器。推理只使用策略分支，价值分支只辅助训练。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DQN 将交互写入回放池，随机抽取三十二条经验，用当前奖励加上目标网络预测的下一状态最大价值，构成 TD 目标，再用 Huber 损失更新在线网络。每四个决策步更新一次，每一万步同步目标网络。基础阶段训练五十万步，学习率为一万分之一。续训加载已有权重，学习率从三乘十的负五次方降到十的负五次方，探索率从零点零五降到零点零二。历史续训重建了回放池，先用恢复策略采集两万步再学习，因此并非完整恢复原训练状态。模型定期保存，同时根据开发评估保留最佳检查点，保存最后一步和选择最佳模型是两件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PPO 先用当前策略采集轨迹，保存旧动作概率和价值预测，再对这一批数据更新。这里十六个环境各采集二百五十六步，共四千零九十六条转移，每批二百五十六条，最多优化四轮。GAE 将连续的价值 TD 误差按伽马和 lambda 衰减累加，估计动作比通常表现好多少。策略目标比较新旧动作概率的比值，并对过大的有利变化截断收益，减少一次更新走得太远。价值分支拟合固定回报目标，熵项保留探索。更新后重新采集轨迹，不使用长期旧回放。概率比裁剪、价值损失和 KL 保护作用不同，也都不能保证每次训练后游戏得分提高。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我们在标准 PPO 上研究了两层工程改动。Balanced PPO 将策略和价值网络分开，梯度范数上限分别设为零点五和一，避免共同裁剪把两类梯度捆在一起。价值损失采用两倍 Huber，小误差区与均方误差相同，大误差区限制极端残差影响。后续 GAE 和 KL 实验都沿用这套结构。KL 反馈则只调整策略学习率：测量一整轮更新后的策略变化，做平滑；变化偏小时提高下一轮倍率，偏大时降低，倍率限制在零点五到二之间。对照组关闭反馈，其他设置保持一致。这里反馈目标零点零零零五与 KL 停更保护零点零零七五是两个参数，前者调下一轮，后者保护当前更新。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实验不是两条从头训练到尾的简单曲线。DQN 从基础三十五万步模型续训，在新增二万五千步选出最佳，再分别尝试三步回报和扩大回放，两条分支都在五万步早停。PPO 先训练标准基线，之后依次研究稳定续训、长回报、辅助奖励、独立梯度裁剪、价值拟合和 GAE。GAE 两组从同一起点出发，只改变 lambda，训练种子为四十七。最新 KL 实验又从开发流程选中的零点九八模型出发，用四十八、四十九和五十这三个续训种子各做一对。六次续训实际都完成五十万三千八百零八步。它们共享已有起点，不能称为三次独立从零训练，也不能把所有分支步数相加当成一条策略的训练历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是基础阶段，三十五万步开发均分一百七十四，训练结束为一百三十三点三。随后五十个候选复核开局也支持选择三十五万步。右图是低学习率续训，新增二万五千步达到二百八十三点四八，继续到二十万步却降为一百一十三点一二。两个恢复分支结束时分别为一百八十七点七八和二百一十六点九四，都没有超过起点。进一步固定最佳和最后模型，在相同三十个开发种子上复测，均分为二百六十点二七和一百二十二点四，最佳在二十八局更高。这里能确认训练退化和检查点选择的重要性，但恢复实验同时改变了多个设置，尚不能确认唯一原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这两组从同一个 Balanced 模型出发，只有 GAE lambda 分别为零点九八和零点九九，其他参数及新增预算相同。更大的 lambda 让远处 TD 误差的权重衰减更慢，也可能增加方差。左图保留所有真实开发节点，可以看到两组都有波动。零点九八的最佳开发均分是一百九十六，零点九九是一百七十一点零九，所以主 PPO 按开发结果选择零点九八。候选选择还允许中位数更高的模型替换，但其均分必须达到最佳均分的百分之九十五，本轮均未触发替换。两组都完成完整预算，测试分数稍后统一报告。即使零点九九的测试均分更高，也不会据此事后更换主候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这张表汇总每一轮改动相对自身对照的收益，不能将不同轮次的原始均分串成提升曲线。稳定续训组合比单纯续训低约九点七分，辅助奖励比原始奖励低三十一点二分。独立裁剪与 Huber 组合高十八点九二分，但区间跨零。双学习率实验中，额外价值拟合大多降低了训练误差，所选模型却仍然是起点，说明拟合得更好不自动等于策略更强。GAE 零点九九相对零点九八只高六点八八分，区间同样跨零。最新 KL 反馈平均高七点八一分，也没有稳定优势。组合改动和早停还限制了单因素归因，因此我们把正结果与负结果一起保留。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 KL 实验更明确地检验更新幅度。左图显示三个续训种子的学习率倍率，后半段都接近二倍上限，说明控制器确实改变了策略更新。后十万步的整轮 KL 中位数，反馈组约为一点六乘十的负四次方，对照约为八点五乘十的负五次方。但右表显示，三组测试差分别为正五十三点六、负三十三点五和正三点三四，方向不一致。两组平均分是二百零六点五三和一百九十八点七一，差值区间从负四十七点二九到正六十四点一七。该区间按训练种子对和共同游戏开局两维重采样。每组虽然有一百五十局，也只有三次共享起点的续训，当前证据不足以确认 KL 反馈稳定有效。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现在的评估分为三套用途。DQN 历史三十局用于诊断最佳与终点的差异，仍属于开发复测。新增统一测试使用十二万一千到十二万一千零四十九，共五十个相同开局，同时评估随机策略、DQN、PPO 共同起点及两个 GAE 候选。模型权重固定，在 CPU 上确定性选动作，随机基线则均匀采样。KL 轮次另外使用新的开发和测试种子，因此不能把其二百零六分直接与统一测试的 DQN 分数排名。统一测试保持环境、观测、奖励和时间上限一致，但两种算法的训练历史与调参预算不同，所得结论是固定模型比较，还不是等预算算法优劣比较。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在相同五十个测试开局中，随机策略均分零点八八，DQN 为二百七十三点三六，主 PPO 为一百九十六点五四。PPO 零点九九的补充结果为二百零三点四二，共同起点则为一百二十九点九八。两个 PPO 候选都高于共同起点，但零点九九相对零点九八的额外收益仍不明确。DQN 减主 PPO 的平均配对差是七十六点八二分，百分之九十五区间为二十八点零二到一百二十五点二四，五十局里三十一局 DQN 更高。因而当前固定 DQN 候选在这组测试中占优。这个判断同时报告了 PPO 的结果，不把它扩展成 DQN 在任何训练条件下都更强。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左图将同一开局的 DQN 减主 PPO 分数排序，正值有三十一局，负值仍有十九局。平均领先不代表每个开局都更好。右侧进一步看低分尾部，DQN 的第百分之二十五分位是二百三十五点五，主 PPO 是八十分，低于五十分分别为零局和九局。主 PPO 有五局达到时间上限，零点九九有三局，DQN 没有。时间截断可能对应持续游戏但得分增长有限，不能当成通关，更不能仅按局长判断能力。所有候选都没有达到八百六十四分完整通关。这里的置信区间只反映固定模型在这些游戏开局上的波动，不包含重新训练模型的随机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这页保留真实的 DQN 行为片段，便于把统计指标和游戏动作联系起来。上排每张间隔零点二秒，挡板向右接近小球，球到达挡板附近后向上反弹，展示了有效接球。下排来自同一局稍后时刻，小球靠近右侧时已超出挡板覆盖范围，随后生命从五条降为四条。即使统一测试中没有低于五十分的开局，模型仍然会发生局部控制失误。这些画面只能说明样本中的行为，不能单独证明精确落点预测，也不能代表 PPO 的失球原因。后续应按算法统计更多失败轨迹，将漏接、低效循环与时间截断分别分析。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我们得到的核心结论有两层。模型层面，DQN 和 PPO 都从像素中学到了有效控制，在统一测试中明显高于随机策略，当前 DQN 候选的均分和低分尾部更好。训练层面，DQN 的低学习率续训会回退，PPO 的裁剪和工程改动也不保证持续提高，开发选模和保留起点始终必要。项目已经补齐同开局随机对照、独立测试，以及 KL 的三次配对续训，但仍缺少 DQN 与 PPO 的等预算、多次从零训练比较。后续应先固定交互和调参预算，再重复训练，并用全新测试开局评估。对于 KL 反馈，可以继续研究目标调度，但不能把当前均值的小幅上升当成已经成立的算法改进。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以上是我们小组的汇报。感谢何琨老师在课程中的指导，感谢各位老师和同学的聆听。欢迎大家批评指正，谢谢！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DQN 使用目标 Q 网络构造 TD 目标，普通一步目标与三步回报的区别在于累计真实奖励的跨度。PPO 使用 GAE 计算优势，并通过新旧概率比构造裁剪策略目标。Balanced PPO 的价值损失在误差不超过十时等于平方误差，超过十时转为线性增长。两种方法都要区分终止与截断：生命耗尽或通关是真正终止，只失去一条生命继续同一完整游戏，达到时间上限则利用实际最终观测处理自举。优势累计不能跨越环境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统一测试的逐局结果保存在报告数据目录，汇总记录包含环境配置、模型散列和配对区间。PPO 主候选是 GAE 零点九八的开发最佳模型，不能用零点九九较高的测试均分更换它。KL 轮次使用新的游戏开局，六次续训从同一个冻结模型出发，协议文件记录代码、配置和模型散列。复核应以历史配置、选模记录和逐局 CSV 为准，不把当前默认参数反推为历史设置，也不把不同轮次的回合合成一个测试样本。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本项目选择 DQN 和 PPO，是为了覆盖价值学习与策略优化两种机制，同时保留足够预算分析各自的训练过程。没有继续增加 A2C，并不表示它不适用；增加算法还需要匹配的调参与重复训练。当前统一测试支持固定 DQN 候选优于主 PPO 候选，但不能证明算法本身普遍更优。KL 反馈虽已改变学习率和策略变化幅度，三次续训的收益方向仍不一致，因此应报告未确认稳定优势。项目的工作集中在统一环境、可追溯的实验管理、实现变体与配对验证，不将这些工程改动宣称为新的强化学习算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46a3d1c3da44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01c7dce8cc47e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a96f9ddef24c4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bfefccfa2845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be33e2f83c4e2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1771720e594fa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df73cec52443c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5bbe2d0cd14a9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6e53b3cd7f4bc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08d027fb75466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f05d077ac6487a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0C1F030-9364-48F6-A355-9BFB977701E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BCBDC52-B23A-4318-BBDD-59CDE0A3BA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B66521A-9DA2-4778-98FB-1557C31B34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75DC947-44BE-435F-8BE4-157C7F8F18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幻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293ADBB-6194-465F-BA36-7051866CD3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AB6525B-9740-4E19-9265-0EE5DDFBFC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7BE7444-06BC-4277-93F7-21EA077B412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7DBC848-A926-41FE-B04B-9196DD1382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9F8487D-1591-4E70-BE05-EA954495A0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幻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FB9E7B9-EF32-4C3D-9D86-431282AF86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00C89D0-8ED9-4598-A498-98482469F4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9114AF5-FE5D-4AD2-8228-6F3D3D276A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3DEB014-CD4E-4A1C-B816-FE2317FB2D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C8161B6-2F59-4C77-805B-6644D6B93A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幻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FC91B94-6B30-42FD-8180-852C94241C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B3DCC5D-6DDE-423B-9C11-AF67B856A5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5F7E690-F746-4859-85FD-83E6745FF5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6C48E9A-8AE9-4D72-9287-98DC17BF73C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7E55EAC-E565-4F7F-88B4-A382B29D86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CAB56E9-2B25-485E-9AD7-BCBC8E5A5A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幻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03C9045-D06B-4B23-A4A3-9A918191D1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6E30727-ADF5-41B7-B6EA-C013FAD585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CF0C7C5-5FC0-40A3-A7C7-7D9E528D09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DD84E0C-82B9-4EAA-9055-D96182DD874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F74A0BB7-EA51-4415-82EA-C2E5A4C9B33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7D599FC2-A8FB-471B-B27C-873CFC84A5D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E10A5C5-5B6A-4A61-B405-C339CB9808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C444DDC-3623-4B54-983C-0194B97B24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幻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423277B-B7A7-4963-95D1-3D0950D90A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73CA43F-BF11-4DE9-A5A8-B74E409A52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C34865D-7FB4-4175-9BD3-251C2081FD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C59C35E-609B-448E-96AD-AE0C79CCCF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幻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E79381FC-32F8-44D5-B35F-A7D6230A53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1FF42D8-7DA4-4333-A3DE-0D0D47767B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3944EB4-1A8D-4AB4-9201-121206CEE1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幻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E5A2260-60E3-465C-9168-8E0B4CA22B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FC92865-48DC-4E5A-86D1-6B60360090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B2A383A-D4F4-4667-8FB7-A1DBF0FCC25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96B7ED4-A55C-4ED9-8496-58AE9D142A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322B5E7-67D8-4E1C-8E7F-F3004A5D20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527D625-0A4E-44E1-A5C1-A15CD10D2E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幻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1D6FE61-A602-4DC6-89AA-C1A9DD2ECD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DD2F468-C23A-4468-B437-E32787E1C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79882CAD-13CE-4FB9-B031-CE45D41A525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F486B2D-A1A8-4E89-983F-7F177D7BA43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78689AB-27CF-404C-ACAE-3AAC57044F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34A197F2-F875-44C6-85DD-D21ED62100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幻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787662E-28B8-4C0D-9FF6-3071D034E5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98D70AE-2C7F-4605-86B2-F11040A2A1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本占位符 2">
            <a:extLst xmlns:a="http://schemas.openxmlformats.org/drawingml/2006/main">
              <a:ext uri="{FF2B5EF4-FFF2-40B4-BE49-F238E27FC236}">
                <a16:creationId xmlns:a16="http://schemas.microsoft.com/office/drawing/2014/main" id="{3A84F8E8-6A6B-457F-9379-C77A01BBAF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7310AC6-14F7-4DED-AAAF-E672174F4D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3D9F180-8174-4638-AA13-E2C3B5057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幻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B792C72-063E-44B0-BC44-36F29C9DEE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85059F55-7F84-4B32-8749-58330CDF4B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本占位符 2">
            <a:extLst xmlns:a="http://schemas.openxmlformats.org/drawingml/2006/main">
              <a:ext uri="{FF2B5EF4-FFF2-40B4-BE49-F238E27FC236}">
                <a16:creationId xmlns:a16="http://schemas.microsoft.com/office/drawing/2014/main" id="{7AF8FF65-64C0-44BB-9F12-35363E4005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F1931F5-0CC0-406E-BA01-DB1115D248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E4D48C8-89D3-4841-9CE8-7DA1A77E65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幻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5558111-97DA-4D90-9A0C-154B171BB8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5f1485e4bb4716" /><Relationship Type="http://schemas.openxmlformats.org/officeDocument/2006/relationships/slideLayout" Target="/ppt/slideLayouts/slideLayout1.xml" Id="Ra8f8cc821f944cff" /><Relationship Type="http://schemas.openxmlformats.org/officeDocument/2006/relationships/slideLayout" Target="/ppt/slideLayouts/slideLayout2.xml" Id="R1176e185853d496e" /><Relationship Type="http://schemas.openxmlformats.org/officeDocument/2006/relationships/slideLayout" Target="/ppt/slideLayouts/slideLayout3.xml" Id="R6829835360a44cf3" /><Relationship Type="http://schemas.openxmlformats.org/officeDocument/2006/relationships/slideLayout" Target="/ppt/slideLayouts/slideLayout4.xml" Id="Rd48998d810704aa9" /><Relationship Type="http://schemas.openxmlformats.org/officeDocument/2006/relationships/slideLayout" Target="/ppt/slideLayouts/slideLayout5.xml" Id="Rca1ef18116fe46e1" /><Relationship Type="http://schemas.openxmlformats.org/officeDocument/2006/relationships/slideLayout" Target="/ppt/slideLayouts/slideLayout6.xml" Id="R4f15825b6e734d0c" /><Relationship Type="http://schemas.openxmlformats.org/officeDocument/2006/relationships/slideLayout" Target="/ppt/slideLayouts/slideLayout7.xml" Id="R7b9be8e817a84c0c" /><Relationship Type="http://schemas.openxmlformats.org/officeDocument/2006/relationships/slideLayout" Target="/ppt/slideLayouts/slideLayout8.xml" Id="R67588fd039004402" /><Relationship Type="http://schemas.openxmlformats.org/officeDocument/2006/relationships/slideLayout" Target="/ppt/slideLayouts/slideLayout9.xml" Id="R12a98e8115a74e9a" /><Relationship Type="http://schemas.openxmlformats.org/officeDocument/2006/relationships/slideLayout" Target="/ppt/slideLayouts/slideLayout10.xml" Id="Rc3dd2011b0c14923" /><Relationship Type="http://schemas.openxmlformats.org/officeDocument/2006/relationships/slideLayout" Target="/ppt/slideLayouts/slideLayout11.xml" Id="R0895fa0dacd6418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BBC01ADE-D5EB-4AA4-BFC2-4261D531DB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0B5C5BA-F32D-4ED0-9F03-F3E47ED706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53A2608-3D33-44E1-BBC9-40FB8E8DEE0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F5E0C96-5BE4-41FE-AD37-30077D63C57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幻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B45C6A6-71EF-4E30-8861-DD81B8C891E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f8cc821f944cff"/>
    <p:sldLayoutId xmlns:r="http://schemas.openxmlformats.org/officeDocument/2006/relationships" id="2147483650" r:id="R1176e185853d496e"/>
    <p:sldLayoutId xmlns:r="http://schemas.openxmlformats.org/officeDocument/2006/relationships" id="2147483651" r:id="R6829835360a44cf3"/>
    <p:sldLayoutId xmlns:r="http://schemas.openxmlformats.org/officeDocument/2006/relationships" id="2147483652" r:id="Rd48998d810704aa9"/>
    <p:sldLayoutId xmlns:r="http://schemas.openxmlformats.org/officeDocument/2006/relationships" id="2147483653" r:id="Rca1ef18116fe46e1"/>
    <p:sldLayoutId xmlns:r="http://schemas.openxmlformats.org/officeDocument/2006/relationships" id="2147483654" r:id="R4f15825b6e734d0c"/>
    <p:sldLayoutId xmlns:r="http://schemas.openxmlformats.org/officeDocument/2006/relationships" id="2147483655" r:id="R7b9be8e817a84c0c"/>
    <p:sldLayoutId xmlns:r="http://schemas.openxmlformats.org/officeDocument/2006/relationships" id="2147483656" r:id="R67588fd039004402"/>
    <p:sldLayoutId xmlns:r="http://schemas.openxmlformats.org/officeDocument/2006/relationships" id="2147483657" r:id="R12a98e8115a74e9a"/>
    <p:sldLayoutId xmlns:r="http://schemas.openxmlformats.org/officeDocument/2006/relationships" id="2147483658" r:id="Rc3dd2011b0c14923"/>
    <p:sldLayoutId xmlns:r="http://schemas.openxmlformats.org/officeDocument/2006/relationships" id="2147483659" r:id="R0895fa0dacd6418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42c9989674572" /><Relationship Type="http://schemas.openxmlformats.org/officeDocument/2006/relationships/image" Target="/ppt/media/image.png" Id="R9e3526539cb34519" /><Relationship Type="http://schemas.openxmlformats.org/officeDocument/2006/relationships/image" Target="/ppt/media/image2.png" Id="Rd9bad1a38e5141a9" /><Relationship Type="http://schemas.openxmlformats.org/officeDocument/2006/relationships/image" Target="/ppt/media/image3.png" Id="Ra0dd131f92af4caa" /><Relationship Type="http://schemas.openxmlformats.org/officeDocument/2006/relationships/notesSlide" Target="/ppt/notesSlides/notesSlide1.xml" Id="R26227b14975149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2e1cf6afe431f" /><Relationship Type="http://schemas.openxmlformats.org/officeDocument/2006/relationships/image" Target="/ppt/media/image4.png" Id="Raeedfc6580494902" /><Relationship Type="http://schemas.openxmlformats.org/officeDocument/2006/relationships/image" Target="/ppt/media/image3.png" Id="Rc7149dace7144487" /><Relationship Type="http://schemas.openxmlformats.org/officeDocument/2006/relationships/image" Target="/ppt/media/image5.png" Id="R1958f747cada4bdf" /><Relationship Type="http://schemas.openxmlformats.org/officeDocument/2006/relationships/notesSlide" Target="/ppt/notesSlides/notesSlide2.xml" Id="R83b3821669b34d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89369c59d413e" /><Relationship Type="http://schemas.openxmlformats.org/officeDocument/2006/relationships/image" Target="/ppt/media/image4.png" Id="Rc6c44d427acd47e1" /><Relationship Type="http://schemas.openxmlformats.org/officeDocument/2006/relationships/image" Target="/ppt/media/image3.png" Id="R3bfc4df2dc484528" /><Relationship Type="http://schemas.openxmlformats.org/officeDocument/2006/relationships/notesSlide" Target="/ppt/notesSlides/notesSlide3.xml" Id="R4935df17f7ce46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327661d1e4986" /><Relationship Type="http://schemas.openxmlformats.org/officeDocument/2006/relationships/image" Target="/ppt/media/image4.png" Id="R8f4d41c4f36b4d24" /><Relationship Type="http://schemas.openxmlformats.org/officeDocument/2006/relationships/image" Target="/ppt/media/image3.png" Id="R65aff7f8f7c04fb5" /><Relationship Type="http://schemas.openxmlformats.org/officeDocument/2006/relationships/notesSlide" Target="/ppt/notesSlides/notesSlide4.xml" Id="R1a9498084c7d4a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2c6905d7f4e5e" /><Relationship Type="http://schemas.openxmlformats.org/officeDocument/2006/relationships/image" Target="/ppt/media/image4.png" Id="Rc9366cd152de4dc8" /><Relationship Type="http://schemas.openxmlformats.org/officeDocument/2006/relationships/image" Target="/ppt/media/image3.png" Id="R87e0be0951e84701" /><Relationship Type="http://schemas.openxmlformats.org/officeDocument/2006/relationships/notesSlide" Target="/ppt/notesSlides/notesSlide5.xml" Id="R2675f1d4625c4a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cf924080c4460" /><Relationship Type="http://schemas.openxmlformats.org/officeDocument/2006/relationships/image" Target="/ppt/media/image4.png" Id="R6f9322238cc0438e" /><Relationship Type="http://schemas.openxmlformats.org/officeDocument/2006/relationships/image" Target="/ppt/media/image3.png" Id="R1515a2c5103c4525" /><Relationship Type="http://schemas.openxmlformats.org/officeDocument/2006/relationships/notesSlide" Target="/ppt/notesSlides/notesSlide6.xml" Id="Rbdf90e2cee424d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5142141cc4cc7" /><Relationship Type="http://schemas.openxmlformats.org/officeDocument/2006/relationships/image" Target="/ppt/media/image4.png" Id="Ra551661cadea4e51" /><Relationship Type="http://schemas.openxmlformats.org/officeDocument/2006/relationships/image" Target="/ppt/media/image3.png" Id="R1bd7c33d0a9c4855" /><Relationship Type="http://schemas.openxmlformats.org/officeDocument/2006/relationships/notesSlide" Target="/ppt/notesSlides/notesSlide7.xml" Id="R6f40c69e9ce44c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abb77d5814659" /><Relationship Type="http://schemas.openxmlformats.org/officeDocument/2006/relationships/image" Target="/ppt/media/image4.png" Id="Ra77a1723ffb2426c" /><Relationship Type="http://schemas.openxmlformats.org/officeDocument/2006/relationships/image" Target="/ppt/media/image3.png" Id="R348df041180a470c" /><Relationship Type="http://schemas.openxmlformats.org/officeDocument/2006/relationships/notesSlide" Target="/ppt/notesSlides/notesSlide8.xml" Id="R8c64f236dd5d46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3dbf1ffa845e0" /><Relationship Type="http://schemas.openxmlformats.org/officeDocument/2006/relationships/image" Target="/ppt/media/image4.png" Id="R6439b447b54f4b8e" /><Relationship Type="http://schemas.openxmlformats.org/officeDocument/2006/relationships/image" Target="/ppt/media/image3.png" Id="R88161ce7869b4ade" /><Relationship Type="http://schemas.openxmlformats.org/officeDocument/2006/relationships/chart" Target="/ppt/slides/charts/chart1.xml" Id="R1934b0bfe3b446ad" /><Relationship Type="http://schemas.openxmlformats.org/officeDocument/2006/relationships/chart" Target="/ppt/slides/charts/chart2.xml" Id="Re21c48c725294306" /><Relationship Type="http://schemas.openxmlformats.org/officeDocument/2006/relationships/notesSlide" Target="/ppt/notesSlides/notesSlide9.xml" Id="Rf4fccd4882b749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394d0bc934ad1" /><Relationship Type="http://schemas.openxmlformats.org/officeDocument/2006/relationships/image" Target="/ppt/media/image4.png" Id="R6d11cf66cb9e4a7c" /><Relationship Type="http://schemas.openxmlformats.org/officeDocument/2006/relationships/image" Target="/ppt/media/image3.png" Id="Rce7bd685f88d41e2" /><Relationship Type="http://schemas.openxmlformats.org/officeDocument/2006/relationships/chart" Target="/ppt/slides/charts/chart3.xml" Id="R23f07fd8ec6b4b9c" /><Relationship Type="http://schemas.openxmlformats.org/officeDocument/2006/relationships/notesSlide" Target="/ppt/notesSlides/notesSlide10.xml" Id="Rd8ae9a6417e84a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29a42eec54a92" /><Relationship Type="http://schemas.openxmlformats.org/officeDocument/2006/relationships/image" Target="/ppt/media/image4.png" Id="R10c4b56a4c4d44ea" /><Relationship Type="http://schemas.openxmlformats.org/officeDocument/2006/relationships/image" Target="/ppt/media/image3.png" Id="R936e3045af0a4205" /><Relationship Type="http://schemas.openxmlformats.org/officeDocument/2006/relationships/notesSlide" Target="/ppt/notesSlides/notesSlide11.xml" Id="Rd13ba8afea514d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1fba9422b432a" /><Relationship Type="http://schemas.openxmlformats.org/officeDocument/2006/relationships/image" Target="/ppt/media/image4.png" Id="Rca5b1458f45b4d70" /><Relationship Type="http://schemas.openxmlformats.org/officeDocument/2006/relationships/image" Target="/ppt/media/image3.png" Id="R0763355a5c9b40c5" /><Relationship Type="http://schemas.openxmlformats.org/officeDocument/2006/relationships/chart" Target="/ppt/slides/charts/chart4.xml" Id="R9dc2574f892d439d" /><Relationship Type="http://schemas.openxmlformats.org/officeDocument/2006/relationships/notesSlide" Target="/ppt/notesSlides/notesSlide12.xml" Id="R2272d0e1ee9d455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9afdb4a4b436d" /><Relationship Type="http://schemas.openxmlformats.org/officeDocument/2006/relationships/image" Target="/ppt/media/image4.png" Id="R75d637418b8743d8" /><Relationship Type="http://schemas.openxmlformats.org/officeDocument/2006/relationships/image" Target="/ppt/media/image3.png" Id="Re064c1a961624c11" /><Relationship Type="http://schemas.openxmlformats.org/officeDocument/2006/relationships/notesSlide" Target="/ppt/notesSlides/notesSlide13.xml" Id="Rd5ed8a5f12c2449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350c58eae459f" /><Relationship Type="http://schemas.openxmlformats.org/officeDocument/2006/relationships/image" Target="/ppt/media/image4.png" Id="R503ea2fa636f468d" /><Relationship Type="http://schemas.openxmlformats.org/officeDocument/2006/relationships/image" Target="/ppt/media/image3.png" Id="R6d6318c4bb3a4910" /><Relationship Type="http://schemas.openxmlformats.org/officeDocument/2006/relationships/chart" Target="/ppt/slides/charts/chart5.xml" Id="R5c2d69fe96e44006" /><Relationship Type="http://schemas.openxmlformats.org/officeDocument/2006/relationships/notesSlide" Target="/ppt/notesSlides/notesSlide14.xml" Id="R1f549d81b5a2484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c71cb634148ef" /><Relationship Type="http://schemas.openxmlformats.org/officeDocument/2006/relationships/image" Target="/ppt/media/image4.png" Id="Ra7193ce4c6a844ea" /><Relationship Type="http://schemas.openxmlformats.org/officeDocument/2006/relationships/image" Target="/ppt/media/image3.png" Id="R1253470a6adc44e2" /><Relationship Type="http://schemas.openxmlformats.org/officeDocument/2006/relationships/chart" Target="/ppt/slides/charts/chart6.xml" Id="R2213ac3dc23641c9" /><Relationship Type="http://schemas.openxmlformats.org/officeDocument/2006/relationships/notesSlide" Target="/ppt/notesSlides/notesSlide15.xml" Id="R61906d2fb26c436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31e9903a04f1e" /><Relationship Type="http://schemas.openxmlformats.org/officeDocument/2006/relationships/image" Target="/ppt/media/image4.png" Id="R39a5d1341d524b70" /><Relationship Type="http://schemas.openxmlformats.org/officeDocument/2006/relationships/image" Target="/ppt/media/image3.png" Id="Rd16a07961a8b45a9" /><Relationship Type="http://schemas.openxmlformats.org/officeDocument/2006/relationships/image" Target="/ppt/media/image6.png" Id="Re3761fab8c1241f8" /><Relationship Type="http://schemas.openxmlformats.org/officeDocument/2006/relationships/image" Target="/ppt/media/image7.png" Id="R9b898420884d49a4" /><Relationship Type="http://schemas.openxmlformats.org/officeDocument/2006/relationships/image" Target="/ppt/media/image8.png" Id="R4b40f6bf8dd94556" /><Relationship Type="http://schemas.openxmlformats.org/officeDocument/2006/relationships/image" Target="/ppt/media/image9.png" Id="Rcf45a55898704b42" /><Relationship Type="http://schemas.openxmlformats.org/officeDocument/2006/relationships/image" Target="/ppt/media/image10.png" Id="R19da2e25f085481b" /><Relationship Type="http://schemas.openxmlformats.org/officeDocument/2006/relationships/image" Target="/ppt/media/image11.png" Id="R3bb9949b25ac4b2b" /><Relationship Type="http://schemas.openxmlformats.org/officeDocument/2006/relationships/image" Target="/ppt/media/image12.png" Id="R4abed39c07114dbe" /><Relationship Type="http://schemas.openxmlformats.org/officeDocument/2006/relationships/image" Target="/ppt/media/image13.png" Id="R74d5a711ad45467e" /><Relationship Type="http://schemas.openxmlformats.org/officeDocument/2006/relationships/notesSlide" Target="/ppt/notesSlides/notesSlide16.xml" Id="R5a76e7b1aedb452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2e302e5b84174" /><Relationship Type="http://schemas.openxmlformats.org/officeDocument/2006/relationships/image" Target="/ppt/media/image4.png" Id="R6464ce7bc36f4f37" /><Relationship Type="http://schemas.openxmlformats.org/officeDocument/2006/relationships/image" Target="/ppt/media/image3.png" Id="Rd4bfd437f5764b0f" /><Relationship Type="http://schemas.openxmlformats.org/officeDocument/2006/relationships/notesSlide" Target="/ppt/notesSlides/notesSlide17.xml" Id="Rf44fb07c9044435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dd859a7fe4e74" /><Relationship Type="http://schemas.openxmlformats.org/officeDocument/2006/relationships/image" Target="/ppt/media/image.png" Id="R8a7600a53f7a4e8b" /><Relationship Type="http://schemas.openxmlformats.org/officeDocument/2006/relationships/image" Target="/ppt/media/image2.png" Id="Rb0523a2318fe44d3" /><Relationship Type="http://schemas.openxmlformats.org/officeDocument/2006/relationships/image" Target="/ppt/media/image3.png" Id="Rdd706cf5e3284af2" /><Relationship Type="http://schemas.openxmlformats.org/officeDocument/2006/relationships/notesSlide" Target="/ppt/notesSlides/notesSlide18.xml" Id="R2fa4443f5195485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ddd9de16a4a1b" /><Relationship Type="http://schemas.openxmlformats.org/officeDocument/2006/relationships/image" Target="/ppt/media/image4.png" Id="Rf4932be3de014165" /><Relationship Type="http://schemas.openxmlformats.org/officeDocument/2006/relationships/image" Target="/ppt/media/image3.png" Id="R5edcd69583b64883" /><Relationship Type="http://schemas.openxmlformats.org/officeDocument/2006/relationships/notesSlide" Target="/ppt/notesSlides/notesSlide19.xml" Id="Ra518406106704ae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a0450de4240ff" /><Relationship Type="http://schemas.openxmlformats.org/officeDocument/2006/relationships/image" Target="/ppt/media/image4.png" Id="R5e4e120844464959" /><Relationship Type="http://schemas.openxmlformats.org/officeDocument/2006/relationships/image" Target="/ppt/media/image3.png" Id="R3a32447dcc5e44a4" /><Relationship Type="http://schemas.openxmlformats.org/officeDocument/2006/relationships/notesSlide" Target="/ppt/notesSlides/notesSlide20.xml" Id="Rb6e3049a24bd4f3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8469ddef440b1" /><Relationship Type="http://schemas.openxmlformats.org/officeDocument/2006/relationships/image" Target="/ppt/media/image4.png" Id="Rd65b51bb7fa0476f" /><Relationship Type="http://schemas.openxmlformats.org/officeDocument/2006/relationships/image" Target="/ppt/media/image3.png" Id="R0d3f05ccc3194151" /><Relationship Type="http://schemas.openxmlformats.org/officeDocument/2006/relationships/hyperlink" Target="https://stable-baselines3.readthedocs.io/en/master/modules/dqn.html" TargetMode="External" Id="R1cadae1b0ca540f7" /><Relationship Type="http://schemas.openxmlformats.org/officeDocument/2006/relationships/hyperlink" Target="https://stable-baselines3.readthedocs.io/en/master/modules/ppo.html" TargetMode="External" Id="R097208434cac41d6" /><Relationship Type="http://schemas.openxmlformats.org/officeDocument/2006/relationships/hyperlink" Target="https://stable-baselines3.readthedocs.io/en/master/guide/algos.html" TargetMode="External" Id="R581f28dc348c4f4f" /><Relationship Type="http://schemas.openxmlformats.org/officeDocument/2006/relationships/hyperlink" Target="https://arxiv.org/abs/1707.06347" TargetMode="External" Id="Ra05e4c0c2eda4719" /><Relationship Type="http://schemas.openxmlformats.org/officeDocument/2006/relationships/notesSlide" Target="/ppt/notesSlides/notesSlide21.xml" Id="R5ff2ebe91ae94c2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ns0:chartSpace xmlns:ns0="http://schemas.openxmlformats.org/drawingml/2006/chart" xmlns:ns1="http://schemas.openxmlformats.org/drawingml/2006/main" xmlns:r="http://schemas.openxmlformats.org/officeDocument/2006/relationships">
  <ns0:lang val="en-US"/>
  <ns0:chart>
    <ns0:plotArea>
      <ns0:scatterChart>
        <ns0:scatterStyle val="lineMarker"/>
        <ns0:varyColors val="0"/>
        <ns0:ser>
          <ns0:idx val="0"/>
          <ns0:order val="0"/>
          <ns0:tx>
            <ns0:v>基础开发均分</ns0:v>
          </ns0:tx>
          <ns0:spPr>
            <ns1:ln w="22860">
              <ns1:solidFill>
                <ns1:srgbClr val="065980"/>
              </ns1:solidFill>
            </ns1:ln>
          </ns0:spPr>
          <ns0:marker>
            <ns0:symbol val="circle"/>
            <ns0:size val="5"/>
            <ns0:spPr>
              <ns1:solidFill>
                <ns1:srgbClr val="065980"/>
              </ns1:solidFill>
              <ns1:ln w="9525">
                <ns1:solidFill>
                  <ns1:srgbClr val="065980"/>
                </ns1:solidFill>
              </ns1:ln>
            </ns0:spPr>
          </ns0:marker>
          <ns0:xVal>
            <ns0:numRef>
              <ns0:f>'Chart Data'!$A$2:$A$11</ns0:f>
              <ns0:numCache>
                <ns0:formatCode>General</ns0:formatCode>
                <ns0:ptCount val="10"/>
                <ns0:pt idx="0">
                  <ns0:v>50</ns0:v>
                </ns0:pt>
                <ns0:pt idx="1">
                  <ns0:v>100</ns0:v>
                </ns0:pt>
                <ns0:pt idx="2">
                  <ns0:v>150</ns0:v>
                </ns0:pt>
                <ns0:pt idx="3">
                  <ns0:v>200</ns0:v>
                </ns0:pt>
                <ns0:pt idx="4">
                  <ns0:v>250</ns0:v>
                </ns0:pt>
                <ns0:pt idx="5">
                  <ns0:v>300</ns0:v>
                </ns0:pt>
                <ns0:pt idx="6">
                  <ns0:v>350</ns0:v>
                </ns0:pt>
                <ns0:pt idx="7">
                  <ns0:v>400</ns0:v>
                </ns0:pt>
                <ns0:pt idx="8">
                  <ns0:v>450</ns0:v>
                </ns0:pt>
                <ns0:pt idx="9">
                  <ns0:v>500</ns0:v>
                </ns0:pt>
              </ns0:numCache>
            </ns0:numRef>
          </ns0:xVal>
          <ns0:yVal>
            <ns0:numRef>
              <ns0:f>'Chart Data'!$B$2:$B$11</ns0:f>
              <ns0:numCache>
                <ns0:formatCode>0</ns0:formatCode>
                <ns0:ptCount val="10"/>
                <ns0:pt idx="0">
                  <ns0:v>0.65</ns0:v>
                </ns0:pt>
                <ns0:pt idx="1">
                  <ns0:v>0.55</ns0:v>
                </ns0:pt>
                <ns0:pt idx="2">
                  <ns0:v>0.5</ns0:v>
                </ns0:pt>
                <ns0:pt idx="3">
                  <ns0:v>0.5</ns0:v>
                </ns0:pt>
                <ns0:pt idx="4">
                  <ns0:v>13.55</ns0:v>
                </ns0:pt>
                <ns0:pt idx="5">
                  <ns0:v>173.55</ns0:v>
                </ns0:pt>
                <ns0:pt idx="6">
                  <ns0:v>174</ns0:v>
                </ns0:pt>
                <ns0:pt idx="7">
                  <ns0:v>70.2</ns0:v>
                </ns0:pt>
                <ns0:pt idx="8">
                  <ns0:v>68.1</ns0:v>
                </ns0:pt>
                <ns0:pt idx="9">
                  <ns0:v>133.3</ns0:v>
                </ns0:pt>
              </ns0:numCache>
            </ns0:numRef>
          </ns0:yVal>
          <ns0:smooth val="0"/>
        </ns0:ser>
        <ns0:dLbls>
          <ns0:txPr>
            <ns1:bodyPr anchorCtr="1"/>
            <ns1:lstStyle/>
            <ns1:p>
              <ns1:pPr>
                <ns1:defRPr>
                  <ns1:latin typeface="微软雅黑"/>
                  <ns1:ea typeface="微软雅黑"/>
                  <ns1:cs typeface="微软雅黑"/>
                </ns1:defRPr>
              </ns1:pPr>
            </ns1:p>
          </ns0:txPr>
          <ns0:showLegendKey val="0"/>
          <ns0:showVal val="0"/>
          <ns0:showCatName val="0"/>
          <ns0:showSerName val="0"/>
          <ns0:showPercent val="0"/>
          <ns0:showBubbleSize val="0"/>
          <ns0:showLeaderLines val="0"/>
        </ns0:dLbls>
        <ns0:axId val="48650112"/>
        <ns0:axId val="48672768"/>
      </ns0:scatterChart>
      <ns0:valAx>
        <ns0:axId val="48672768"/>
        <ns0:scaling>
          <ns0:orientation val="minMax"/>
          <ns0:max val="200"/>
          <ns0:min val="0"/>
        </ns0:scaling>
        <ns0:delete val="0"/>
        <ns0:axPos val="l"/>
        <ns0:majorGridlines>
          <ns0:spPr>
            <ns1:ln w="9525">
              <ns1:solidFill>
                <ns1:srgbClr val="DFE6EB"/>
              </ns1:solidFill>
            </ns1:ln>
          </ns0:spPr>
        </ns0:majorGridlines>
        <ns0:numFmt formatCode="0"/>
        <ns0:majorTickMark val="none"/>
        <ns0:minorTickMark val="none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 sz="1275">
                <ns1:solidFill>
                  <ns1:srgbClr val="5D6975"/>
                </ns1:solidFill>
                <ns1:latin typeface="微软雅黑"/>
                <ns1:ea typeface="微软雅黑"/>
                <ns1:cs typeface="微软雅黑"/>
              </ns1:defRPr>
            </ns1:pPr>
          </ns1:p>
        </ns0:txPr>
        <ns0:crossAx val="48650112"/>
        <ns0:majorUnit val="50"/>
      </ns0:valAx>
      <ns0:valAx>
        <ns0:axId val="48650112"/>
        <ns0:scaling>
          <ns0:orientation val="minMax"/>
          <ns0:max val="500"/>
          <ns0:min val="0"/>
        </ns0:scaling>
        <ns0:delete val="0"/>
        <ns0:axPos val="b"/>
        <ns0:numFmt formatCode="General"/>
        <ns0:majorTickMark val="none"/>
        <ns0:minorTickMark val="none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 sz="1200">
                <ns1:solidFill>
                  <ns1:srgbClr val="5D6975"/>
                </ns1:solidFill>
                <ns1:latin typeface="微软雅黑"/>
                <ns1:ea typeface="微软雅黑"/>
                <ns1:cs typeface="微软雅黑"/>
              </ns1:defRPr>
            </ns1:pPr>
          </ns1:p>
        </ns0:txPr>
        <ns0:crossAx val="48672768"/>
        <ns0:majorUnit val="100"/>
      </ns0:valAx>
      <ns0:spPr>
        <ns1:solidFill>
          <ns1:srgbClr val="FFFFFF"/>
        </ns1:solidFill>
        <ns1:ln w="0">
          <ns1:noFill/>
        </ns1:ln>
      </ns0:spPr>
    </ns0:plotArea>
    <ns0:plotVisOnly val="1"/>
  </ns0:chart>
  <ns0:spPr>
    <ns1:solidFill>
      <ns1:srgbClr val="FFFFFF"/>
    </ns1:solidFill>
    <ns1:ln w="0">
      <ns1:noFill/>
    </ns1:ln>
  </ns0:spPr>
  <ns0:externalData r:id="rIdChartSnapshot1">
    <ns0:autoUpdate val="0"/>
  </ns0:externalData>
</ns0:chartSpace>
</file>

<file path=ppt/slides/charts/chart2.xml><?xml version="1.0" encoding="utf-8"?>
<ns0:chartSpace xmlns:ns0="http://schemas.openxmlformats.org/drawingml/2006/chart" xmlns:ns1="http://schemas.openxmlformats.org/drawingml/2006/main" xmlns:r="http://schemas.openxmlformats.org/officeDocument/2006/relationships">
  <ns0:lang val="en-US"/>
  <ns0:chart>
    <ns0:plotArea>
      <ns0:scatterChart>
        <ns0:scatterStyle val="lineMarker"/>
        <ns0:varyColors val="0"/>
        <ns0:ser>
          <ns0:idx val="0"/>
          <ns0:order val="0"/>
          <ns0:tx>
            <ns0:v>续训开发均分</ns0:v>
          </ns0:tx>
          <ns0:spPr>
            <ns1:ln w="22860">
              <ns1:solidFill>
                <ns1:srgbClr val="287F77"/>
              </ns1:solidFill>
            </ns1:ln>
          </ns0:spPr>
          <ns0:marker>
            <ns0:symbol val="circle"/>
            <ns0:size val="5"/>
            <ns0:spPr>
              <ns1:solidFill>
                <ns1:srgbClr val="287F77"/>
              </ns1:solidFill>
              <ns1:ln w="9525">
                <ns1:solidFill>
                  <ns1:srgbClr val="287F77"/>
                </ns1:solidFill>
              </ns1:ln>
            </ns0:spPr>
          </ns0:marker>
          <ns0:xVal>
            <ns0:numRef>
              <ns0:f>'Chart Data'!$A$2:$A$10</ns0:f>
              <ns0:numCache>
                <ns0:formatCode>General</ns0:formatCode>
                <ns0:ptCount val="9"/>
                <ns0:pt idx="0">
                  <ns0:v>0</ns0:v>
                </ns0:pt>
                <ns0:pt idx="1">
                  <ns0:v>25</ns0:v>
                </ns0:pt>
                <ns0:pt idx="2">
                  <ns0:v>50</ns0:v>
                </ns0:pt>
                <ns0:pt idx="3">
                  <ns0:v>75</ns0:v>
                </ns0:pt>
                <ns0:pt idx="4">
                  <ns0:v>100</ns0:v>
                </ns0:pt>
                <ns0:pt idx="5">
                  <ns0:v>125</ns0:v>
                </ns0:pt>
                <ns0:pt idx="6">
                  <ns0:v>150</ns0:v>
                </ns0:pt>
                <ns0:pt idx="7">
                  <ns0:v>175</ns0:v>
                </ns0:pt>
                <ns0:pt idx="8">
                  <ns0:v>200</ns0:v>
                </ns0:pt>
              </ns0:numCache>
            </ns0:numRef>
          </ns0:xVal>
          <ns0:yVal>
            <ns0:numRef>
              <ns0:f>'Chart Data'!$B$2:$B$10</ns0:f>
              <ns0:numCache>
                <ns0:formatCode>0</ns0:formatCode>
                <ns0:ptCount val="9"/>
                <ns0:pt idx="0">
                  <ns0:v>197.9</ns0:v>
                </ns0:pt>
                <ns0:pt idx="1">
                  <ns0:v>283.48</ns0:v>
                </ns0:pt>
                <ns0:pt idx="2">
                  <ns0:v>222.98</ns0:v>
                </ns0:pt>
                <ns0:pt idx="3">
                  <ns0:v>170.82</ns0:v>
                </ns0:pt>
                <ns0:pt idx="4">
                  <ns0:v>104.06</ns0:v>
                </ns0:pt>
                <ns0:pt idx="5">
                  <ns0:v>189.38</ns0:v>
                </ns0:pt>
                <ns0:pt idx="6">
                  <ns0:v>117.84</ns0:v>
                </ns0:pt>
                <ns0:pt idx="7">
                  <ns0:v>115.34</ns0:v>
                </ns0:pt>
                <ns0:pt idx="8">
                  <ns0:v>113.12</ns0:v>
                </ns0:pt>
              </ns0:numCache>
            </ns0:numRef>
          </ns0:yVal>
          <ns0:smooth val="0"/>
        </ns0:ser>
        <ns0:dLbls>
          <ns0:txPr>
            <ns1:bodyPr anchorCtr="1"/>
            <ns1:lstStyle/>
            <ns1:p>
              <ns1:pPr>
                <ns1:defRPr>
                  <ns1:latin typeface="微软雅黑"/>
                  <ns1:ea typeface="微软雅黑"/>
                  <ns1:cs typeface="微软雅黑"/>
                </ns1:defRPr>
              </ns1:pPr>
            </ns1:p>
          </ns0:txPr>
          <ns0:showLegendKey val="0"/>
          <ns0:showVal val="0"/>
          <ns0:showCatName val="0"/>
          <ns0:showSerName val="0"/>
          <ns0:showPercent val="0"/>
          <ns0:showBubbleSize val="0"/>
          <ns0:showLeaderLines val="0"/>
        </ns0:dLbls>
        <ns0:axId val="48650112"/>
        <ns0:axId val="48672768"/>
      </ns0:scatterChart>
      <ns0:valAx>
        <ns0:axId val="48672768"/>
        <ns0:scaling>
          <ns0:orientation val="minMax"/>
          <ns0:max val="320"/>
          <ns0:min val="0"/>
        </ns0:scaling>
        <ns0:delete val="0"/>
        <ns0:axPos val="l"/>
        <ns0:majorGridlines>
          <ns0:spPr>
            <ns1:ln w="9525">
              <ns1:solidFill>
                <ns1:srgbClr val="DFE6EB"/>
              </ns1:solidFill>
            </ns1:ln>
          </ns0:spPr>
        </ns0:majorGridlines>
        <ns0:numFmt formatCode="0"/>
        <ns0:majorTickMark val="none"/>
        <ns0:minorTickMark val="none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 sz="1275">
                <ns1:solidFill>
                  <ns1:srgbClr val="5D6975"/>
                </ns1:solidFill>
                <ns1:latin typeface="微软雅黑"/>
                <ns1:ea typeface="微软雅黑"/>
                <ns1:cs typeface="微软雅黑"/>
              </ns1:defRPr>
            </ns1:pPr>
          </ns1:p>
        </ns0:txPr>
        <ns0:crossAx val="48650112"/>
        <ns0:majorUnit val="80"/>
      </ns0:valAx>
      <ns0:valAx>
        <ns0:axId val="48650112"/>
        <ns0:scaling>
          <ns0:orientation val="minMax"/>
          <ns0:max val="200"/>
          <ns0:min val="0"/>
        </ns0:scaling>
        <ns0:delete val="0"/>
        <ns0:axPos val="b"/>
        <ns0:numFmt formatCode="General"/>
        <ns0:majorTickMark val="none"/>
        <ns0:minorTickMark val="none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 sz="1200">
                <ns1:solidFill>
                  <ns1:srgbClr val="5D6975"/>
                </ns1:solidFill>
                <ns1:latin typeface="微软雅黑"/>
                <ns1:ea typeface="微软雅黑"/>
                <ns1:cs typeface="微软雅黑"/>
              </ns1:defRPr>
            </ns1:pPr>
          </ns1:p>
        </ns0:txPr>
        <ns0:crossAx val="48672768"/>
        <ns0:majorUnit val="50"/>
      </ns0:valAx>
      <ns0:spPr>
        <ns1:solidFill>
          <ns1:srgbClr val="FFFFFF"/>
        </ns1:solidFill>
        <ns1:ln w="0">
          <ns1:noFill/>
        </ns1:ln>
      </ns0:spPr>
    </ns0:plotArea>
    <ns0:plotVisOnly val="1"/>
  </ns0:chart>
  <ns0:spPr>
    <ns1:solidFill>
      <ns1:srgbClr val="FFFFFF"/>
    </ns1:solidFill>
    <ns1:ln w="0">
      <ns1:noFill/>
    </ns1:ln>
  </ns0:spPr>
  <ns0:externalData r:id="rIdChartSnapshot1">
    <ns0:autoUpdate val="0"/>
  </ns0:externalData>
</ns0:chartSpace>
</file>

<file path=ppt/slides/charts/chart3.xml><?xml version="1.0" encoding="utf-8"?>
<ns0:chartSpace xmlns:ns0="http://schemas.openxmlformats.org/drawingml/2006/chart" xmlns:ns1="http://schemas.openxmlformats.org/drawingml/2006/main" xmlns:r="http://schemas.openxmlformats.org/officeDocument/2006/relationships">
  <ns0:lang val="en-US"/>
  <ns0:chart>
    <ns0:plotArea>
      <ns0:scatterChart>
        <ns0:scatterStyle val="lineMarker"/>
        <ns0:varyColors val="0"/>
        <ns0:ser>
          <ns0:idx val="0"/>
          <ns0:order val="0"/>
          <ns0:tx>
            <ns0:v>λ=0.98</ns0:v>
          </ns0:tx>
          <ns0:spPr>
            <ns1:ln w="22860">
              <ns1:solidFill>
                <ns1:srgbClr val="065980"/>
              </ns1:solidFill>
            </ns1:ln>
          </ns0:spPr>
          <ns0:marker>
            <ns0:symbol val="circle"/>
            <ns0:size val="5"/>
            <ns0:spPr>
              <ns1:solidFill>
                <ns1:srgbClr val="065980"/>
              </ns1:solidFill>
              <ns1:ln w="9525">
                <ns1:solidFill>
                  <ns1:srgbClr val="065980"/>
                </ns1:solidFill>
              </ns1:ln>
            </ns0:spPr>
          </ns0:marker>
          <ns0:xVal>
            <ns0:numRef>
              <ns0:f>'Chart Data'!$A$2:$A$8</ns0:f>
              <ns0:numCache>
                <ns0:formatCode>General</ns0:formatCode>
                <ns0:ptCount val="7"/>
                <ns0:pt idx="0">
                  <ns0:v>0</ns0:v>
                </ns0:pt>
                <ns0:pt idx="1">
                  <ns0:v>100</ns0:v>
                </ns0:pt>
                <ns0:pt idx="2">
                  <ns0:v>200</ns0:v>
                </ns0:pt>
                <ns0:pt idx="3">
                  <ns0:v>300</ns0:v>
                </ns0:pt>
                <ns0:pt idx="4">
                  <ns0:v>400</ns0:v>
                </ns0:pt>
                <ns0:pt idx="5">
                  <ns0:v>500</ns0:v>
                </ns0:pt>
                <ns0:pt idx="6">
                  <ns0:v>503.808</ns0:v>
                </ns0:pt>
              </ns0:numCache>
            </ns0:numRef>
          </ns0:xVal>
          <ns0:yVal>
            <ns0:numRef>
              <ns0:f>'Chart Data'!$B$2:$B$8</ns0:f>
              <ns0:numCache>
                <ns0:formatCode>0</ns0:formatCode>
                <ns0:ptCount val="7"/>
                <ns0:pt idx="0">
                  <ns0:v>124.0625</ns0:v>
                </ns0:pt>
                <ns0:pt idx="1">
                  <ns0:v>129.34375</ns0:v>
                </ns0:pt>
                <ns0:pt idx="2">
                  <ns0:v>127.25</ns0:v>
                </ns0:pt>
                <ns0:pt idx="3">
                  <ns0:v>180.21875</ns0:v>
                </ns0:pt>
                <ns0:pt idx="4">
                  <ns0:v>146.09375</ns0:v>
                </ns0:pt>
                <ns0:pt idx="5">
                  <ns0:v>196</ns0:v>
                </ns0:pt>
                <ns0:pt idx="6">
                  <ns0:v>191.71875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λ=0.99</ns0:v>
          </ns0:tx>
          <ns0:spPr>
            <ns1:ln w="22860">
              <ns1:solidFill>
                <ns1:srgbClr val="287F77"/>
              </ns1:solidFill>
            </ns1:ln>
          </ns0:spPr>
          <ns0:marker>
            <ns0:symbol val="circle"/>
            <ns0:size val="5"/>
            <ns0:spPr>
              <ns1:solidFill>
                <ns1:srgbClr val="287F77"/>
              </ns1:solidFill>
              <ns1:ln w="9525">
                <ns1:solidFill>
                  <ns1:srgbClr val="287F77"/>
                </ns1:solidFill>
              </ns1:ln>
            </ns0:spPr>
          </ns0:marker>
          <ns0:xVal>
            <ns0:numRef>
              <ns0:f>'Chart Data'!$C$2:$C$8</ns0:f>
              <ns0:numCache>
                <ns0:formatCode>General</ns0:formatCode>
                <ns0:ptCount val="7"/>
                <ns0:pt idx="0">
                  <ns0:v>0</ns0:v>
                </ns0:pt>
                <ns0:pt idx="1">
                  <ns0:v>100</ns0:v>
                </ns0:pt>
                <ns0:pt idx="2">
                  <ns0:v>200</ns0:v>
                </ns0:pt>
                <ns0:pt idx="3">
                  <ns0:v>300</ns0:v>
                </ns0:pt>
                <ns0:pt idx="4">
                  <ns0:v>400</ns0:v>
                </ns0:pt>
                <ns0:pt idx="5">
                  <ns0:v>500</ns0:v>
                </ns0:pt>
                <ns0:pt idx="6">
                  <ns0:v>503.808</ns0:v>
                </ns0:pt>
              </ns0:numCache>
            </ns0:numRef>
          </ns0:xVal>
          <ns0:yVal>
            <ns0:numRef>
              <ns0:f>'Chart Data'!$D$2:$D$8</ns0:f>
              <ns0:numCache>
                <ns0:formatCode>0</ns0:formatCode>
                <ns0:ptCount val="7"/>
                <ns0:pt idx="0">
                  <ns0:v>124.0625</ns0:v>
                </ns0:pt>
                <ns0:pt idx="1">
                  <ns0:v>129.03125</ns0:v>
                </ns0:pt>
                <ns0:pt idx="2">
                  <ns0:v>156.65625</ns0:v>
                </ns0:pt>
                <ns0:pt idx="3">
                  <ns0:v>153.5625</ns0:v>
                </ns0:pt>
                <ns0:pt idx="4">
                  <ns0:v>129.9375</ns0:v>
                </ns0:pt>
                <ns0:pt idx="5">
                  <ns0:v>161.4375</ns0:v>
                </ns0:pt>
                <ns0:pt idx="6">
                  <ns0:v>171.09375</ns0:v>
                </ns0:pt>
              </ns0:numCache>
            </ns0:numRef>
          </ns0:yVal>
          <ns0:smooth val="0"/>
        </ns0:ser>
        <ns0:dLbls>
          <ns0:txPr>
            <ns1:bodyPr anchorCtr="1"/>
            <ns1:lstStyle/>
            <ns1:p>
              <ns1:pPr>
                <ns1:defRPr>
                  <ns1:latin typeface="微软雅黑"/>
                  <ns1:ea typeface="微软雅黑"/>
                  <ns1:cs typeface="微软雅黑"/>
                </ns1:defRPr>
              </ns1:pPr>
            </ns1:p>
          </ns0:txPr>
          <ns0:showLegendKey val="0"/>
          <ns0:showVal val="0"/>
          <ns0:showCatName val="0"/>
          <ns0:showSerName val="0"/>
          <ns0:showPercent val="0"/>
          <ns0:showBubbleSize val="0"/>
          <ns0:showLeaderLines val="0"/>
        </ns0:dLbls>
        <ns0:axId val="48650112"/>
        <ns0:axId val="48672768"/>
      </ns0:scatterChart>
      <ns0:valAx>
        <ns0:axId val="48672768"/>
        <ns0:scaling>
          <ns0:orientation val="minMax"/>
          <ns0:max val="220"/>
          <ns0:min val="100"/>
        </ns0:scaling>
        <ns0:delete val="0"/>
        <ns0:axPos val="l"/>
        <ns0:majorGridlines>
          <ns0:spPr>
            <ns1:ln w="9525">
              <ns1:solidFill>
                <ns1:srgbClr val="DFE6EB"/>
              </ns1:solidFill>
            </ns1:ln>
          </ns0:spPr>
        </ns0:majorGridlines>
        <ns0:numFmt formatCode="0"/>
        <ns0:majorTickMark val="none"/>
        <ns0:minorTickMark val="none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 sz="1275">
                <ns1:solidFill>
                  <ns1:srgbClr val="5D6975"/>
                </ns1:solidFill>
                <ns1:latin typeface="微软雅黑"/>
                <ns1:ea typeface="微软雅黑"/>
                <ns1:cs typeface="微软雅黑"/>
              </ns1:defRPr>
            </ns1:pPr>
          </ns1:p>
        </ns0:txPr>
        <ns0:crossAx val="48650112"/>
        <ns0:majorUnit val="40"/>
      </ns0:valAx>
      <ns0:valAx>
        <ns0:axId val="48650112"/>
        <ns0:scaling>
          <ns0:orientation val="minMax"/>
          <ns0:max val="520"/>
          <ns0:min val="0"/>
        </ns0:scaling>
        <ns0:delete val="0"/>
        <ns0:axPos val="b"/>
        <ns0:numFmt formatCode="General"/>
        <ns0:majorTickMark val="none"/>
        <ns0:minorTickMark val="none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 sz="1275">
                <ns1:solidFill>
                  <ns1:srgbClr val="5D6975"/>
                </ns1:solidFill>
                <ns1:latin typeface="微软雅黑"/>
                <ns1:ea typeface="微软雅黑"/>
                <ns1:cs typeface="微软雅黑"/>
              </ns1:defRPr>
            </ns1:pPr>
          </ns1:p>
        </ns0:txPr>
        <ns0:crossAx val="48672768"/>
        <ns0:majorUnit val="100"/>
      </ns0:valAx>
      <ns0:spPr>
        <ns1:solidFill>
          <ns1:srgbClr val="FFFFFF"/>
        </ns1:solidFill>
        <ns1:ln w="0">
          <ns1:noFill/>
        </ns1:ln>
      </ns0:spPr>
    </ns0:plotArea>
    <ns0:legend>
      <ns0:legendPos val="b"/>
      <ns0:overlay val="0"/>
      <ns0:txPr>
        <ns1:bodyPr anchorCtr="1"/>
        <ns1:lstStyle/>
        <ns1:p>
          <ns1:pPr>
            <ns1:defRPr sz="1350">
              <ns1:latin typeface="微软雅黑"/>
              <ns1:ea typeface="微软雅黑"/>
              <ns1:cs typeface="微软雅黑"/>
            </ns1:defRPr>
          </ns1:pPr>
        </ns1:p>
      </ns0:txPr>
    </ns0:legend>
    <ns0:plotVisOnly val="1"/>
  </ns0:chart>
  <ns0:spPr>
    <ns1:solidFill>
      <ns1:srgbClr val="FFFFFF"/>
    </ns1:solidFill>
    <ns1:ln w="0">
      <ns1:noFill/>
    </ns1:ln>
  </ns0:spPr>
  <ns0:externalData r:id="rIdChartSnapshot1">
    <ns0:autoUpdate val="0"/>
  </ns0:externalData>
</ns0:chartSpace>
</file>

<file path=ppt/slides/charts/chart4.xml><?xml version="1.0" encoding="utf-8"?>
<ns0:chartSpace xmlns:ns0="http://schemas.openxmlformats.org/drawingml/2006/chart" xmlns:ns1="http://schemas.openxmlformats.org/drawingml/2006/main" xmlns:r="http://schemas.openxmlformats.org/officeDocument/2006/relationships">
  <ns0:lang val="en-US"/>
  <ns0:chart>
    <ns0:plotArea>
      <ns0:scatterChart>
        <ns0:scatterStyle val="line"/>
        <ns0:varyColors val="0"/>
        <ns0:ser>
          <ns0:idx val="0"/>
          <ns0:order val="0"/>
          <ns0:tx>
            <ns0:v>seed 48</ns0:v>
          </ns0:tx>
          <ns0:spPr>
            <ns1:ln w="20955">
              <ns1:solidFill>
                <ns1:srgbClr val="065980"/>
              </ns1:solidFill>
            </ns1:ln>
          </ns0:spPr>
          <ns0:marker>
            <ns0:symbol val="none"/>
          </ns0:marker>
          <ns0:xVal>
            <ns0:numRef>
              <ns0:f>'Chart Data'!$A$2:$A$123</ns0:f>
              <ns0:numCache>
                <ns0:formatCode>General</ns0:formatCode>
                <ns0:ptCount val="122"/>
                <ns0:pt idx="0">
                  <ns0:v>8.192</ns0:v>
                </ns0:pt>
                <ns0:pt idx="1">
                  <ns0:v>12.288</ns0:v>
                </ns0:pt>
                <ns0:pt idx="2">
                  <ns0:v>16</ns0:v>
                </ns0:pt>
                <ns0:pt idx="3">
                  <ns0:v>20.48</ns0:v>
                </ns0:pt>
                <ns0:pt idx="4">
                  <ns0:v>24.576</ns0:v>
                </ns0:pt>
                <ns0:pt idx="5">
                  <ns0:v>28.672</ns0:v>
                </ns0:pt>
                <ns0:pt idx="6">
                  <ns0:v>32</ns0:v>
                </ns0:pt>
                <ns0:pt idx="7">
                  <ns0:v>36.864</ns0:v>
                </ns0:pt>
                <ns0:pt idx="8">
                  <ns0:v>40.96</ns0:v>
                </ns0:pt>
                <ns0:pt idx="9">
                  <ns0:v>45.056</ns0:v>
                </ns0:pt>
                <ns0:pt idx="10">
                  <ns0:v>48</ns0:v>
                </ns0:pt>
                <ns0:pt idx="11">
                  <ns0:v>53.248</ns0:v>
                </ns0:pt>
                <ns0:pt idx="12">
                  <ns0:v>57.344</ns0:v>
                </ns0:pt>
                <ns0:pt idx="13">
                  <ns0:v>61.44</ns0:v>
                </ns0:pt>
                <ns0:pt idx="14">
                  <ns0:v>64</ns0:v>
                </ns0:pt>
                <ns0:pt idx="15">
                  <ns0:v>69.632</ns0:v>
                </ns0:pt>
                <ns0:pt idx="16">
                  <ns0:v>73.728</ns0:v>
                </ns0:pt>
                <ns0:pt idx="17">
                  <ns0:v>77.824</ns0:v>
                </ns0:pt>
                <ns0:pt idx="18">
                  <ns0:v>80</ns0:v>
                </ns0:pt>
                <ns0:pt idx="19">
                  <ns0:v>86.016</ns0:v>
                </ns0:pt>
                <ns0:pt idx="20">
                  <ns0:v>90.112</ns0:v>
                </ns0:pt>
                <ns0:pt idx="21">
                  <ns0:v>94.208</ns0:v>
                </ns0:pt>
                <ns0:pt idx="22">
                  <ns0:v>96</ns0:v>
                </ns0:pt>
                <ns0:pt idx="23">
                  <ns0:v>100</ns0:v>
                </ns0:pt>
                <ns0:pt idx="24">
                  <ns0:v>106.496</ns0:v>
                </ns0:pt>
                <ns0:pt idx="25">
                  <ns0:v>110.592</ns0:v>
                </ns0:pt>
                <ns0:pt idx="26">
                  <ns0:v>112</ns0:v>
                </ns0:pt>
                <ns0:pt idx="27">
                  <ns0:v>118.784</ns0:v>
                </ns0:pt>
                <ns0:pt idx="28">
                  <ns0:v>122.88</ns0:v>
                </ns0:pt>
                <ns0:pt idx="29">
                  <ns0:v>126.976</ns0:v>
                </ns0:pt>
                <ns0:pt idx="30">
                  <ns0:v>128</ns0:v>
                </ns0:pt>
                <ns0:pt idx="31">
                  <ns0:v>135.168</ns0:v>
                </ns0:pt>
                <ns0:pt idx="32">
                  <ns0:v>139.264</ns0:v>
                </ns0:pt>
                <ns0:pt idx="33">
                  <ns0:v>143.36</ns0:v>
                </ns0:pt>
                <ns0:pt idx="34">
                  <ns0:v>144</ns0:v>
                </ns0:pt>
                <ns0:pt idx="35">
                  <ns0:v>151.552</ns0:v>
                </ns0:pt>
                <ns0:pt idx="36">
                  <ns0:v>155.648</ns0:v>
                </ns0:pt>
                <ns0:pt idx="37">
                  <ns0:v>159.744</ns0:v>
                </ns0:pt>
                <ns0:pt idx="38">
                  <ns0:v>160</ns0:v>
                </ns0:pt>
                <ns0:pt idx="39">
                  <ns0:v>167.936</ns0:v>
                </ns0:pt>
                <ns0:pt idx="40">
                  <ns0:v>172.032</ns0:v>
                </ns0:pt>
                <ns0:pt idx="41">
                  <ns0:v>176</ns0:v>
                </ns0:pt>
                <ns0:pt idx="42">
                  <ns0:v>180.224</ns0:v>
                </ns0:pt>
                <ns0:pt idx="43">
                  <ns0:v>184.32</ns0:v>
                </ns0:pt>
                <ns0:pt idx="44">
                  <ns0:v>188.416</ns0:v>
                </ns0:pt>
                <ns0:pt idx="45">
                  <ns0:v>192</ns0:v>
                </ns0:pt>
                <ns0:pt idx="46">
                  <ns0:v>196.608</ns0:v>
                </ns0:pt>
                <ns0:pt idx="47">
                  <ns0:v>200</ns0:v>
                </ns0:pt>
                <ns0:pt idx="48">
                  <ns0:v>204.8</ns0:v>
                </ns0:pt>
                <ns0:pt idx="49">
                  <ns0:v>208</ns0:v>
                </ns0:pt>
                <ns0:pt idx="50">
                  <ns0:v>212.992</ns0:v>
                </ns0:pt>
                <ns0:pt idx="51">
                  <ns0:v>217.088</ns0:v>
                </ns0:pt>
                <ns0:pt idx="52">
                  <ns0:v>221.184</ns0:v>
                </ns0:pt>
                <ns0:pt idx="53">
                  <ns0:v>224</ns0:v>
                </ns0:pt>
                <ns0:pt idx="54">
                  <ns0:v>229.376</ns0:v>
                </ns0:pt>
                <ns0:pt idx="55">
                  <ns0:v>233.472</ns0:v>
                </ns0:pt>
                <ns0:pt idx="56">
                  <ns0:v>237.568</ns0:v>
                </ns0:pt>
                <ns0:pt idx="57">
                  <ns0:v>240</ns0:v>
                </ns0:pt>
                <ns0:pt idx="58">
                  <ns0:v>245.76</ns0:v>
                </ns0:pt>
                <ns0:pt idx="59">
                  <ns0:v>249.856</ns0:v>
                </ns0:pt>
                <ns0:pt idx="60">
                  <ns0:v>253.952</ns0:v>
                </ns0:pt>
                <ns0:pt idx="61">
                  <ns0:v>256</ns0:v>
                </ns0:pt>
                <ns0:pt idx="62">
                  <ns0:v>262.144</ns0:v>
                </ns0:pt>
                <ns0:pt idx="63">
                  <ns0:v>266.24</ns0:v>
                </ns0:pt>
                <ns0:pt idx="64">
                  <ns0:v>270.336</ns0:v>
                </ns0:pt>
                <ns0:pt idx="65">
                  <ns0:v>272</ns0:v>
                </ns0:pt>
                <ns0:pt idx="66">
                  <ns0:v>278.528</ns0:v>
                </ns0:pt>
                <ns0:pt idx="67">
                  <ns0:v>282.624</ns0:v>
                </ns0:pt>
                <ns0:pt idx="68">
                  <ns0:v>286.72</ns0:v>
                </ns0:pt>
                <ns0:pt idx="69">
                  <ns0:v>288</ns0:v>
                </ns0:pt>
                <ns0:pt idx="70">
                  <ns0:v>294.912</ns0:v>
                </ns0:pt>
                <ns0:pt idx="71">
                  <ns0:v>299.008</ns0:v>
                </ns0:pt>
                <ns0:pt idx="72">
                  <ns0:v>300</ns0:v>
                </ns0:pt>
                <ns0:pt idx="73">
                  <ns0:v>304</ns0:v>
                </ns0:pt>
                <ns0:pt idx="74">
                  <ns0:v>311.296</ns0:v>
                </ns0:pt>
                <ns0:pt idx="75">
                  <ns0:v>315.392</ns0:v>
                </ns0:pt>
                <ns0:pt idx="76">
                  <ns0:v>319.488</ns0:v>
                </ns0:pt>
                <ns0:pt idx="77">
                  <ns0:v>320</ns0:v>
                </ns0:pt>
                <ns0:pt idx="78">
                  <ns0:v>327.68</ns0:v>
                </ns0:pt>
                <ns0:pt idx="79">
                  <ns0:v>331.776</ns0:v>
                </ns0:pt>
                <ns0:pt idx="80">
                  <ns0:v>335.872</ns0:v>
                </ns0:pt>
                <ns0:pt idx="81">
                  <ns0:v>336</ns0:v>
                </ns0:pt>
                <ns0:pt idx="82">
                  <ns0:v>344.064</ns0:v>
                </ns0:pt>
                <ns0:pt idx="83">
                  <ns0:v>348.16</ns0:v>
                </ns0:pt>
                <ns0:pt idx="84">
                  <ns0:v>352</ns0:v>
                </ns0:pt>
                <ns0:pt idx="85">
                  <ns0:v>356.352</ns0:v>
                </ns0:pt>
                <ns0:pt idx="86">
                  <ns0:v>360.448</ns0:v>
                </ns0:pt>
                <ns0:pt idx="87">
                  <ns0:v>364.544</ns0:v>
                </ns0:pt>
                <ns0:pt idx="88">
                  <ns0:v>368</ns0:v>
                </ns0:pt>
                <ns0:pt idx="89">
                  <ns0:v>372.736</ns0:v>
                </ns0:pt>
                <ns0:pt idx="90">
                  <ns0:v>376.832</ns0:v>
                </ns0:pt>
                <ns0:pt idx="91">
                  <ns0:v>380.928</ns0:v>
                </ns0:pt>
                <ns0:pt idx="92">
                  <ns0:v>384</ns0:v>
                </ns0:pt>
                <ns0:pt idx="93">
                  <ns0:v>389.12</ns0:v>
                </ns0:pt>
                <ns0:pt idx="94">
                  <ns0:v>393.216</ns0:v>
                </ns0:pt>
                <ns0:pt idx="95">
                  <ns0:v>397.312</ns0:v>
                </ns0:pt>
                <ns0:pt idx="96">
                  <ns0:v>400</ns0:v>
                </ns0:pt>
                <ns0:pt idx="97">
                  <ns0:v>405.504</ns0:v>
                </ns0:pt>
                <ns0:pt idx="98">
                  <ns0:v>409.6</ns0:v>
                </ns0:pt>
                <ns0:pt idx="99">
                  <ns0:v>413.696</ns0:v>
                </ns0:pt>
                <ns0:pt idx="100">
                  <ns0:v>416</ns0:v>
                </ns0:pt>
                <ns0:pt idx="101">
                  <ns0:v>421.888</ns0:v>
                </ns0:pt>
                <ns0:pt idx="102">
                  <ns0:v>425.984</ns0:v>
                </ns0:pt>
                <ns0:pt idx="103">
                  <ns0:v>430.08</ns0:v>
                </ns0:pt>
                <ns0:pt idx="104">
                  <ns0:v>432</ns0:v>
                </ns0:pt>
                <ns0:pt idx="105">
                  <ns0:v>438.272</ns0:v>
                </ns0:pt>
                <ns0:pt idx="106">
                  <ns0:v>442.368</ns0:v>
                </ns0:pt>
                <ns0:pt idx="107">
                  <ns0:v>446.464</ns0:v>
                </ns0:pt>
                <ns0:pt idx="108">
                  <ns0:v>448</ns0:v>
                </ns0:pt>
                <ns0:pt idx="109">
                  <ns0:v>454.656</ns0:v>
                </ns0:pt>
                <ns0:pt idx="110">
                  <ns0:v>458.752</ns0:v>
                </ns0:pt>
                <ns0:pt idx="111">
                  <ns0:v>462.848</ns0:v>
                </ns0:pt>
                <ns0:pt idx="112">
                  <ns0:v>464</ns0:v>
                </ns0:pt>
                <ns0:pt idx="113">
                  <ns0:v>471.04</ns0:v>
                </ns0:pt>
                <ns0:pt idx="114">
                  <ns0:v>475.136</ns0:v>
                </ns0:pt>
                <ns0:pt idx="115">
                  <ns0:v>479.232</ns0:v>
                </ns0:pt>
                <ns0:pt idx="116">
                  <ns0:v>480</ns0:v>
                </ns0:pt>
                <ns0:pt idx="117">
                  <ns0:v>487.424</ns0:v>
                </ns0:pt>
                <ns0:pt idx="118">
                  <ns0:v>491.52</ns0:v>
                </ns0:pt>
                <ns0:pt idx="119">
                  <ns0:v>495.616</ns0:v>
                </ns0:pt>
                <ns0:pt idx="120">
                  <ns0:v>496</ns0:v>
                </ns0:pt>
                <ns0:pt idx="121">
                  <ns0:v>500</ns0:v>
                </ns0:pt>
              </ns0:numCache>
            </ns0:numRef>
          </ns0:xVal>
          <ns0:yVal>
            <ns0:numRef>
              <ns0:f>'Chart Data'!$B$2:$B$123</ns0:f>
              <ns0:numCache>
                <ns0:formatCode>0.0</ns0:formatCode>
                <ns0:ptCount val="122"/>
                <ns0:pt idx="0">
                  <ns0:v>1</ns0:v>
                </ns0:pt>
                <ns0:pt idx="1">
                  <ns0:v>1</ns0:v>
                </ns0:pt>
                <ns0:pt idx="2">
                  <ns0:v>1</ns0:v>
                </ns0:pt>
                <ns0:pt idx="3">
                  <ns0:v>1</ns0:v>
                </ns0:pt>
                <ns0:pt idx="4">
                  <ns0:v>1</ns0:v>
                </ns0:pt>
                <ns0:pt idx="5">
                  <ns0:v>1</ns0:v>
                </ns0:pt>
                <ns0:pt idx="6">
                  <ns0:v>1</ns0:v>
                </ns0:pt>
                <ns0:pt idx="7">
                  <ns0:v>1</ns0:v>
                </ns0:pt>
                <ns0:pt idx="8">
                  <ns0:v>1</ns0:v>
                </ns0:pt>
                <ns0:pt idx="9">
                  <ns0:v>1</ns0:v>
                </ns0:pt>
                <ns0:pt idx="10">
                  <ns0:v>1</ns0:v>
                </ns0:pt>
                <ns0:pt idx="11">
                  <ns0:v>1</ns0:v>
                </ns0:pt>
                <ns0:pt idx="12">
                  <ns0:v>1</ns0:v>
                </ns0:pt>
                <ns0:pt idx="13">
                  <ns0:v>1</ns0:v>
                </ns0:pt>
                <ns0:pt idx="14">
                  <ns0:v>1</ns0:v>
                </ns0:pt>
                <ns0:pt idx="15">
                  <ns0:v>1</ns0:v>
                </ns0:pt>
                <ns0:pt idx="16">
                  <ns0:v>1</ns0:v>
                </ns0:pt>
                <ns0:pt idx="17">
                  <ns0:v>1</ns0:v>
                </ns0:pt>
                <ns0:pt idx="18">
                  <ns0:v>1</ns0:v>
                </ns0:pt>
                <ns0:pt idx="19">
                  <ns0:v>1</ns0:v>
                </ns0:pt>
                <ns0:pt idx="20">
                  <ns0:v>1</ns0:v>
                </ns0:pt>
                <ns0:pt idx="21">
                  <ns0:v>1</ns0:v>
                </ns0:pt>
                <ns0:pt idx="22">
                  <ns0:v>1</ns0:v>
                </ns0:pt>
                <ns0:pt idx="23">
                  <ns0:v>1</ns0:v>
                </ns0:pt>
                <ns0:pt idx="24">
                  <ns0:v>1</ns0:v>
                </ns0:pt>
                <ns0:pt idx="25">
                  <ns0:v>1</ns0:v>
                </ns0:pt>
                <ns0:pt idx="26">
                  <ns0:v>1.1</ns0:v>
                </ns0:pt>
                <ns0:pt idx="27">
                  <ns0:v>1.1</ns0:v>
                </ns0:pt>
                <ns0:pt idx="28">
                  <ns0:v>1.1</ns0:v>
                </ns0:pt>
                <ns0:pt idx="29">
                  <ns0:v>1.1</ns0:v>
                </ns0:pt>
                <ns0:pt idx="30">
                  <ns0:v>1.1</ns0:v>
                </ns0:pt>
                <ns0:pt idx="31">
                  <ns0:v>1</ns0:v>
                </ns0:pt>
                <ns0:pt idx="32">
                  <ns0:v>1</ns0:v>
                </ns0:pt>
                <ns0:pt idx="33">
                  <ns0:v>1</ns0:v>
                </ns0:pt>
                <ns0:pt idx="34">
                  <ns0:v>1</ns0:v>
                </ns0:pt>
                <ns0:pt idx="35">
                  <ns0:v>1</ns0:v>
                </ns0:pt>
                <ns0:pt idx="36">
                  <ns0:v>1</ns0:v>
                </ns0:pt>
                <ns0:pt idx="37">
                  <ns0:v>1</ns0:v>
                </ns0:pt>
                <ns0:pt idx="38">
                  <ns0:v>1</ns0:v>
                </ns0:pt>
                <ns0:pt idx="39">
                  <ns0:v>1.1</ns0:v>
                </ns0:pt>
                <ns0:pt idx="40">
                  <ns0:v>1.1</ns0:v>
                </ns0:pt>
                <ns0:pt idx="41">
                  <ns0:v>1.21</ns0:v>
                </ns0:pt>
                <ns0:pt idx="42">
                  <ns0:v>1.331</ns0:v>
                </ns0:pt>
                <ns0:pt idx="43">
                  <ns0:v>1.4641</ns0:v>
                </ns0:pt>
                <ns0:pt idx="44">
                  <ns0:v>1.4641</ns0:v>
                </ns0:pt>
                <ns0:pt idx="45">
                  <ns0:v>1.4641</ns0:v>
                </ns0:pt>
                <ns0:pt idx="46">
                  <ns0:v>1.4641</ns0:v>
                </ns0:pt>
                <ns0:pt idx="47">
                  <ns0:v>1.4641</ns0:v>
                </ns0:pt>
                <ns0:pt idx="48">
                  <ns0:v>1.331</ns0:v>
                </ns0:pt>
                <ns0:pt idx="49">
                  <ns0:v>1.21</ns0:v>
                </ns0:pt>
                <ns0:pt idx="50">
                  <ns0:v>1.21</ns0:v>
                </ns0:pt>
                <ns0:pt idx="51">
                  <ns0:v>1.21</ns0:v>
                </ns0:pt>
                <ns0:pt idx="52">
                  <ns0:v>1.21</ns0:v>
                </ns0:pt>
                <ns0:pt idx="53">
                  <ns0:v>1.21</ns0:v>
                </ns0:pt>
                <ns0:pt idx="54">
                  <ns0:v>1.21</ns0:v>
                </ns0:pt>
                <ns0:pt idx="55">
                  <ns0:v>1.21</ns0:v>
                </ns0:pt>
                <ns0:pt idx="56">
                  <ns0:v>1.331</ns0:v>
                </ns0:pt>
                <ns0:pt idx="57">
                  <ns0:v>1.4641</ns0:v>
                </ns0:pt>
                <ns0:pt idx="58">
                  <ns0:v>1.61051</ns0:v>
                </ns0:pt>
                <ns0:pt idx="59">
                  <ns0:v>1.771561</ns0:v>
                </ns0:pt>
                <ns0:pt idx="60">
                  <ns0:v>1.9487171</ns0:v>
                </ns0:pt>
                <ns0:pt idx="61">
                  <ns0:v>1.9487171</ns0:v>
                </ns0:pt>
                <ns0:pt idx="62">
                  <ns0:v>1.9487171</ns0:v>
                </ns0:pt>
                <ns0:pt idx="63">
                  <ns0:v>1.9487171</ns0:v>
                </ns0:pt>
                <ns0:pt idx="64">
                  <ns0:v>1.9487171</ns0:v>
                </ns0:pt>
                <ns0:pt idx="65">
                  <ns0:v>1.9487171</ns0:v>
                </ns0:pt>
                <ns0:pt idx="66">
                  <ns0:v>1.9487171</ns0:v>
                </ns0:pt>
                <ns0:pt idx="67">
                  <ns0:v>1.9487171</ns0:v>
                </ns0:pt>
                <ns0:pt idx="68">
                  <ns0:v>1.9487171</ns0:v>
                </ns0:pt>
                <ns0:pt idx="69">
                  <ns0:v>1.9487171</ns0:v>
                </ns0:pt>
                <ns0:pt idx="70">
                  <ns0:v>1.9487171</ns0:v>
                </ns0:pt>
                <ns0:pt idx="71">
                  <ns0:v>1.9487171</ns0:v>
                </ns0:pt>
                <ns0:pt idx="72">
                  <ns0:v>1.9487171</ns0:v>
                </ns0:pt>
                <ns0:pt idx="73">
                  <ns0:v>1.9487171</ns0:v>
                </ns0:pt>
                <ns0:pt idx="74">
                  <ns0:v>1.9487171</ns0:v>
                </ns0:pt>
                <ns0:pt idx="75">
                  <ns0:v>1.9487171</ns0:v>
                </ns0:pt>
                <ns0:pt idx="76">
                  <ns0:v>1.771561</ns0:v>
                </ns0:pt>
                <ns0:pt idx="77">
                  <ns0:v>1.771561</ns0:v>
                </ns0:pt>
                <ns0:pt idx="78">
                  <ns0:v>1.771561</ns0:v>
                </ns0:pt>
                <ns0:pt idx="79">
                  <ns0:v>1.771561</ns0:v>
                </ns0:pt>
                <ns0:pt idx="80">
                  <ns0:v>1.771561</ns0:v>
                </ns0:pt>
                <ns0:pt idx="81">
                  <ns0:v>1.9487171</ns0:v>
                </ns0:pt>
                <ns0:pt idx="82">
                  <ns0:v>2</ns0:v>
                </ns0:pt>
                <ns0:pt idx="83">
                  <ns0:v>2</ns0:v>
                </ns0:pt>
                <ns0:pt idx="84">
                  <ns0:v>2</ns0:v>
                </ns0:pt>
                <ns0:pt idx="85">
                  <ns0:v>2</ns0:v>
                </ns0:pt>
                <ns0:pt idx="86">
                  <ns0:v>2</ns0:v>
                </ns0:pt>
                <ns0:pt idx="87">
                  <ns0:v>2</ns0:v>
                </ns0:pt>
                <ns0:pt idx="88">
                  <ns0:v>2</ns0:v>
                </ns0:pt>
                <ns0:pt idx="89">
                  <ns0:v>2</ns0:v>
                </ns0:pt>
                <ns0:pt idx="90">
                  <ns0:v>2</ns0:v>
                </ns0:pt>
                <ns0:pt idx="91">
                  <ns0:v>2</ns0:v>
                </ns0:pt>
                <ns0:pt idx="92">
                  <ns0:v>2</ns0:v>
                </ns0:pt>
                <ns0:pt idx="93">
                  <ns0:v>2</ns0:v>
                </ns0:pt>
                <ns0:pt idx="94">
                  <ns0:v>2</ns0:v>
                </ns0:pt>
                <ns0:pt idx="95">
                  <ns0:v>2</ns0:v>
                </ns0:pt>
                <ns0:pt idx="96">
                  <ns0:v>2</ns0:v>
                </ns0:pt>
                <ns0:pt idx="97">
                  <ns0:v>2</ns0:v>
                </ns0:pt>
                <ns0:pt idx="98">
                  <ns0:v>2</ns0:v>
                </ns0:pt>
                <ns0:pt idx="99">
                  <ns0:v>2</ns0:v>
                </ns0:pt>
                <ns0:pt idx="100">
                  <ns0:v>2</ns0:v>
                </ns0:pt>
                <ns0:pt idx="101">
                  <ns0:v>2</ns0:v>
                </ns0:pt>
                <ns0:pt idx="102">
                  <ns0:v>2</ns0:v>
                </ns0:pt>
                <ns0:pt idx="103">
                  <ns0:v>2</ns0:v>
                </ns0:pt>
                <ns0:pt idx="104">
                  <ns0:v>2</ns0:v>
                </ns0:pt>
                <ns0:pt idx="105">
                  <ns0:v>2</ns0:v>
                </ns0:pt>
                <ns0:pt idx="106">
                  <ns0:v>2</ns0:v>
                </ns0:pt>
                <ns0:pt idx="107">
                  <ns0:v>2</ns0:v>
                </ns0:pt>
                <ns0:pt idx="108">
                  <ns0:v>2</ns0:v>
                </ns0:pt>
                <ns0:pt idx="109">
                  <ns0:v>2</ns0:v>
                </ns0:pt>
                <ns0:pt idx="110">
                  <ns0:v>2</ns0:v>
                </ns0:pt>
                <ns0:pt idx="111">
                  <ns0:v>2</ns0:v>
                </ns0:pt>
                <ns0:pt idx="112">
                  <ns0:v>2</ns0:v>
                </ns0:pt>
                <ns0:pt idx="113">
                  <ns0:v>2</ns0:v>
                </ns0:pt>
                <ns0:pt idx="114">
                  <ns0:v>2</ns0:v>
                </ns0:pt>
                <ns0:pt idx="115">
                  <ns0:v>2</ns0:v>
                </ns0:pt>
                <ns0:pt idx="116">
                  <ns0:v>2</ns0:v>
                </ns0:pt>
                <ns0:pt idx="117">
                  <ns0:v>2</ns0:v>
                </ns0:pt>
                <ns0:pt idx="118">
                  <ns0:v>2</ns0:v>
                </ns0:pt>
                <ns0:pt idx="119">
                  <ns0:v>2</ns0:v>
                </ns0:pt>
                <ns0:pt idx="120">
                  <ns0:v>2</ns0:v>
                </ns0:pt>
                <ns0:pt idx="121">
                  <ns0:v>2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seed 49</ns0:v>
          </ns0:tx>
          <ns0:spPr>
            <ns1:ln w="20955">
              <ns1:solidFill>
                <ns1:srgbClr val="287F77"/>
              </ns1:solidFill>
            </ns1:ln>
          </ns0:spPr>
          <ns0:marker>
            <ns0:symbol val="none"/>
          </ns0:marker>
          <ns0:xVal>
            <ns0:numRef>
              <ns0:f>'Chart Data'!$C$2:$C$123</ns0:f>
              <ns0:numCache>
                <ns0:formatCode>General</ns0:formatCode>
                <ns0:ptCount val="122"/>
                <ns0:pt idx="0">
                  <ns0:v>8.192</ns0:v>
                </ns0:pt>
                <ns0:pt idx="1">
                  <ns0:v>12.288</ns0:v>
                </ns0:pt>
                <ns0:pt idx="2">
                  <ns0:v>16</ns0:v>
                </ns0:pt>
                <ns0:pt idx="3">
                  <ns0:v>20.48</ns0:v>
                </ns0:pt>
                <ns0:pt idx="4">
                  <ns0:v>24.576</ns0:v>
                </ns0:pt>
                <ns0:pt idx="5">
                  <ns0:v>28.672</ns0:v>
                </ns0:pt>
                <ns0:pt idx="6">
                  <ns0:v>32</ns0:v>
                </ns0:pt>
                <ns0:pt idx="7">
                  <ns0:v>36.864</ns0:v>
                </ns0:pt>
                <ns0:pt idx="8">
                  <ns0:v>40.96</ns0:v>
                </ns0:pt>
                <ns0:pt idx="9">
                  <ns0:v>45.056</ns0:v>
                </ns0:pt>
                <ns0:pt idx="10">
                  <ns0:v>48</ns0:v>
                </ns0:pt>
                <ns0:pt idx="11">
                  <ns0:v>53.248</ns0:v>
                </ns0:pt>
                <ns0:pt idx="12">
                  <ns0:v>57.344</ns0:v>
                </ns0:pt>
                <ns0:pt idx="13">
                  <ns0:v>61.44</ns0:v>
                </ns0:pt>
                <ns0:pt idx="14">
                  <ns0:v>64</ns0:v>
                </ns0:pt>
                <ns0:pt idx="15">
                  <ns0:v>69.632</ns0:v>
                </ns0:pt>
                <ns0:pt idx="16">
                  <ns0:v>73.728</ns0:v>
                </ns0:pt>
                <ns0:pt idx="17">
                  <ns0:v>77.824</ns0:v>
                </ns0:pt>
                <ns0:pt idx="18">
                  <ns0:v>80</ns0:v>
                </ns0:pt>
                <ns0:pt idx="19">
                  <ns0:v>86.016</ns0:v>
                </ns0:pt>
                <ns0:pt idx="20">
                  <ns0:v>90.112</ns0:v>
                </ns0:pt>
                <ns0:pt idx="21">
                  <ns0:v>94.208</ns0:v>
                </ns0:pt>
                <ns0:pt idx="22">
                  <ns0:v>96</ns0:v>
                </ns0:pt>
                <ns0:pt idx="23">
                  <ns0:v>100</ns0:v>
                </ns0:pt>
                <ns0:pt idx="24">
                  <ns0:v>106.496</ns0:v>
                </ns0:pt>
                <ns0:pt idx="25">
                  <ns0:v>110.592</ns0:v>
                </ns0:pt>
                <ns0:pt idx="26">
                  <ns0:v>112</ns0:v>
                </ns0:pt>
                <ns0:pt idx="27">
                  <ns0:v>118.784</ns0:v>
                </ns0:pt>
                <ns0:pt idx="28">
                  <ns0:v>122.88</ns0:v>
                </ns0:pt>
                <ns0:pt idx="29">
                  <ns0:v>126.976</ns0:v>
                </ns0:pt>
                <ns0:pt idx="30">
                  <ns0:v>128</ns0:v>
                </ns0:pt>
                <ns0:pt idx="31">
                  <ns0:v>135.168</ns0:v>
                </ns0:pt>
                <ns0:pt idx="32">
                  <ns0:v>139.264</ns0:v>
                </ns0:pt>
                <ns0:pt idx="33">
                  <ns0:v>143.36</ns0:v>
                </ns0:pt>
                <ns0:pt idx="34">
                  <ns0:v>144</ns0:v>
                </ns0:pt>
                <ns0:pt idx="35">
                  <ns0:v>151.552</ns0:v>
                </ns0:pt>
                <ns0:pt idx="36">
                  <ns0:v>155.648</ns0:v>
                </ns0:pt>
                <ns0:pt idx="37">
                  <ns0:v>159.744</ns0:v>
                </ns0:pt>
                <ns0:pt idx="38">
                  <ns0:v>160</ns0:v>
                </ns0:pt>
                <ns0:pt idx="39">
                  <ns0:v>167.936</ns0:v>
                </ns0:pt>
                <ns0:pt idx="40">
                  <ns0:v>172.032</ns0:v>
                </ns0:pt>
                <ns0:pt idx="41">
                  <ns0:v>176</ns0:v>
                </ns0:pt>
                <ns0:pt idx="42">
                  <ns0:v>180.224</ns0:v>
                </ns0:pt>
                <ns0:pt idx="43">
                  <ns0:v>184.32</ns0:v>
                </ns0:pt>
                <ns0:pt idx="44">
                  <ns0:v>188.416</ns0:v>
                </ns0:pt>
                <ns0:pt idx="45">
                  <ns0:v>192</ns0:v>
                </ns0:pt>
                <ns0:pt idx="46">
                  <ns0:v>196.608</ns0:v>
                </ns0:pt>
                <ns0:pt idx="47">
                  <ns0:v>200</ns0:v>
                </ns0:pt>
                <ns0:pt idx="48">
                  <ns0:v>204.8</ns0:v>
                </ns0:pt>
                <ns0:pt idx="49">
                  <ns0:v>208</ns0:v>
                </ns0:pt>
                <ns0:pt idx="50">
                  <ns0:v>212.992</ns0:v>
                </ns0:pt>
                <ns0:pt idx="51">
                  <ns0:v>217.088</ns0:v>
                </ns0:pt>
                <ns0:pt idx="52">
                  <ns0:v>221.184</ns0:v>
                </ns0:pt>
                <ns0:pt idx="53">
                  <ns0:v>224</ns0:v>
                </ns0:pt>
                <ns0:pt idx="54">
                  <ns0:v>229.376</ns0:v>
                </ns0:pt>
                <ns0:pt idx="55">
                  <ns0:v>233.472</ns0:v>
                </ns0:pt>
                <ns0:pt idx="56">
                  <ns0:v>237.568</ns0:v>
                </ns0:pt>
                <ns0:pt idx="57">
                  <ns0:v>240</ns0:v>
                </ns0:pt>
                <ns0:pt idx="58">
                  <ns0:v>245.76</ns0:v>
                </ns0:pt>
                <ns0:pt idx="59">
                  <ns0:v>249.856</ns0:v>
                </ns0:pt>
                <ns0:pt idx="60">
                  <ns0:v>253.952</ns0:v>
                </ns0:pt>
                <ns0:pt idx="61">
                  <ns0:v>256</ns0:v>
                </ns0:pt>
                <ns0:pt idx="62">
                  <ns0:v>262.144</ns0:v>
                </ns0:pt>
                <ns0:pt idx="63">
                  <ns0:v>266.24</ns0:v>
                </ns0:pt>
                <ns0:pt idx="64">
                  <ns0:v>270.336</ns0:v>
                </ns0:pt>
                <ns0:pt idx="65">
                  <ns0:v>272</ns0:v>
                </ns0:pt>
                <ns0:pt idx="66">
                  <ns0:v>278.528</ns0:v>
                </ns0:pt>
                <ns0:pt idx="67">
                  <ns0:v>282.624</ns0:v>
                </ns0:pt>
                <ns0:pt idx="68">
                  <ns0:v>286.72</ns0:v>
                </ns0:pt>
                <ns0:pt idx="69">
                  <ns0:v>288</ns0:v>
                </ns0:pt>
                <ns0:pt idx="70">
                  <ns0:v>294.912</ns0:v>
                </ns0:pt>
                <ns0:pt idx="71">
                  <ns0:v>299.008</ns0:v>
                </ns0:pt>
                <ns0:pt idx="72">
                  <ns0:v>300</ns0:v>
                </ns0:pt>
                <ns0:pt idx="73">
                  <ns0:v>304</ns0:v>
                </ns0:pt>
                <ns0:pt idx="74">
                  <ns0:v>311.296</ns0:v>
                </ns0:pt>
                <ns0:pt idx="75">
                  <ns0:v>315.392</ns0:v>
                </ns0:pt>
                <ns0:pt idx="76">
                  <ns0:v>319.488</ns0:v>
                </ns0:pt>
                <ns0:pt idx="77">
                  <ns0:v>320</ns0:v>
                </ns0:pt>
                <ns0:pt idx="78">
                  <ns0:v>327.68</ns0:v>
                </ns0:pt>
                <ns0:pt idx="79">
                  <ns0:v>331.776</ns0:v>
                </ns0:pt>
                <ns0:pt idx="80">
                  <ns0:v>335.872</ns0:v>
                </ns0:pt>
                <ns0:pt idx="81">
                  <ns0:v>336</ns0:v>
                </ns0:pt>
                <ns0:pt idx="82">
                  <ns0:v>344.064</ns0:v>
                </ns0:pt>
                <ns0:pt idx="83">
                  <ns0:v>348.16</ns0:v>
                </ns0:pt>
                <ns0:pt idx="84">
                  <ns0:v>352</ns0:v>
                </ns0:pt>
                <ns0:pt idx="85">
                  <ns0:v>356.352</ns0:v>
                </ns0:pt>
                <ns0:pt idx="86">
                  <ns0:v>360.448</ns0:v>
                </ns0:pt>
                <ns0:pt idx="87">
                  <ns0:v>364.544</ns0:v>
                </ns0:pt>
                <ns0:pt idx="88">
                  <ns0:v>368</ns0:v>
                </ns0:pt>
                <ns0:pt idx="89">
                  <ns0:v>372.736</ns0:v>
                </ns0:pt>
                <ns0:pt idx="90">
                  <ns0:v>376.832</ns0:v>
                </ns0:pt>
                <ns0:pt idx="91">
                  <ns0:v>380.928</ns0:v>
                </ns0:pt>
                <ns0:pt idx="92">
                  <ns0:v>384</ns0:v>
                </ns0:pt>
                <ns0:pt idx="93">
                  <ns0:v>389.12</ns0:v>
                </ns0:pt>
                <ns0:pt idx="94">
                  <ns0:v>393.216</ns0:v>
                </ns0:pt>
                <ns0:pt idx="95">
                  <ns0:v>397.312</ns0:v>
                </ns0:pt>
                <ns0:pt idx="96">
                  <ns0:v>400</ns0:v>
                </ns0:pt>
                <ns0:pt idx="97">
                  <ns0:v>405.504</ns0:v>
                </ns0:pt>
                <ns0:pt idx="98">
                  <ns0:v>409.6</ns0:v>
                </ns0:pt>
                <ns0:pt idx="99">
                  <ns0:v>413.696</ns0:v>
                </ns0:pt>
                <ns0:pt idx="100">
                  <ns0:v>416</ns0:v>
                </ns0:pt>
                <ns0:pt idx="101">
                  <ns0:v>421.888</ns0:v>
                </ns0:pt>
                <ns0:pt idx="102">
                  <ns0:v>425.984</ns0:v>
                </ns0:pt>
                <ns0:pt idx="103">
                  <ns0:v>430.08</ns0:v>
                </ns0:pt>
                <ns0:pt idx="104">
                  <ns0:v>432</ns0:v>
                </ns0:pt>
                <ns0:pt idx="105">
                  <ns0:v>438.272</ns0:v>
                </ns0:pt>
                <ns0:pt idx="106">
                  <ns0:v>442.368</ns0:v>
                </ns0:pt>
                <ns0:pt idx="107">
                  <ns0:v>446.464</ns0:v>
                </ns0:pt>
                <ns0:pt idx="108">
                  <ns0:v>448</ns0:v>
                </ns0:pt>
                <ns0:pt idx="109">
                  <ns0:v>454.656</ns0:v>
                </ns0:pt>
                <ns0:pt idx="110">
                  <ns0:v>458.752</ns0:v>
                </ns0:pt>
                <ns0:pt idx="111">
                  <ns0:v>462.848</ns0:v>
                </ns0:pt>
                <ns0:pt idx="112">
                  <ns0:v>464</ns0:v>
                </ns0:pt>
                <ns0:pt idx="113">
                  <ns0:v>471.04</ns0:v>
                </ns0:pt>
                <ns0:pt idx="114">
                  <ns0:v>475.136</ns0:v>
                </ns0:pt>
                <ns0:pt idx="115">
                  <ns0:v>479.232</ns0:v>
                </ns0:pt>
                <ns0:pt idx="116">
                  <ns0:v>480</ns0:v>
                </ns0:pt>
                <ns0:pt idx="117">
                  <ns0:v>487.424</ns0:v>
                </ns0:pt>
                <ns0:pt idx="118">
                  <ns0:v>491.52</ns0:v>
                </ns0:pt>
                <ns0:pt idx="119">
                  <ns0:v>495.616</ns0:v>
                </ns0:pt>
                <ns0:pt idx="120">
                  <ns0:v>496</ns0:v>
                </ns0:pt>
                <ns0:pt idx="121">
                  <ns0:v>500</ns0:v>
                </ns0:pt>
              </ns0:numCache>
            </ns0:numRef>
          </ns0:xVal>
          <ns0:yVal>
            <ns0:numRef>
              <ns0:f>'Chart Data'!$D$2:$D$123</ns0:f>
              <ns0:numCache>
                <ns0:formatCode>0.0</ns0:formatCode>
                <ns0:ptCount val="122"/>
                <ns0:pt idx="0">
                  <ns0:v>1</ns0:v>
                </ns0:pt>
                <ns0:pt idx="1">
                  <ns0:v>1</ns0:v>
                </ns0:pt>
                <ns0:pt idx="2">
                  <ns0:v>1</ns0:v>
                </ns0:pt>
                <ns0:pt idx="3">
                  <ns0:v>1</ns0:v>
                </ns0:pt>
                <ns0:pt idx="4">
                  <ns0:v>1</ns0:v>
                </ns0:pt>
                <ns0:pt idx="5">
                  <ns0:v>1</ns0:v>
                </ns0:pt>
                <ns0:pt idx="6">
                  <ns0:v>1</ns0:v>
                </ns0:pt>
                <ns0:pt idx="7">
                  <ns0:v>1</ns0:v>
                </ns0:pt>
                <ns0:pt idx="8">
                  <ns0:v>1</ns0:v>
                </ns0:pt>
                <ns0:pt idx="9">
                  <ns0:v>1</ns0:v>
                </ns0:pt>
                <ns0:pt idx="10">
                  <ns0:v>1</ns0:v>
                </ns0:pt>
                <ns0:pt idx="11">
                  <ns0:v>1</ns0:v>
                </ns0:pt>
                <ns0:pt idx="12">
                  <ns0:v>1</ns0:v>
                </ns0:pt>
                <ns0:pt idx="13">
                  <ns0:v>1</ns0:v>
                </ns0:pt>
                <ns0:pt idx="14">
                  <ns0:v>1</ns0:v>
                </ns0:pt>
                <ns0:pt idx="15">
                  <ns0:v>1</ns0:v>
                </ns0:pt>
                <ns0:pt idx="16">
                  <ns0:v>1</ns0:v>
                </ns0:pt>
                <ns0:pt idx="17">
                  <ns0:v>1</ns0:v>
                </ns0:pt>
                <ns0:pt idx="18">
                  <ns0:v>1</ns0:v>
                </ns0:pt>
                <ns0:pt idx="19">
                  <ns0:v>1</ns0:v>
                </ns0:pt>
                <ns0:pt idx="20">
                  <ns0:v>1</ns0:v>
                </ns0:pt>
                <ns0:pt idx="21">
                  <ns0:v>1</ns0:v>
                </ns0:pt>
                <ns0:pt idx="22">
                  <ns0:v>1</ns0:v>
                </ns0:pt>
                <ns0:pt idx="23">
                  <ns0:v>1</ns0:v>
                </ns0:pt>
                <ns0:pt idx="24">
                  <ns0:v>1</ns0:v>
                </ns0:pt>
                <ns0:pt idx="25">
                  <ns0:v>1</ns0:v>
                </ns0:pt>
                <ns0:pt idx="26">
                  <ns0:v>1</ns0:v>
                </ns0:pt>
                <ns0:pt idx="27">
                  <ns0:v>1</ns0:v>
                </ns0:pt>
                <ns0:pt idx="28">
                  <ns0:v>1</ns0:v>
                </ns0:pt>
                <ns0:pt idx="29">
                  <ns0:v>1.1</ns0:v>
                </ns0:pt>
                <ns0:pt idx="30">
                  <ns0:v>1.1</ns0:v>
                </ns0:pt>
                <ns0:pt idx="31">
                  <ns0:v>1.1</ns0:v>
                </ns0:pt>
                <ns0:pt idx="32">
                  <ns0:v>1.1</ns0:v>
                </ns0:pt>
                <ns0:pt idx="33">
                  <ns0:v>1.1</ns0:v>
                </ns0:pt>
                <ns0:pt idx="34">
                  <ns0:v>1.1</ns0:v>
                </ns0:pt>
                <ns0:pt idx="35">
                  <ns0:v>1.1</ns0:v>
                </ns0:pt>
                <ns0:pt idx="36">
                  <ns0:v>1.1</ns0:v>
                </ns0:pt>
                <ns0:pt idx="37">
                  <ns0:v>1.1</ns0:v>
                </ns0:pt>
                <ns0:pt idx="38">
                  <ns0:v>1.1</ns0:v>
                </ns0:pt>
                <ns0:pt idx="39">
                  <ns0:v>1.1</ns0:v>
                </ns0:pt>
                <ns0:pt idx="40">
                  <ns0:v>1.1</ns0:v>
                </ns0:pt>
                <ns0:pt idx="41">
                  <ns0:v>1.1</ns0:v>
                </ns0:pt>
                <ns0:pt idx="42">
                  <ns0:v>1.21</ns0:v>
                </ns0:pt>
                <ns0:pt idx="43">
                  <ns0:v>1.21</ns0:v>
                </ns0:pt>
                <ns0:pt idx="44">
                  <ns0:v>1.21</ns0:v>
                </ns0:pt>
                <ns0:pt idx="45">
                  <ns0:v>1.21</ns0:v>
                </ns0:pt>
                <ns0:pt idx="46">
                  <ns0:v>1.21</ns0:v>
                </ns0:pt>
                <ns0:pt idx="47">
                  <ns0:v>1.331</ns0:v>
                </ns0:pt>
                <ns0:pt idx="48">
                  <ns0:v>1.4641</ns0:v>
                </ns0:pt>
                <ns0:pt idx="49">
                  <ns0:v>1.331</ns0:v>
                </ns0:pt>
                <ns0:pt idx="50">
                  <ns0:v>1.331</ns0:v>
                </ns0:pt>
                <ns0:pt idx="51">
                  <ns0:v>1.331</ns0:v>
                </ns0:pt>
                <ns0:pt idx="52">
                  <ns0:v>1.331</ns0:v>
                </ns0:pt>
                <ns0:pt idx="53">
                  <ns0:v>1.331</ns0:v>
                </ns0:pt>
                <ns0:pt idx="54">
                  <ns0:v>1.331</ns0:v>
                </ns0:pt>
                <ns0:pt idx="55">
                  <ns0:v>1.331</ns0:v>
                </ns0:pt>
                <ns0:pt idx="56">
                  <ns0:v>1.331</ns0:v>
                </ns0:pt>
                <ns0:pt idx="57">
                  <ns0:v>1.331</ns0:v>
                </ns0:pt>
                <ns0:pt idx="58">
                  <ns0:v>1.331</ns0:v>
                </ns0:pt>
                <ns0:pt idx="59">
                  <ns0:v>1.331</ns0:v>
                </ns0:pt>
                <ns0:pt idx="60">
                  <ns0:v>1.331</ns0:v>
                </ns0:pt>
                <ns0:pt idx="61">
                  <ns0:v>1.331</ns0:v>
                </ns0:pt>
                <ns0:pt idx="62">
                  <ns0:v>1.4641</ns0:v>
                </ns0:pt>
                <ns0:pt idx="63">
                  <ns0:v>1.4641</ns0:v>
                </ns0:pt>
                <ns0:pt idx="64">
                  <ns0:v>1.4641</ns0:v>
                </ns0:pt>
                <ns0:pt idx="65">
                  <ns0:v>1.4641</ns0:v>
                </ns0:pt>
                <ns0:pt idx="66">
                  <ns0:v>1.4641</ns0:v>
                </ns0:pt>
                <ns0:pt idx="67">
                  <ns0:v>1.4641</ns0:v>
                </ns0:pt>
                <ns0:pt idx="68">
                  <ns0:v>1.61051</ns0:v>
                </ns0:pt>
                <ns0:pt idx="69">
                  <ns0:v>1.771561</ns0:v>
                </ns0:pt>
                <ns0:pt idx="70">
                  <ns0:v>1.9487171</ns0:v>
                </ns0:pt>
                <ns0:pt idx="71">
                  <ns0:v>1.9487171</ns0:v>
                </ns0:pt>
                <ns0:pt idx="72">
                  <ns0:v>1.9487171</ns0:v>
                </ns0:pt>
                <ns0:pt idx="73">
                  <ns0:v>1.9487171</ns0:v>
                </ns0:pt>
                <ns0:pt idx="74">
                  <ns0:v>1.9487171</ns0:v>
                </ns0:pt>
                <ns0:pt idx="75">
                  <ns0:v>1.9487171</ns0:v>
                </ns0:pt>
                <ns0:pt idx="76">
                  <ns0:v>1.9487171</ns0:v>
                </ns0:pt>
                <ns0:pt idx="77">
                  <ns0:v>1.9487171</ns0:v>
                </ns0:pt>
                <ns0:pt idx="78">
                  <ns0:v>1.9487171</ns0:v>
                </ns0:pt>
                <ns0:pt idx="79">
                  <ns0:v>1.9487171</ns0:v>
                </ns0:pt>
                <ns0:pt idx="80">
                  <ns0:v>1.9487171</ns0:v>
                </ns0:pt>
                <ns0:pt idx="81">
                  <ns0:v>1.9487171</ns0:v>
                </ns0:pt>
                <ns0:pt idx="82">
                  <ns0:v>2</ns0:v>
                </ns0:pt>
                <ns0:pt idx="83">
                  <ns0:v>2</ns0:v>
                </ns0:pt>
                <ns0:pt idx="84">
                  <ns0:v>2</ns0:v>
                </ns0:pt>
                <ns0:pt idx="85">
                  <ns0:v>2</ns0:v>
                </ns0:pt>
                <ns0:pt idx="86">
                  <ns0:v>2</ns0:v>
                </ns0:pt>
                <ns0:pt idx="87">
                  <ns0:v>2</ns0:v>
                </ns0:pt>
                <ns0:pt idx="88">
                  <ns0:v>2</ns0:v>
                </ns0:pt>
                <ns0:pt idx="89">
                  <ns0:v>2</ns0:v>
                </ns0:pt>
                <ns0:pt idx="90">
                  <ns0:v>2</ns0:v>
                </ns0:pt>
                <ns0:pt idx="91">
                  <ns0:v>2</ns0:v>
                </ns0:pt>
                <ns0:pt idx="92">
                  <ns0:v>2</ns0:v>
                </ns0:pt>
                <ns0:pt idx="93">
                  <ns0:v>2</ns0:v>
                </ns0:pt>
                <ns0:pt idx="94">
                  <ns0:v>2</ns0:v>
                </ns0:pt>
                <ns0:pt idx="95">
                  <ns0:v>2</ns0:v>
                </ns0:pt>
                <ns0:pt idx="96">
                  <ns0:v>2</ns0:v>
                </ns0:pt>
                <ns0:pt idx="97">
                  <ns0:v>2</ns0:v>
                </ns0:pt>
                <ns0:pt idx="98">
                  <ns0:v>2</ns0:v>
                </ns0:pt>
                <ns0:pt idx="99">
                  <ns0:v>2</ns0:v>
                </ns0:pt>
                <ns0:pt idx="100">
                  <ns0:v>2</ns0:v>
                </ns0:pt>
                <ns0:pt idx="101">
                  <ns0:v>2</ns0:v>
                </ns0:pt>
                <ns0:pt idx="102">
                  <ns0:v>2</ns0:v>
                </ns0:pt>
                <ns0:pt idx="103">
                  <ns0:v>2</ns0:v>
                </ns0:pt>
                <ns0:pt idx="104">
                  <ns0:v>2</ns0:v>
                </ns0:pt>
                <ns0:pt idx="105">
                  <ns0:v>2</ns0:v>
                </ns0:pt>
                <ns0:pt idx="106">
                  <ns0:v>2</ns0:v>
                </ns0:pt>
                <ns0:pt idx="107">
                  <ns0:v>2</ns0:v>
                </ns0:pt>
                <ns0:pt idx="108">
                  <ns0:v>2</ns0:v>
                </ns0:pt>
                <ns0:pt idx="109">
                  <ns0:v>2</ns0:v>
                </ns0:pt>
                <ns0:pt idx="110">
                  <ns0:v>2</ns0:v>
                </ns0:pt>
                <ns0:pt idx="111">
                  <ns0:v>2</ns0:v>
                </ns0:pt>
                <ns0:pt idx="112">
                  <ns0:v>2</ns0:v>
                </ns0:pt>
                <ns0:pt idx="113">
                  <ns0:v>2</ns0:v>
                </ns0:pt>
                <ns0:pt idx="114">
                  <ns0:v>2</ns0:v>
                </ns0:pt>
                <ns0:pt idx="115">
                  <ns0:v>2</ns0:v>
                </ns0:pt>
                <ns0:pt idx="116">
                  <ns0:v>2</ns0:v>
                </ns0:pt>
                <ns0:pt idx="117">
                  <ns0:v>2</ns0:v>
                </ns0:pt>
                <ns0:pt idx="118">
                  <ns0:v>2</ns0:v>
                </ns0:pt>
                <ns0:pt idx="119">
                  <ns0:v>2</ns0:v>
                </ns0:pt>
                <ns0:pt idx="120">
                  <ns0:v>2</ns0:v>
                </ns0:pt>
                <ns0:pt idx="121">
                  <ns0:v>2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seed 50</ns0:v>
          </ns0:tx>
          <ns0:spPr>
            <ns1:ln w="20955">
              <ns1:solidFill>
                <ns1:srgbClr val="9AA9B5"/>
              </ns1:solidFill>
            </ns1:ln>
          </ns0:spPr>
          <ns0:marker>
            <ns0:symbol val="none"/>
          </ns0:marker>
          <ns0:xVal>
            <ns0:numRef>
              <ns0:f>'Chart Data'!$E$2:$E$123</ns0:f>
              <ns0:numCache>
                <ns0:formatCode>General</ns0:formatCode>
                <ns0:ptCount val="122"/>
                <ns0:pt idx="0">
                  <ns0:v>8.192</ns0:v>
                </ns0:pt>
                <ns0:pt idx="1">
                  <ns0:v>12.288</ns0:v>
                </ns0:pt>
                <ns0:pt idx="2">
                  <ns0:v>16</ns0:v>
                </ns0:pt>
                <ns0:pt idx="3">
                  <ns0:v>20.48</ns0:v>
                </ns0:pt>
                <ns0:pt idx="4">
                  <ns0:v>24.576</ns0:v>
                </ns0:pt>
                <ns0:pt idx="5">
                  <ns0:v>28.672</ns0:v>
                </ns0:pt>
                <ns0:pt idx="6">
                  <ns0:v>32</ns0:v>
                </ns0:pt>
                <ns0:pt idx="7">
                  <ns0:v>36.864</ns0:v>
                </ns0:pt>
                <ns0:pt idx="8">
                  <ns0:v>40.96</ns0:v>
                </ns0:pt>
                <ns0:pt idx="9">
                  <ns0:v>45.056</ns0:v>
                </ns0:pt>
                <ns0:pt idx="10">
                  <ns0:v>48</ns0:v>
                </ns0:pt>
                <ns0:pt idx="11">
                  <ns0:v>53.248</ns0:v>
                </ns0:pt>
                <ns0:pt idx="12">
                  <ns0:v>57.344</ns0:v>
                </ns0:pt>
                <ns0:pt idx="13">
                  <ns0:v>61.44</ns0:v>
                </ns0:pt>
                <ns0:pt idx="14">
                  <ns0:v>64</ns0:v>
                </ns0:pt>
                <ns0:pt idx="15">
                  <ns0:v>69.632</ns0:v>
                </ns0:pt>
                <ns0:pt idx="16">
                  <ns0:v>73.728</ns0:v>
                </ns0:pt>
                <ns0:pt idx="17">
                  <ns0:v>77.824</ns0:v>
                </ns0:pt>
                <ns0:pt idx="18">
                  <ns0:v>80</ns0:v>
                </ns0:pt>
                <ns0:pt idx="19">
                  <ns0:v>86.016</ns0:v>
                </ns0:pt>
                <ns0:pt idx="20">
                  <ns0:v>90.112</ns0:v>
                </ns0:pt>
                <ns0:pt idx="21">
                  <ns0:v>94.208</ns0:v>
                </ns0:pt>
                <ns0:pt idx="22">
                  <ns0:v>96</ns0:v>
                </ns0:pt>
                <ns0:pt idx="23">
                  <ns0:v>100</ns0:v>
                </ns0:pt>
                <ns0:pt idx="24">
                  <ns0:v>106.496</ns0:v>
                </ns0:pt>
                <ns0:pt idx="25">
                  <ns0:v>110.592</ns0:v>
                </ns0:pt>
                <ns0:pt idx="26">
                  <ns0:v>112</ns0:v>
                </ns0:pt>
                <ns0:pt idx="27">
                  <ns0:v>118.784</ns0:v>
                </ns0:pt>
                <ns0:pt idx="28">
                  <ns0:v>122.88</ns0:v>
                </ns0:pt>
                <ns0:pt idx="29">
                  <ns0:v>126.976</ns0:v>
                </ns0:pt>
                <ns0:pt idx="30">
                  <ns0:v>128</ns0:v>
                </ns0:pt>
                <ns0:pt idx="31">
                  <ns0:v>135.168</ns0:v>
                </ns0:pt>
                <ns0:pt idx="32">
                  <ns0:v>139.264</ns0:v>
                </ns0:pt>
                <ns0:pt idx="33">
                  <ns0:v>143.36</ns0:v>
                </ns0:pt>
                <ns0:pt idx="34">
                  <ns0:v>144</ns0:v>
                </ns0:pt>
                <ns0:pt idx="35">
                  <ns0:v>151.552</ns0:v>
                </ns0:pt>
                <ns0:pt idx="36">
                  <ns0:v>155.648</ns0:v>
                </ns0:pt>
                <ns0:pt idx="37">
                  <ns0:v>159.744</ns0:v>
                </ns0:pt>
                <ns0:pt idx="38">
                  <ns0:v>160</ns0:v>
                </ns0:pt>
                <ns0:pt idx="39">
                  <ns0:v>167.936</ns0:v>
                </ns0:pt>
                <ns0:pt idx="40">
                  <ns0:v>172.032</ns0:v>
                </ns0:pt>
                <ns0:pt idx="41">
                  <ns0:v>176</ns0:v>
                </ns0:pt>
                <ns0:pt idx="42">
                  <ns0:v>180.224</ns0:v>
                </ns0:pt>
                <ns0:pt idx="43">
                  <ns0:v>184.32</ns0:v>
                </ns0:pt>
                <ns0:pt idx="44">
                  <ns0:v>188.416</ns0:v>
                </ns0:pt>
                <ns0:pt idx="45">
                  <ns0:v>192</ns0:v>
                </ns0:pt>
                <ns0:pt idx="46">
                  <ns0:v>196.608</ns0:v>
                </ns0:pt>
                <ns0:pt idx="47">
                  <ns0:v>200</ns0:v>
                </ns0:pt>
                <ns0:pt idx="48">
                  <ns0:v>204.8</ns0:v>
                </ns0:pt>
                <ns0:pt idx="49">
                  <ns0:v>208</ns0:v>
                </ns0:pt>
                <ns0:pt idx="50">
                  <ns0:v>212.992</ns0:v>
                </ns0:pt>
                <ns0:pt idx="51">
                  <ns0:v>217.088</ns0:v>
                </ns0:pt>
                <ns0:pt idx="52">
                  <ns0:v>221.184</ns0:v>
                </ns0:pt>
                <ns0:pt idx="53">
                  <ns0:v>224</ns0:v>
                </ns0:pt>
                <ns0:pt idx="54">
                  <ns0:v>229.376</ns0:v>
                </ns0:pt>
                <ns0:pt idx="55">
                  <ns0:v>233.472</ns0:v>
                </ns0:pt>
                <ns0:pt idx="56">
                  <ns0:v>237.568</ns0:v>
                </ns0:pt>
                <ns0:pt idx="57">
                  <ns0:v>240</ns0:v>
                </ns0:pt>
                <ns0:pt idx="58">
                  <ns0:v>245.76</ns0:v>
                </ns0:pt>
                <ns0:pt idx="59">
                  <ns0:v>249.856</ns0:v>
                </ns0:pt>
                <ns0:pt idx="60">
                  <ns0:v>253.952</ns0:v>
                </ns0:pt>
                <ns0:pt idx="61">
                  <ns0:v>256</ns0:v>
                </ns0:pt>
                <ns0:pt idx="62">
                  <ns0:v>262.144</ns0:v>
                </ns0:pt>
                <ns0:pt idx="63">
                  <ns0:v>266.24</ns0:v>
                </ns0:pt>
                <ns0:pt idx="64">
                  <ns0:v>270.336</ns0:v>
                </ns0:pt>
                <ns0:pt idx="65">
                  <ns0:v>272</ns0:v>
                </ns0:pt>
                <ns0:pt idx="66">
                  <ns0:v>278.528</ns0:v>
                </ns0:pt>
                <ns0:pt idx="67">
                  <ns0:v>282.624</ns0:v>
                </ns0:pt>
                <ns0:pt idx="68">
                  <ns0:v>286.72</ns0:v>
                </ns0:pt>
                <ns0:pt idx="69">
                  <ns0:v>288</ns0:v>
                </ns0:pt>
                <ns0:pt idx="70">
                  <ns0:v>294.912</ns0:v>
                </ns0:pt>
                <ns0:pt idx="71">
                  <ns0:v>299.008</ns0:v>
                </ns0:pt>
                <ns0:pt idx="72">
                  <ns0:v>300</ns0:v>
                </ns0:pt>
                <ns0:pt idx="73">
                  <ns0:v>304</ns0:v>
                </ns0:pt>
                <ns0:pt idx="74">
                  <ns0:v>311.296</ns0:v>
                </ns0:pt>
                <ns0:pt idx="75">
                  <ns0:v>315.392</ns0:v>
                </ns0:pt>
                <ns0:pt idx="76">
                  <ns0:v>319.488</ns0:v>
                </ns0:pt>
                <ns0:pt idx="77">
                  <ns0:v>320</ns0:v>
                </ns0:pt>
                <ns0:pt idx="78">
                  <ns0:v>327.68</ns0:v>
                </ns0:pt>
                <ns0:pt idx="79">
                  <ns0:v>331.776</ns0:v>
                </ns0:pt>
                <ns0:pt idx="80">
                  <ns0:v>335.872</ns0:v>
                </ns0:pt>
                <ns0:pt idx="81">
                  <ns0:v>336</ns0:v>
                </ns0:pt>
                <ns0:pt idx="82">
                  <ns0:v>344.064</ns0:v>
                </ns0:pt>
                <ns0:pt idx="83">
                  <ns0:v>348.16</ns0:v>
                </ns0:pt>
                <ns0:pt idx="84">
                  <ns0:v>352</ns0:v>
                </ns0:pt>
                <ns0:pt idx="85">
                  <ns0:v>356.352</ns0:v>
                </ns0:pt>
                <ns0:pt idx="86">
                  <ns0:v>360.448</ns0:v>
                </ns0:pt>
                <ns0:pt idx="87">
                  <ns0:v>364.544</ns0:v>
                </ns0:pt>
                <ns0:pt idx="88">
                  <ns0:v>368</ns0:v>
                </ns0:pt>
                <ns0:pt idx="89">
                  <ns0:v>372.736</ns0:v>
                </ns0:pt>
                <ns0:pt idx="90">
                  <ns0:v>376.832</ns0:v>
                </ns0:pt>
                <ns0:pt idx="91">
                  <ns0:v>380.928</ns0:v>
                </ns0:pt>
                <ns0:pt idx="92">
                  <ns0:v>384</ns0:v>
                </ns0:pt>
                <ns0:pt idx="93">
                  <ns0:v>389.12</ns0:v>
                </ns0:pt>
                <ns0:pt idx="94">
                  <ns0:v>393.216</ns0:v>
                </ns0:pt>
                <ns0:pt idx="95">
                  <ns0:v>397.312</ns0:v>
                </ns0:pt>
                <ns0:pt idx="96">
                  <ns0:v>400</ns0:v>
                </ns0:pt>
                <ns0:pt idx="97">
                  <ns0:v>405.504</ns0:v>
                </ns0:pt>
                <ns0:pt idx="98">
                  <ns0:v>409.6</ns0:v>
                </ns0:pt>
                <ns0:pt idx="99">
                  <ns0:v>413.696</ns0:v>
                </ns0:pt>
                <ns0:pt idx="100">
                  <ns0:v>416</ns0:v>
                </ns0:pt>
                <ns0:pt idx="101">
                  <ns0:v>421.888</ns0:v>
                </ns0:pt>
                <ns0:pt idx="102">
                  <ns0:v>425.984</ns0:v>
                </ns0:pt>
                <ns0:pt idx="103">
                  <ns0:v>430.08</ns0:v>
                </ns0:pt>
                <ns0:pt idx="104">
                  <ns0:v>432</ns0:v>
                </ns0:pt>
                <ns0:pt idx="105">
                  <ns0:v>438.272</ns0:v>
                </ns0:pt>
                <ns0:pt idx="106">
                  <ns0:v>442.368</ns0:v>
                </ns0:pt>
                <ns0:pt idx="107">
                  <ns0:v>446.464</ns0:v>
                </ns0:pt>
                <ns0:pt idx="108">
                  <ns0:v>448</ns0:v>
                </ns0:pt>
                <ns0:pt idx="109">
                  <ns0:v>454.656</ns0:v>
                </ns0:pt>
                <ns0:pt idx="110">
                  <ns0:v>458.752</ns0:v>
                </ns0:pt>
                <ns0:pt idx="111">
                  <ns0:v>462.848</ns0:v>
                </ns0:pt>
                <ns0:pt idx="112">
                  <ns0:v>464</ns0:v>
                </ns0:pt>
                <ns0:pt idx="113">
                  <ns0:v>471.04</ns0:v>
                </ns0:pt>
                <ns0:pt idx="114">
                  <ns0:v>475.136</ns0:v>
                </ns0:pt>
                <ns0:pt idx="115">
                  <ns0:v>479.232</ns0:v>
                </ns0:pt>
                <ns0:pt idx="116">
                  <ns0:v>480</ns0:v>
                </ns0:pt>
                <ns0:pt idx="117">
                  <ns0:v>487.424</ns0:v>
                </ns0:pt>
                <ns0:pt idx="118">
                  <ns0:v>491.52</ns0:v>
                </ns0:pt>
                <ns0:pt idx="119">
                  <ns0:v>495.616</ns0:v>
                </ns0:pt>
                <ns0:pt idx="120">
                  <ns0:v>496</ns0:v>
                </ns0:pt>
                <ns0:pt idx="121">
                  <ns0:v>500</ns0:v>
                </ns0:pt>
              </ns0:numCache>
            </ns0:numRef>
          </ns0:xVal>
          <ns0:yVal>
            <ns0:numRef>
              <ns0:f>'Chart Data'!$F$2:$F$123</ns0:f>
              <ns0:numCache>
                <ns0:formatCode>0.0</ns0:formatCode>
                <ns0:ptCount val="122"/>
                <ns0:pt idx="0">
                  <ns0:v>1</ns0:v>
                </ns0:pt>
                <ns0:pt idx="1">
                  <ns0:v>1</ns0:v>
                </ns0:pt>
                <ns0:pt idx="2">
                  <ns0:v>1</ns0:v>
                </ns0:pt>
                <ns0:pt idx="3">
                  <ns0:v>1</ns0:v>
                </ns0:pt>
                <ns0:pt idx="4">
                  <ns0:v>1</ns0:v>
                </ns0:pt>
                <ns0:pt idx="5">
                  <ns0:v>1</ns0:v>
                </ns0:pt>
                <ns0:pt idx="6">
                  <ns0:v>1</ns0:v>
                </ns0:pt>
                <ns0:pt idx="7">
                  <ns0:v>1</ns0:v>
                </ns0:pt>
                <ns0:pt idx="8">
                  <ns0:v>1</ns0:v>
                </ns0:pt>
                <ns0:pt idx="9">
                  <ns0:v>1</ns0:v>
                </ns0:pt>
                <ns0:pt idx="10">
                  <ns0:v>1</ns0:v>
                </ns0:pt>
                <ns0:pt idx="11">
                  <ns0:v>1</ns0:v>
                </ns0:pt>
                <ns0:pt idx="12">
                  <ns0:v>1</ns0:v>
                </ns0:pt>
                <ns0:pt idx="13">
                  <ns0:v>1</ns0:v>
                </ns0:pt>
                <ns0:pt idx="14">
                  <ns0:v>1</ns0:v>
                </ns0:pt>
                <ns0:pt idx="15">
                  <ns0:v>1</ns0:v>
                </ns0:pt>
                <ns0:pt idx="16">
                  <ns0:v>1</ns0:v>
                </ns0:pt>
                <ns0:pt idx="17">
                  <ns0:v>1</ns0:v>
                </ns0:pt>
                <ns0:pt idx="18">
                  <ns0:v>1</ns0:v>
                </ns0:pt>
                <ns0:pt idx="19">
                  <ns0:v>1</ns0:v>
                </ns0:pt>
                <ns0:pt idx="20">
                  <ns0:v>1</ns0:v>
                </ns0:pt>
                <ns0:pt idx="21">
                  <ns0:v>1</ns0:v>
                </ns0:pt>
                <ns0:pt idx="22">
                  <ns0:v>1</ns0:v>
                </ns0:pt>
                <ns0:pt idx="23">
                  <ns0:v>1</ns0:v>
                </ns0:pt>
                <ns0:pt idx="24">
                  <ns0:v>1</ns0:v>
                </ns0:pt>
                <ns0:pt idx="25">
                  <ns0:v>1</ns0:v>
                </ns0:pt>
                <ns0:pt idx="26">
                  <ns0:v>1</ns0:v>
                </ns0:pt>
                <ns0:pt idx="27">
                  <ns0:v>1</ns0:v>
                </ns0:pt>
                <ns0:pt idx="28">
                  <ns0:v>1</ns0:v>
                </ns0:pt>
                <ns0:pt idx="29">
                  <ns0:v>1</ns0:v>
                </ns0:pt>
                <ns0:pt idx="30">
                  <ns0:v>1</ns0:v>
                </ns0:pt>
                <ns0:pt idx="31">
                  <ns0:v>1</ns0:v>
                </ns0:pt>
                <ns0:pt idx="32">
                  <ns0:v>1</ns0:v>
                </ns0:pt>
                <ns0:pt idx="33">
                  <ns0:v>1</ns0:v>
                </ns0:pt>
                <ns0:pt idx="34">
                  <ns0:v>1</ns0:v>
                </ns0:pt>
                <ns0:pt idx="35">
                  <ns0:v>1</ns0:v>
                </ns0:pt>
                <ns0:pt idx="36">
                  <ns0:v>1</ns0:v>
                </ns0:pt>
                <ns0:pt idx="37">
                  <ns0:v>1.1</ns0:v>
                </ns0:pt>
                <ns0:pt idx="38">
                  <ns0:v>1.21</ns0:v>
                </ns0:pt>
                <ns0:pt idx="39">
                  <ns0:v>1.331</ns0:v>
                </ns0:pt>
                <ns0:pt idx="40">
                  <ns0:v>1.4641</ns0:v>
                </ns0:pt>
                <ns0:pt idx="41">
                  <ns0:v>1.4641</ns0:v>
                </ns0:pt>
                <ns0:pt idx="42">
                  <ns0:v>1.4641</ns0:v>
                </ns0:pt>
                <ns0:pt idx="43">
                  <ns0:v>1.4641</ns0:v>
                </ns0:pt>
                <ns0:pt idx="44">
                  <ns0:v>1.4641</ns0:v>
                </ns0:pt>
                <ns0:pt idx="45">
                  <ns0:v>1.4641</ns0:v>
                </ns0:pt>
                <ns0:pt idx="46">
                  <ns0:v>1.4641</ns0:v>
                </ns0:pt>
                <ns0:pt idx="47">
                  <ns0:v>1.4641</ns0:v>
                </ns0:pt>
                <ns0:pt idx="48">
                  <ns0:v>1.4641</ns0:v>
                </ns0:pt>
                <ns0:pt idx="49">
                  <ns0:v>1.4641</ns0:v>
                </ns0:pt>
                <ns0:pt idx="50">
                  <ns0:v>1.4641</ns0:v>
                </ns0:pt>
                <ns0:pt idx="51">
                  <ns0:v>1.61051</ns0:v>
                </ns0:pt>
                <ns0:pt idx="52">
                  <ns0:v>1.61051</ns0:v>
                </ns0:pt>
                <ns0:pt idx="53">
                  <ns0:v>1.61051</ns0:v>
                </ns0:pt>
                <ns0:pt idx="54">
                  <ns0:v>1.61051</ns0:v>
                </ns0:pt>
                <ns0:pt idx="55">
                  <ns0:v>1.61051</ns0:v>
                </ns0:pt>
                <ns0:pt idx="56">
                  <ns0:v>1.61051</ns0:v>
                </ns0:pt>
                <ns0:pt idx="57">
                  <ns0:v>1.771561</ns0:v>
                </ns0:pt>
                <ns0:pt idx="58">
                  <ns0:v>1.771561</ns0:v>
                </ns0:pt>
                <ns0:pt idx="59">
                  <ns0:v>1.771561</ns0:v>
                </ns0:pt>
                <ns0:pt idx="60">
                  <ns0:v>1.771561</ns0:v>
                </ns0:pt>
                <ns0:pt idx="61">
                  <ns0:v>1.771561</ns0:v>
                </ns0:pt>
                <ns0:pt idx="62">
                  <ns0:v>1.771561</ns0:v>
                </ns0:pt>
                <ns0:pt idx="63">
                  <ns0:v>1.771561</ns0:v>
                </ns0:pt>
                <ns0:pt idx="64">
                  <ns0:v>1.771561</ns0:v>
                </ns0:pt>
                <ns0:pt idx="65">
                  <ns0:v>1.771561</ns0:v>
                </ns0:pt>
                <ns0:pt idx="66">
                  <ns0:v>1.771561</ns0:v>
                </ns0:pt>
                <ns0:pt idx="67">
                  <ns0:v>1.771561</ns0:v>
                </ns0:pt>
                <ns0:pt idx="68">
                  <ns0:v>1.771561</ns0:v>
                </ns0:pt>
                <ns0:pt idx="69">
                  <ns0:v>1.771561</ns0:v>
                </ns0:pt>
                <ns0:pt idx="70">
                  <ns0:v>1.771561</ns0:v>
                </ns0:pt>
                <ns0:pt idx="71">
                  <ns0:v>1.771561</ns0:v>
                </ns0:pt>
                <ns0:pt idx="72">
                  <ns0:v>1.771561</ns0:v>
                </ns0:pt>
                <ns0:pt idx="73">
                  <ns0:v>1.771561</ns0:v>
                </ns0:pt>
                <ns0:pt idx="74">
                  <ns0:v>1.771561</ns0:v>
                </ns0:pt>
                <ns0:pt idx="75">
                  <ns0:v>1.771561</ns0:v>
                </ns0:pt>
                <ns0:pt idx="76">
                  <ns0:v>1.771561</ns0:v>
                </ns0:pt>
                <ns0:pt idx="77">
                  <ns0:v>1.771561</ns0:v>
                </ns0:pt>
                <ns0:pt idx="78">
                  <ns0:v>1.771561</ns0:v>
                </ns0:pt>
                <ns0:pt idx="79">
                  <ns0:v>1.771561</ns0:v>
                </ns0:pt>
                <ns0:pt idx="80">
                  <ns0:v>1.9487171</ns0:v>
                </ns0:pt>
                <ns0:pt idx="81">
                  <ns0:v>1.9487171</ns0:v>
                </ns0:pt>
                <ns0:pt idx="82">
                  <ns0:v>2</ns0:v>
                </ns0:pt>
                <ns0:pt idx="83">
                  <ns0:v>2</ns0:v>
                </ns0:pt>
                <ns0:pt idx="84">
                  <ns0:v>2</ns0:v>
                </ns0:pt>
                <ns0:pt idx="85">
                  <ns0:v>2</ns0:v>
                </ns0:pt>
                <ns0:pt idx="86">
                  <ns0:v>2</ns0:v>
                </ns0:pt>
                <ns0:pt idx="87">
                  <ns0:v>2</ns0:v>
                </ns0:pt>
                <ns0:pt idx="88">
                  <ns0:v>2</ns0:v>
                </ns0:pt>
                <ns0:pt idx="89">
                  <ns0:v>2</ns0:v>
                </ns0:pt>
                <ns0:pt idx="90">
                  <ns0:v>2</ns0:v>
                </ns0:pt>
                <ns0:pt idx="91">
                  <ns0:v>2</ns0:v>
                </ns0:pt>
                <ns0:pt idx="92">
                  <ns0:v>2</ns0:v>
                </ns0:pt>
                <ns0:pt idx="93">
                  <ns0:v>2</ns0:v>
                </ns0:pt>
                <ns0:pt idx="94">
                  <ns0:v>2</ns0:v>
                </ns0:pt>
                <ns0:pt idx="95">
                  <ns0:v>2</ns0:v>
                </ns0:pt>
                <ns0:pt idx="96">
                  <ns0:v>2</ns0:v>
                </ns0:pt>
                <ns0:pt idx="97">
                  <ns0:v>2</ns0:v>
                </ns0:pt>
                <ns0:pt idx="98">
                  <ns0:v>2</ns0:v>
                </ns0:pt>
                <ns0:pt idx="99">
                  <ns0:v>2</ns0:v>
                </ns0:pt>
                <ns0:pt idx="100">
                  <ns0:v>2</ns0:v>
                </ns0:pt>
                <ns0:pt idx="101">
                  <ns0:v>2</ns0:v>
                </ns0:pt>
                <ns0:pt idx="102">
                  <ns0:v>2</ns0:v>
                </ns0:pt>
                <ns0:pt idx="103">
                  <ns0:v>2</ns0:v>
                </ns0:pt>
                <ns0:pt idx="104">
                  <ns0:v>2</ns0:v>
                </ns0:pt>
                <ns0:pt idx="105">
                  <ns0:v>2</ns0:v>
                </ns0:pt>
                <ns0:pt idx="106">
                  <ns0:v>2</ns0:v>
                </ns0:pt>
                <ns0:pt idx="107">
                  <ns0:v>2</ns0:v>
                </ns0:pt>
                <ns0:pt idx="108">
                  <ns0:v>2</ns0:v>
                </ns0:pt>
                <ns0:pt idx="109">
                  <ns0:v>2</ns0:v>
                </ns0:pt>
                <ns0:pt idx="110">
                  <ns0:v>2</ns0:v>
                </ns0:pt>
                <ns0:pt idx="111">
                  <ns0:v>2</ns0:v>
                </ns0:pt>
                <ns0:pt idx="112">
                  <ns0:v>2</ns0:v>
                </ns0:pt>
                <ns0:pt idx="113">
                  <ns0:v>2</ns0:v>
                </ns0:pt>
                <ns0:pt idx="114">
                  <ns0:v>2</ns0:v>
                </ns0:pt>
                <ns0:pt idx="115">
                  <ns0:v>2</ns0:v>
                </ns0:pt>
                <ns0:pt idx="116">
                  <ns0:v>2</ns0:v>
                </ns0:pt>
                <ns0:pt idx="117">
                  <ns0:v>2</ns0:v>
                </ns0:pt>
                <ns0:pt idx="118">
                  <ns0:v>2</ns0:v>
                </ns0:pt>
                <ns0:pt idx="119">
                  <ns0:v>2</ns0:v>
                </ns0:pt>
                <ns0:pt idx="120">
                  <ns0:v>2</ns0:v>
                </ns0:pt>
                <ns0:pt idx="121">
                  <ns0:v>2</ns0:v>
                </ns0:pt>
              </ns0:numCache>
            </ns0:numRef>
          </ns0:yVal>
          <ns0:smooth val="0"/>
        </ns0:ser>
        <ns0:ser>
          <ns0:idx val="3"/>
          <ns0:order val="3"/>
          <ns0:tx>
            <ns0:v>固定计划</ns0:v>
          </ns0:tx>
          <ns0:spPr>
            <ns1:ln w="11430">
              <ns1:solidFill>
                <ns1:srgbClr val="AF5845"/>
              </ns1:solidFill>
            </ns1:ln>
          </ns0:spPr>
          <ns0:marker>
            <ns0:symbol val="none"/>
          </ns0:marker>
          <ns0:xVal>
            <ns0:numRef>
              <ns0:f>'Chart Data'!$G$2:$G$3</ns0:f>
              <ns0:numCache>
                <ns0:formatCode>General</ns0:formatCode>
                <ns0:ptCount val="2"/>
                <ns0:pt idx="0">
                  <ns0:v>0</ns0:v>
                </ns0:pt>
                <ns0:pt idx="1">
                  <ns0:v>503.808</ns0:v>
                </ns0:pt>
              </ns0:numCache>
            </ns0:numRef>
          </ns0:xVal>
          <ns0:yVal>
            <ns0:numRef>
              <ns0:f>'Chart Data'!$H$2:$H$3</ns0:f>
              <ns0:numCache>
                <ns0:formatCode>0.0</ns0:formatCode>
                <ns0:ptCount val="2"/>
                <ns0:pt idx="0">
                  <ns0:v>1</ns0:v>
                </ns0:pt>
                <ns0:pt idx="1">
                  <ns0:v>1</ns0:v>
                </ns0:pt>
              </ns0:numCache>
            </ns0:numRef>
          </ns0:yVal>
          <ns0:smooth val="0"/>
        </ns0:ser>
        <ns0:dLbls>
          <ns0:txPr>
            <ns1:bodyPr anchorCtr="1"/>
            <ns1:lstStyle/>
            <ns1:p>
              <ns1:pPr>
                <ns1:defRPr>
                  <ns1:latin typeface="微软雅黑"/>
                  <ns1:ea typeface="微软雅黑"/>
                  <ns1:cs typeface="微软雅黑"/>
                </ns1:defRPr>
              </ns1:pPr>
            </ns1:p>
          </ns0:txPr>
          <ns0:showLegendKey val="0"/>
          <ns0:showVal val="0"/>
          <ns0:showCatName val="0"/>
          <ns0:showSerName val="0"/>
          <ns0:showPercent val="0"/>
          <ns0:showBubbleSize val="0"/>
          <ns0:showLeaderLines val="0"/>
        </ns0:dLbls>
        <ns0:axId val="48650112"/>
        <ns0:axId val="48672768"/>
      </ns0:scatterChart>
      <ns0:valAx>
        <ns0:axId val="48672768"/>
        <ns0:scaling>
          <ns0:orientation val="minMax"/>
          <ns0:max val="2.2"/>
          <ns0:min val="0.5"/>
        </ns0:scaling>
        <ns0:delete val="0"/>
        <ns0:axPos val="l"/>
        <ns0:majorGridlines>
          <ns0:spPr>
            <ns1:ln w="9525">
              <ns1:solidFill>
                <ns1:srgbClr val="DFE6EB"/>
              </ns1:solidFill>
            </ns1:ln>
          </ns0:spPr>
        </ns0:majorGridlines>
        <ns0:numFmt formatCode="0.0"/>
        <ns0:majorTickMark val="none"/>
        <ns0:minorTickMark val="none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 sz="1275">
                <ns1:solidFill>
                  <ns1:srgbClr val="5D6975"/>
                </ns1:solidFill>
                <ns1:latin typeface="微软雅黑"/>
                <ns1:ea typeface="微软雅黑"/>
                <ns1:cs typeface="微软雅黑"/>
              </ns1:defRPr>
            </ns1:pPr>
          </ns1:p>
        </ns0:txPr>
        <ns0:crossAx val="48650112"/>
        <ns0:majorUnit val="0.5"/>
      </ns0:valAx>
      <ns0:valAx>
        <ns0:axId val="48650112"/>
        <ns0:scaling>
          <ns0:orientation val="minMax"/>
          <ns0:max val="520"/>
          <ns0:min val="0"/>
        </ns0:scaling>
        <ns0:delete val="0"/>
        <ns0:axPos val="b"/>
        <ns0:numFmt formatCode="General"/>
        <ns0:majorTickMark val="none"/>
        <ns0:minorTickMark val="none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 sz="1200">
                <ns1:solidFill>
                  <ns1:srgbClr val="5D6975"/>
                </ns1:solidFill>
                <ns1:latin typeface="微软雅黑"/>
                <ns1:ea typeface="微软雅黑"/>
                <ns1:cs typeface="微软雅黑"/>
              </ns1:defRPr>
            </ns1:pPr>
          </ns1:p>
        </ns0:txPr>
        <ns0:crossAx val="48672768"/>
        <ns0:majorUnit val="100"/>
      </ns0:valAx>
      <ns0:spPr>
        <ns1:solidFill>
          <ns1:srgbClr val="FFFFFF"/>
        </ns1:solidFill>
        <ns1:ln w="0">
          <ns1:noFill/>
        </ns1:ln>
      </ns0:spPr>
    </ns0:plotArea>
    <ns0:legend>
      <ns0:legendPos val="b"/>
      <ns0:overlay val="0"/>
      <ns0:txPr>
        <ns1:bodyPr anchorCtr="1"/>
        <ns1:lstStyle/>
        <ns1:p>
          <ns1:pPr>
            <ns1:defRPr sz="1200">
              <ns1:latin typeface="微软雅黑"/>
              <ns1:ea typeface="微软雅黑"/>
              <ns1:cs typeface="微软雅黑"/>
            </ns1:defRPr>
          </ns1:pPr>
        </ns1:p>
      </ns0:txPr>
    </ns0:legend>
    <ns0:plotVisOnly val="1"/>
  </ns0:chart>
  <ns0:spPr>
    <ns1:solidFill>
      <ns1:srgbClr val="FFFFFF"/>
    </ns1:solidFill>
    <ns1:ln w="0">
      <ns1:noFill/>
    </ns1:ln>
  </ns0:spPr>
  <ns0:externalData r:id="rIdChartSnapshot1">
    <ns0:autoUpdate val="0"/>
  </ns0:externalData>
</ns0:chartSpace>
</file>

<file path=ppt/slides/charts/chart5.xml><?xml version="1.0" encoding="utf-8"?>
<ns0:chartSpace xmlns:ns0="http://schemas.openxmlformats.org/drawingml/2006/chart" xmlns:ns1="http://schemas.openxmlformats.org/drawingml/2006/main" xmlns:r="http://schemas.openxmlformats.org/officeDocument/2006/relationships">
  <ns0:lang val="en-US"/>
  <ns0:chart>
    <ns0:plotArea>
      <ns0:barChart>
        <ns0:barDir val="col"/>
        <ns0:grouping val="clustered"/>
        <ns0:varyColors val="0"/>
        <ns0:ser>
          <ns0:idx val="0"/>
          <ns0:order val="0"/>
          <ns0:tx>
            <ns0:v>50 局均分</ns0:v>
          </ns0:tx>
          <ns0:spPr>
            <ns1:solidFill>
              <ns1:srgbClr val="065980"/>
            </ns1:solidFill>
          </ns0:spPr>
          <ns0:invertIfNegative val="0"/>
          <ns0:dPt>
            <ns0:idx val="0"/>
            <ns0:invertIfNegative val="0"/>
            <ns0:spPr>
              <ns1:solidFill>
                <ns1:srgbClr val="9AA9B5"/>
              </ns1:solidFill>
            </ns0:spPr>
          </ns0:dPt>
          <ns0:dPt>
            <ns0:idx val="1"/>
            <ns0:invertIfNegative val="0"/>
            <ns0:spPr>
              <ns1:solidFill>
                <ns1:srgbClr val="065980"/>
              </ns1:solidFill>
            </ns0:spPr>
          </ns0:dPt>
          <ns0:dPt>
            <ns0:idx val="2"/>
            <ns0:invertIfNegative val="0"/>
            <ns0:spPr>
              <ns1:solidFill>
                <ns1:srgbClr val="9AA9B5"/>
              </ns1:solidFill>
            </ns0:spPr>
          </ns0:dPt>
          <ns0:dPt>
            <ns0:idx val="3"/>
            <ns0:invertIfNegative val="0"/>
            <ns0:spPr>
              <ns1:solidFill>
                <ns1:srgbClr val="287F77"/>
              </ns1:solidFill>
            </ns0:spPr>
          </ns0:dPt>
          <ns0:dPt>
            <ns0:idx val="4"/>
            <ns0:invertIfNegative val="0"/>
            <ns0:spPr>
              <ns1:solidFill>
                <ns1:srgbClr val="76AFA6"/>
              </ns1:solidFill>
            </ns0:spPr>
          </ns0:dPt>
          <ns0:cat>
            <ns0:strRef>
              <ns0:f>'Chart Data'!$A$2:$A$6</ns0:f>
              <ns0:strCache>
                <ns0:ptCount val="5"/>
                <ns0:pt idx="0">
                  <ns0:v>随机</ns0:v>
                </ns0:pt>
                <ns0:pt idx="1">
                  <ns0:v>DQN</ns0:v>
                </ns0:pt>
                <ns0:pt idx="2">
                  <ns0:v>PPO 起点</ns0:v>
                </ns0:pt>
                <ns0:pt idx="3">
                  <ns0:v>PPO .98</ns0:v>
                </ns0:pt>
                <ns0:pt idx="4">
                  <ns0:v>PPO .99</ns0:v>
                </ns0:pt>
              </ns0:strCache>
            </ns0:strRef>
          </ns0:cat>
          <ns0:val>
            <ns0:numRef>
              <ns0:f>'Chart Data'!$B$2:$B$6</ns0:f>
              <ns0:numCache>
                <ns0:formatCode>0</ns0:formatCode>
                <ns0:ptCount val="5"/>
                <ns0:pt idx="0">
                  <ns0:v>0.88</ns0:v>
                </ns0:pt>
                <ns0:pt idx="1">
                  <ns0:v>273.36</ns0:v>
                </ns0:pt>
                <ns0:pt idx="2">
                  <ns0:v>129.98</ns0:v>
                </ns0:pt>
                <ns0:pt idx="3">
                  <ns0:v>196.54</ns0:v>
                </ns0:pt>
                <ns0:pt idx="4">
                  <ns0:v>203.42</ns0:v>
                </ns0:pt>
              </ns0:numCache>
            </ns0:numRef>
          </ns0:val>
        </ns0:ser>
        <ns0:dLbls>
          <ns0:numFmt formatCode="0.00" sourceLinked="0"/>
          <ns0:txPr>
            <ns1:bodyPr anchorCtr="1"/>
            <ns1:lstStyle/>
            <ns1:p>
              <ns1:pPr>
                <ns1:defRPr sz="1275">
                  <ns1:solidFill>
                    <ns1:srgbClr val="1B2938"/>
                  </ns1:solidFill>
                  <ns1:latin typeface="微软雅黑"/>
                  <ns1:ea typeface="微软雅黑"/>
                  <ns1:cs typeface="微软雅黑"/>
                </ns1:defRPr>
              </ns1:pPr>
            </ns1:p>
          </ns0:txPr>
          <ns0:dLblPos val="outEnd"/>
          <ns0:showLegendKey val="0"/>
          <ns0:showVal val="1"/>
          <ns0:showCatName val="0"/>
          <ns0:showSerName val="0"/>
          <ns0:showPercent val="0"/>
          <ns0:showBubbleSize val="0"/>
          <ns0:showLeaderLines val="0"/>
        </ns0:dLbls>
        <ns0:gapWidth val="70"/>
        <ns0:axId val="48650112"/>
        <ns0:axId val="48672768"/>
      </ns0:barChart>
      <ns0:catAx>
        <ns0:axId val="48650112"/>
        <ns0:scaling>
          <ns0:orientation val="minMax"/>
        </ns0:scaling>
        <ns0:delete val="0"/>
        <ns0:axPos val="b"/>
        <ns0:numFmt formatCode="General"/>
        <ns0:majorTickMark val="none"/>
        <ns0:minorTickMark val="none"/>
        <ns0:spPr>
          <ns1:ln w="9525">
            <ns1:solidFill>
              <ns1:srgbClr val="C9D6DF"/>
            </ns1:solidFill>
          </ns1:ln>
        </ns0:spPr>
        <ns0:txPr>
          <ns1:bodyPr anchorCtr="1"/>
          <ns1:lstStyle/>
          <ns1:p>
            <ns1:pPr>
              <ns1:defRPr sz="1275">
                <ns1:solidFill>
                  <ns1:srgbClr val="5D6975"/>
                </ns1:solidFill>
                <ns1:latin typeface="微软雅黑"/>
                <ns1:ea typeface="微软雅黑"/>
                <ns1:cs typeface="微软雅黑"/>
              </ns1:defRPr>
            </ns1:pPr>
          </ns1:p>
        </ns0:txPr>
        <ns0:crossAx val="48672768"/>
      </ns0:catAx>
      <ns0:valAx>
        <ns0:axId val="48672768"/>
        <ns0:scaling>
          <ns0:orientation val="minMax"/>
          <ns0:max val="320"/>
          <ns0:min val="0"/>
        </ns0:scaling>
        <ns0:delete val="0"/>
        <ns0:axPos val="l"/>
        <ns0:majorGridlines>
          <ns0:spPr>
            <ns1:ln w="9525">
              <ns1:solidFill>
                <ns1:srgbClr val="DFE6EB"/>
              </ns1:solidFill>
            </ns1:ln>
          </ns0:spPr>
        </ns0:majorGridlines>
        <ns0:numFmt formatCode="0"/>
        <ns0:majorTickMark val="none"/>
        <ns0:minorTickMark val="none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 sz="1275">
                <ns1:solidFill>
                  <ns1:srgbClr val="5D6975"/>
                </ns1:solidFill>
                <ns1:latin typeface="微软雅黑"/>
                <ns1:ea typeface="微软雅黑"/>
                <ns1:cs typeface="微软雅黑"/>
              </ns1:defRPr>
            </ns1:pPr>
          </ns1:p>
        </ns0:txPr>
        <ns0:crossAx val="48650112"/>
        <ns0:crossBetween val="between"/>
        <ns0:majorUnit val="80"/>
      </ns0:valAx>
      <ns0:spPr>
        <ns1:solidFill>
          <ns1:srgbClr val="FFFFFF"/>
        </ns1:solidFill>
        <ns1:ln w="0">
          <ns1:noFill/>
        </ns1:ln>
      </ns0:spPr>
    </ns0:plotArea>
    <ns0:plotVisOnly val="1"/>
  </ns0:chart>
  <ns0:spPr>
    <ns1:solidFill>
      <ns1:srgbClr val="FFFFFF"/>
    </ns1:solidFill>
    <ns1:ln w="0">
      <ns1:noFill/>
    </ns1:ln>
  </ns0:spPr>
  <ns0:externalData r:id="rIdChartSnapshot1">
    <ns0:autoUpdate val="0"/>
  </ns0:externalData>
</ns0:chartSpace>
</file>

<file path=ppt/slides/charts/chart6.xml><?xml version="1.0" encoding="utf-8"?>
<ns0:chartSpace xmlns:ns0="http://schemas.openxmlformats.org/drawingml/2006/chart" xmlns:ns1="http://schemas.openxmlformats.org/drawingml/2006/main" xmlns:r="http://schemas.openxmlformats.org/officeDocument/2006/relationships">
  <ns0:lang val="en-US"/>
  <ns0:chart>
    <ns0:plotArea>
      <ns0:barChart>
        <ns0:barDir val="col"/>
        <ns0:grouping val="clustered"/>
        <ns0:varyColors val="0"/>
        <ns0:ser>
          <ns0:idx val="0"/>
          <ns0:order val="0"/>
          <ns0:tx>
            <ns0:v>配对得分差</ns0:v>
          </ns0:tx>
          <ns0:spPr>
            <ns1:solidFill>
              <ns1:srgbClr val="065980"/>
            </ns1:solidFill>
          </ns0:spPr>
          <ns0:invertIfNegative val="0"/>
          <ns0:dPt>
            <ns0:idx val="0"/>
            <ns0:invertIfNegative val="0"/>
            <ns0:spPr>
              <ns1:solidFill>
                <ns1:srgbClr val="AF5845"/>
              </ns1:solidFill>
            </ns0:spPr>
          </ns0:dPt>
          <ns0:dPt>
            <ns0:idx val="1"/>
            <ns0:invertIfNegative val="0"/>
            <ns0:spPr>
              <ns1:solidFill>
                <ns1:srgbClr val="AF5845"/>
              </ns1:solidFill>
            </ns0:spPr>
          </ns0:dPt>
          <ns0:dPt>
            <ns0:idx val="2"/>
            <ns0:invertIfNegative val="0"/>
            <ns0:spPr>
              <ns1:solidFill>
                <ns1:srgbClr val="AF5845"/>
              </ns1:solidFill>
            </ns0:spPr>
          </ns0:dPt>
          <ns0:dPt>
            <ns0:idx val="3"/>
            <ns0:invertIfNegative val="0"/>
            <ns0:spPr>
              <ns1:solidFill>
                <ns1:srgbClr val="AF5845"/>
              </ns1:solidFill>
            </ns0:spPr>
          </ns0:dPt>
          <ns0:dPt>
            <ns0:idx val="4"/>
            <ns0:invertIfNegative val="0"/>
            <ns0:spPr>
              <ns1:solidFill>
                <ns1:srgbClr val="AF5845"/>
              </ns1:solidFill>
            </ns0:spPr>
          </ns0:dPt>
          <ns0:dPt>
            <ns0:idx val="5"/>
            <ns0:invertIfNegative val="0"/>
            <ns0:spPr>
              <ns1:solidFill>
                <ns1:srgbClr val="AF5845"/>
              </ns1:solidFill>
            </ns0:spPr>
          </ns0:dPt>
          <ns0:dPt>
            <ns0:idx val="6"/>
            <ns0:invertIfNegative val="0"/>
            <ns0:spPr>
              <ns1:solidFill>
                <ns1:srgbClr val="AF5845"/>
              </ns1:solidFill>
            </ns0:spPr>
          </ns0:dPt>
          <ns0:dPt>
            <ns0:idx val="7"/>
            <ns0:invertIfNegative val="0"/>
            <ns0:spPr>
              <ns1:solidFill>
                <ns1:srgbClr val="AF5845"/>
              </ns1:solidFill>
            </ns0:spPr>
          </ns0:dPt>
          <ns0:dPt>
            <ns0:idx val="8"/>
            <ns0:invertIfNegative val="0"/>
            <ns0:spPr>
              <ns1:solidFill>
                <ns1:srgbClr val="AF5845"/>
              </ns1:solidFill>
            </ns0:spPr>
          </ns0:dPt>
          <ns0:dPt>
            <ns0:idx val="9"/>
            <ns0:invertIfNegative val="0"/>
            <ns0:spPr>
              <ns1:solidFill>
                <ns1:srgbClr val="AF5845"/>
              </ns1:solidFill>
            </ns0:spPr>
          </ns0:dPt>
          <ns0:dPt>
            <ns0:idx val="10"/>
            <ns0:invertIfNegative val="0"/>
            <ns0:spPr>
              <ns1:solidFill>
                <ns1:srgbClr val="AF5845"/>
              </ns1:solidFill>
            </ns0:spPr>
          </ns0:dPt>
          <ns0:dPt>
            <ns0:idx val="11"/>
            <ns0:invertIfNegative val="0"/>
            <ns0:spPr>
              <ns1:solidFill>
                <ns1:srgbClr val="AF5845"/>
              </ns1:solidFill>
            </ns0:spPr>
          </ns0:dPt>
          <ns0:dPt>
            <ns0:idx val="12"/>
            <ns0:invertIfNegative val="0"/>
            <ns0:spPr>
              <ns1:solidFill>
                <ns1:srgbClr val="AF5845"/>
              </ns1:solidFill>
            </ns0:spPr>
          </ns0:dPt>
          <ns0:dPt>
            <ns0:idx val="13"/>
            <ns0:invertIfNegative val="0"/>
            <ns0:spPr>
              <ns1:solidFill>
                <ns1:srgbClr val="AF5845"/>
              </ns1:solidFill>
            </ns0:spPr>
          </ns0:dPt>
          <ns0:dPt>
            <ns0:idx val="14"/>
            <ns0:invertIfNegative val="0"/>
            <ns0:spPr>
              <ns1:solidFill>
                <ns1:srgbClr val="AF5845"/>
              </ns1:solidFill>
            </ns0:spPr>
          </ns0:dPt>
          <ns0:dPt>
            <ns0:idx val="15"/>
            <ns0:invertIfNegative val="0"/>
            <ns0:spPr>
              <ns1:solidFill>
                <ns1:srgbClr val="AF5845"/>
              </ns1:solidFill>
            </ns0:spPr>
          </ns0:dPt>
          <ns0:dPt>
            <ns0:idx val="16"/>
            <ns0:invertIfNegative val="0"/>
            <ns0:spPr>
              <ns1:solidFill>
                <ns1:srgbClr val="AF5845"/>
              </ns1:solidFill>
            </ns0:spPr>
          </ns0:dPt>
          <ns0:dPt>
            <ns0:idx val="17"/>
            <ns0:invertIfNegative val="0"/>
            <ns0:spPr>
              <ns1:solidFill>
                <ns1:srgbClr val="AF5845"/>
              </ns1:solidFill>
            </ns0:spPr>
          </ns0:dPt>
          <ns0:dPt>
            <ns0:idx val="18"/>
            <ns0:invertIfNegative val="0"/>
            <ns0:spPr>
              <ns1:solidFill>
                <ns1:srgbClr val="AF5845"/>
              </ns1:solidFill>
            </ns0:spPr>
          </ns0:dPt>
          <ns0:dPt>
            <ns0:idx val="19"/>
            <ns0:invertIfNegative val="0"/>
            <ns0:spPr>
              <ns1:solidFill>
                <ns1:srgbClr val="065980"/>
              </ns1:solidFill>
            </ns0:spPr>
          </ns0:dPt>
          <ns0:dPt>
            <ns0:idx val="20"/>
            <ns0:invertIfNegative val="0"/>
            <ns0:spPr>
              <ns1:solidFill>
                <ns1:srgbClr val="065980"/>
              </ns1:solidFill>
            </ns0:spPr>
          </ns0:dPt>
          <ns0:dPt>
            <ns0:idx val="21"/>
            <ns0:invertIfNegative val="0"/>
            <ns0:spPr>
              <ns1:solidFill>
                <ns1:srgbClr val="065980"/>
              </ns1:solidFill>
            </ns0:spPr>
          </ns0:dPt>
          <ns0:dPt>
            <ns0:idx val="22"/>
            <ns0:invertIfNegative val="0"/>
            <ns0:spPr>
              <ns1:solidFill>
                <ns1:srgbClr val="065980"/>
              </ns1:solidFill>
            </ns0:spPr>
          </ns0:dPt>
          <ns0:dPt>
            <ns0:idx val="23"/>
            <ns0:invertIfNegative val="0"/>
            <ns0:spPr>
              <ns1:solidFill>
                <ns1:srgbClr val="065980"/>
              </ns1:solidFill>
            </ns0:spPr>
          </ns0:dPt>
          <ns0:dPt>
            <ns0:idx val="24"/>
            <ns0:invertIfNegative val="0"/>
            <ns0:spPr>
              <ns1:solidFill>
                <ns1:srgbClr val="065980"/>
              </ns1:solidFill>
            </ns0:spPr>
          </ns0:dPt>
          <ns0:dPt>
            <ns0:idx val="25"/>
            <ns0:invertIfNegative val="0"/>
            <ns0:spPr>
              <ns1:solidFill>
                <ns1:srgbClr val="065980"/>
              </ns1:solidFill>
            </ns0:spPr>
          </ns0:dPt>
          <ns0:dPt>
            <ns0:idx val="26"/>
            <ns0:invertIfNegative val="0"/>
            <ns0:spPr>
              <ns1:solidFill>
                <ns1:srgbClr val="065980"/>
              </ns1:solidFill>
            </ns0:spPr>
          </ns0:dPt>
          <ns0:dPt>
            <ns0:idx val="27"/>
            <ns0:invertIfNegative val="0"/>
            <ns0:spPr>
              <ns1:solidFill>
                <ns1:srgbClr val="065980"/>
              </ns1:solidFill>
            </ns0:spPr>
          </ns0:dPt>
          <ns0:dPt>
            <ns0:idx val="28"/>
            <ns0:invertIfNegative val="0"/>
            <ns0:spPr>
              <ns1:solidFill>
                <ns1:srgbClr val="065980"/>
              </ns1:solidFill>
            </ns0:spPr>
          </ns0:dPt>
          <ns0:dPt>
            <ns0:idx val="29"/>
            <ns0:invertIfNegative val="0"/>
            <ns0:spPr>
              <ns1:solidFill>
                <ns1:srgbClr val="065980"/>
              </ns1:solidFill>
            </ns0:spPr>
          </ns0:dPt>
          <ns0:dPt>
            <ns0:idx val="30"/>
            <ns0:invertIfNegative val="0"/>
            <ns0:spPr>
              <ns1:solidFill>
                <ns1:srgbClr val="065980"/>
              </ns1:solidFill>
            </ns0:spPr>
          </ns0:dPt>
          <ns0:dPt>
            <ns0:idx val="31"/>
            <ns0:invertIfNegative val="0"/>
            <ns0:spPr>
              <ns1:solidFill>
                <ns1:srgbClr val="065980"/>
              </ns1:solidFill>
            </ns0:spPr>
          </ns0:dPt>
          <ns0:dPt>
            <ns0:idx val="32"/>
            <ns0:invertIfNegative val="0"/>
            <ns0:spPr>
              <ns1:solidFill>
                <ns1:srgbClr val="065980"/>
              </ns1:solidFill>
            </ns0:spPr>
          </ns0:dPt>
          <ns0:dPt>
            <ns0:idx val="33"/>
            <ns0:invertIfNegative val="0"/>
            <ns0:spPr>
              <ns1:solidFill>
                <ns1:srgbClr val="065980"/>
              </ns1:solidFill>
            </ns0:spPr>
          </ns0:dPt>
          <ns0:dPt>
            <ns0:idx val="34"/>
            <ns0:invertIfNegative val="0"/>
            <ns0:spPr>
              <ns1:solidFill>
                <ns1:srgbClr val="065980"/>
              </ns1:solidFill>
            </ns0:spPr>
          </ns0:dPt>
          <ns0:dPt>
            <ns0:idx val="35"/>
            <ns0:invertIfNegative val="0"/>
            <ns0:spPr>
              <ns1:solidFill>
                <ns1:srgbClr val="065980"/>
              </ns1:solidFill>
            </ns0:spPr>
          </ns0:dPt>
          <ns0:dPt>
            <ns0:idx val="36"/>
            <ns0:invertIfNegative val="0"/>
            <ns0:spPr>
              <ns1:solidFill>
                <ns1:srgbClr val="065980"/>
              </ns1:solidFill>
            </ns0:spPr>
          </ns0:dPt>
          <ns0:dPt>
            <ns0:idx val="37"/>
            <ns0:invertIfNegative val="0"/>
            <ns0:spPr>
              <ns1:solidFill>
                <ns1:srgbClr val="065980"/>
              </ns1:solidFill>
            </ns0:spPr>
          </ns0:dPt>
          <ns0:dPt>
            <ns0:idx val="38"/>
            <ns0:invertIfNegative val="0"/>
            <ns0:spPr>
              <ns1:solidFill>
                <ns1:srgbClr val="065980"/>
              </ns1:solidFill>
            </ns0:spPr>
          </ns0:dPt>
          <ns0:dPt>
            <ns0:idx val="39"/>
            <ns0:invertIfNegative val="0"/>
            <ns0:spPr>
              <ns1:solidFill>
                <ns1:srgbClr val="065980"/>
              </ns1:solidFill>
            </ns0:spPr>
          </ns0:dPt>
          <ns0:dPt>
            <ns0:idx val="40"/>
            <ns0:invertIfNegative val="0"/>
            <ns0:spPr>
              <ns1:solidFill>
                <ns1:srgbClr val="065980"/>
              </ns1:solidFill>
            </ns0:spPr>
          </ns0:dPt>
          <ns0:dPt>
            <ns0:idx val="41"/>
            <ns0:invertIfNegative val="0"/>
            <ns0:spPr>
              <ns1:solidFill>
                <ns1:srgbClr val="065980"/>
              </ns1:solidFill>
            </ns0:spPr>
          </ns0:dPt>
          <ns0:dPt>
            <ns0:idx val="42"/>
            <ns0:invertIfNegative val="0"/>
            <ns0:spPr>
              <ns1:solidFill>
                <ns1:srgbClr val="065980"/>
              </ns1:solidFill>
            </ns0:spPr>
          </ns0:dPt>
          <ns0:dPt>
            <ns0:idx val="43"/>
            <ns0:invertIfNegative val="0"/>
            <ns0:spPr>
              <ns1:solidFill>
                <ns1:srgbClr val="065980"/>
              </ns1:solidFill>
            </ns0:spPr>
          </ns0:dPt>
          <ns0:dPt>
            <ns0:idx val="44"/>
            <ns0:invertIfNegative val="0"/>
            <ns0:spPr>
              <ns1:solidFill>
                <ns1:srgbClr val="065980"/>
              </ns1:solidFill>
            </ns0:spPr>
          </ns0:dPt>
          <ns0:dPt>
            <ns0:idx val="45"/>
            <ns0:invertIfNegative val="0"/>
            <ns0:spPr>
              <ns1:solidFill>
                <ns1:srgbClr val="065980"/>
              </ns1:solidFill>
            </ns0:spPr>
          </ns0:dPt>
          <ns0:dPt>
            <ns0:idx val="46"/>
            <ns0:invertIfNegative val="0"/>
            <ns0:spPr>
              <ns1:solidFill>
                <ns1:srgbClr val="065980"/>
              </ns1:solidFill>
            </ns0:spPr>
          </ns0:dPt>
          <ns0:dPt>
            <ns0:idx val="47"/>
            <ns0:invertIfNegative val="0"/>
            <ns0:spPr>
              <ns1:solidFill>
                <ns1:srgbClr val="065980"/>
              </ns1:solidFill>
            </ns0:spPr>
          </ns0:dPt>
          <ns0:dPt>
            <ns0:idx val="48"/>
            <ns0:invertIfNegative val="0"/>
            <ns0:spPr>
              <ns1:solidFill>
                <ns1:srgbClr val="065980"/>
              </ns1:solidFill>
            </ns0:spPr>
          </ns0:dPt>
          <ns0:dPt>
            <ns0:idx val="49"/>
            <ns0:invertIfNegative val="0"/>
            <ns0:spPr>
              <ns1:solidFill>
                <ns1:srgbClr val="065980"/>
              </ns1:solidFill>
            </ns0:spPr>
          </ns0:dPt>
          <ns0:cat>
            <ns0:numRef>
              <ns0:f>'Chart Data'!$A$2:$A$51</ns0:f>
              <ns0:numCache>
                <ns0:formatCode>General</ns0:formatCode>
                <ns0:ptCount val="50"/>
                <ns0:pt idx="0">
                  <ns0:v>1</ns0:v>
                </ns0:pt>
                <ns0:pt idx="1">
                  <ns0:v>2</ns0:v>
                </ns0:pt>
                <ns0:pt idx="2">
                  <ns0:v>3</ns0:v>
                </ns0:pt>
                <ns0:pt idx="3">
                  <ns0:v>4</ns0:v>
                </ns0:pt>
                <ns0:pt idx="4">
                  <ns0:v>5</ns0:v>
                </ns0:pt>
                <ns0:pt idx="5">
                  <ns0:v>6</ns0:v>
                </ns0:pt>
                <ns0:pt idx="6">
                  <ns0:v>7</ns0:v>
                </ns0:pt>
                <ns0:pt idx="7">
                  <ns0:v>8</ns0:v>
                </ns0:pt>
                <ns0:pt idx="8">
                  <ns0:v>9</ns0:v>
                </ns0:pt>
                <ns0:pt idx="9">
                  <ns0:v>10</ns0:v>
                </ns0:pt>
                <ns0:pt idx="10">
                  <ns0:v>11</ns0:v>
                </ns0:pt>
                <ns0:pt idx="11">
                  <ns0:v>12</ns0:v>
                </ns0:pt>
                <ns0:pt idx="12">
                  <ns0:v>13</ns0:v>
                </ns0:pt>
                <ns0:pt idx="13">
                  <ns0:v>14</ns0:v>
                </ns0:pt>
                <ns0:pt idx="14">
                  <ns0:v>15</ns0:v>
                </ns0:pt>
                <ns0:pt idx="15">
                  <ns0:v>16</ns0:v>
                </ns0:pt>
                <ns0:pt idx="16">
                  <ns0:v>17</ns0:v>
                </ns0:pt>
                <ns0:pt idx="17">
                  <ns0:v>18</ns0:v>
                </ns0:pt>
                <ns0:pt idx="18">
                  <ns0:v>19</ns0:v>
                </ns0:pt>
                <ns0:pt idx="19">
                  <ns0:v>20</ns0:v>
                </ns0:pt>
                <ns0:pt idx="20">
                  <ns0:v>21</ns0:v>
                </ns0:pt>
                <ns0:pt idx="21">
                  <ns0:v>22</ns0:v>
                </ns0:pt>
                <ns0:pt idx="22">
                  <ns0:v>23</ns0:v>
                </ns0:pt>
                <ns0:pt idx="23">
                  <ns0:v>24</ns0:v>
                </ns0:pt>
                <ns0:pt idx="24">
                  <ns0:v>25</ns0:v>
                </ns0:pt>
                <ns0:pt idx="25">
                  <ns0:v>26</ns0:v>
                </ns0:pt>
                <ns0:pt idx="26">
                  <ns0:v>27</ns0:v>
                </ns0:pt>
                <ns0:pt idx="27">
                  <ns0:v>28</ns0:v>
                </ns0:pt>
                <ns0:pt idx="28">
                  <ns0:v>29</ns0:v>
                </ns0:pt>
                <ns0:pt idx="29">
                  <ns0:v>30</ns0:v>
                </ns0:pt>
                <ns0:pt idx="30">
                  <ns0:v>31</ns0:v>
                </ns0:pt>
                <ns0:pt idx="31">
                  <ns0:v>32</ns0:v>
                </ns0:pt>
                <ns0:pt idx="32">
                  <ns0:v>33</ns0:v>
                </ns0:pt>
                <ns0:pt idx="33">
                  <ns0:v>34</ns0:v>
                </ns0:pt>
                <ns0:pt idx="34">
                  <ns0:v>35</ns0:v>
                </ns0:pt>
                <ns0:pt idx="35">
                  <ns0:v>36</ns0:v>
                </ns0:pt>
                <ns0:pt idx="36">
                  <ns0:v>37</ns0:v>
                </ns0:pt>
                <ns0:pt idx="37">
                  <ns0:v>38</ns0:v>
                </ns0:pt>
                <ns0:pt idx="38">
                  <ns0:v>39</ns0:v>
                </ns0:pt>
                <ns0:pt idx="39">
                  <ns0:v>40</ns0:v>
                </ns0:pt>
                <ns0:pt idx="40">
                  <ns0:v>41</ns0:v>
                </ns0:pt>
                <ns0:pt idx="41">
                  <ns0:v>42</ns0:v>
                </ns0:pt>
                <ns0:pt idx="42">
                  <ns0:v>43</ns0:v>
                </ns0:pt>
                <ns0:pt idx="43">
                  <ns0:v>44</ns0:v>
                </ns0:pt>
                <ns0:pt idx="44">
                  <ns0:v>45</ns0:v>
                </ns0:pt>
                <ns0:pt idx="45">
                  <ns0:v>46</ns0:v>
                </ns0:pt>
                <ns0:pt idx="46">
                  <ns0:v>47</ns0:v>
                </ns0:pt>
                <ns0:pt idx="47">
                  <ns0:v>48</ns0:v>
                </ns0:pt>
                <ns0:pt idx="48">
                  <ns0:v>49</ns0:v>
                </ns0:pt>
                <ns0:pt idx="49">
                  <ns0:v>50</ns0:v>
                </ns0:pt>
              </ns0:numCache>
            </ns0:numRef>
          </ns0:cat>
          <ns0:val>
            <ns0:numRef>
              <ns0:f>'Chart Data'!$B$2:$B$51</ns0:f>
              <ns0:numCache>
                <ns0:formatCode>0</ns0:formatCode>
                <ns0:ptCount val="50"/>
                <ns0:pt idx="0">
                  <ns0:v>-333</ns0:v>
                </ns0:pt>
                <ns0:pt idx="1">
                  <ns0:v>-189</ns0:v>
                </ns0:pt>
                <ns0:pt idx="2">
                  <ns0:v>-182</ns0:v>
                </ns0:pt>
                <ns0:pt idx="3">
                  <ns0:v>-181</ns0:v>
                </ns0:pt>
                <ns0:pt idx="4">
                  <ns0:v>-156</ns0:v>
                </ns0:pt>
                <ns0:pt idx="5">
                  <ns0:v>-136</ns0:v>
                </ns0:pt>
                <ns0:pt idx="6">
                  <ns0:v>-119</ns0:v>
                </ns0:pt>
                <ns0:pt idx="7">
                  <ns0:v>-112</ns0:v>
                </ns0:pt>
                <ns0:pt idx="8">
                  <ns0:v>-109</ns0:v>
                </ns0:pt>
                <ns0:pt idx="9">
                  <ns0:v>-96</ns0:v>
                </ns0:pt>
                <ns0:pt idx="10">
                  <ns0:v>-82</ns0:v>
                </ns0:pt>
                <ns0:pt idx="11">
                  <ns0:v>-79</ns0:v>
                </ns0:pt>
                <ns0:pt idx="12">
                  <ns0:v>-62</ns0:v>
                </ns0:pt>
                <ns0:pt idx="13">
                  <ns0:v>-61</ns0:v>
                </ns0:pt>
                <ns0:pt idx="14">
                  <ns0:v>-57</ns0:v>
                </ns0:pt>
                <ns0:pt idx="15">
                  <ns0:v>-51</ns0:v>
                </ns0:pt>
                <ns0:pt idx="16">
                  <ns0:v>-38</ns0:v>
                </ns0:pt>
                <ns0:pt idx="17">
                  <ns0:v>-19</ns0:v>
                </ns0:pt>
                <ns0:pt idx="18">
                  <ns0:v>-7</ns0:v>
                </ns0:pt>
                <ns0:pt idx="19">
                  <ns0:v>3</ns0:v>
                </ns0:pt>
                <ns0:pt idx="20">
                  <ns0:v>31</ns0:v>
                </ns0:pt>
                <ns0:pt idx="21">
                  <ns0:v>33</ns0:v>
                </ns0:pt>
                <ns0:pt idx="22">
                  <ns0:v>62</ns0:v>
                </ns0:pt>
                <ns0:pt idx="23">
                  <ns0:v>78</ns0:v>
                </ns0:pt>
                <ns0:pt idx="24">
                  <ns0:v>84</ns0:v>
                </ns0:pt>
                <ns0:pt idx="25">
                  <ns0:v>88</ns0:v>
                </ns0:pt>
                <ns0:pt idx="26">
                  <ns0:v>99</ns0:v>
                </ns0:pt>
                <ns0:pt idx="27">
                  <ns0:v>109</ns0:v>
                </ns0:pt>
                <ns0:pt idx="28">
                  <ns0:v>111</ns0:v>
                </ns0:pt>
                <ns0:pt idx="29">
                  <ns0:v>120</ns0:v>
                </ns0:pt>
                <ns0:pt idx="30">
                  <ns0:v>126</ns0:v>
                </ns0:pt>
                <ns0:pt idx="31">
                  <ns0:v>144</ns0:v>
                </ns0:pt>
                <ns0:pt idx="32">
                  <ns0:v>164</ns0:v>
                </ns0:pt>
                <ns0:pt idx="33">
                  <ns0:v>191</ns0:v>
                </ns0:pt>
                <ns0:pt idx="34">
                  <ns0:v>192</ns0:v>
                </ns0:pt>
                <ns0:pt idx="35">
                  <ns0:v>201</ns0:v>
                </ns0:pt>
                <ns0:pt idx="36">
                  <ns0:v>207</ns0:v>
                </ns0:pt>
                <ns0:pt idx="37">
                  <ns0:v>220</ns0:v>
                </ns0:pt>
                <ns0:pt idx="38">
                  <ns0:v>232</ns0:v>
                </ns0:pt>
                <ns0:pt idx="39">
                  <ns0:v>237</ns0:v>
                </ns0:pt>
                <ns0:pt idx="40">
                  <ns0:v>253</ns0:v>
                </ns0:pt>
                <ns0:pt idx="41">
                  <ns0:v>254</ns0:v>
                </ns0:pt>
                <ns0:pt idx="42">
                  <ns0:v>287</ns0:v>
                </ns0:pt>
                <ns0:pt idx="43">
                  <ns0:v>308</ns0:v>
                </ns0:pt>
                <ns0:pt idx="44">
                  <ns0:v>310</ns0:v>
                </ns0:pt>
                <ns0:pt idx="45">
                  <ns0:v>316</ns0:v>
                </ns0:pt>
                <ns0:pt idx="46">
                  <ns0:v>317</ns0:v>
                </ns0:pt>
                <ns0:pt idx="47">
                  <ns0:v>330</ns0:v>
                </ns0:pt>
                <ns0:pt idx="48">
                  <ns0:v>392</ns0:v>
                </ns0:pt>
                <ns0:pt idx="49">
                  <ns0:v>411</ns0:v>
                </ns0:pt>
              </ns0:numCache>
            </ns0:numRef>
          </ns0:val>
        </ns0:ser>
        <ns0:dLbls>
          <ns0:txPr>
            <ns1:bodyPr anchorCtr="1"/>
            <ns1:lstStyle/>
            <ns1:p>
              <ns1:pPr>
                <ns1:defRPr>
                  <ns1:latin typeface="微软雅黑"/>
                  <ns1:ea typeface="微软雅黑"/>
                  <ns1:cs typeface="微软雅黑"/>
                </ns1:defRPr>
              </ns1:pPr>
            </ns1:p>
          </ns0:txPr>
          <ns0:showLegendKey val="0"/>
          <ns0:showVal val="0"/>
          <ns0:showCatName val="0"/>
          <ns0:showSerName val="0"/>
          <ns0:showPercent val="0"/>
          <ns0:showBubbleSize val="0"/>
          <ns0:showLeaderLines val="0"/>
        </ns0:dLbls>
        <ns0:gapWidth val="15"/>
        <ns0:axId val="48650112"/>
        <ns0:axId val="48672768"/>
      </ns0:barChart>
      <ns0:catAx>
        <ns0:axId val="48650112"/>
        <ns0:scaling>
          <ns0:orientation val="minMax"/>
        </ns0:scaling>
        <ns0:delete val="1"/>
        <ns0:axPos val="b"/>
        <ns0:numFmt formatCode="General"/>
        <ns0:majorTickMark val="none"/>
        <ns0:minorTickMark val="none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>
                <ns1:solidFill>
                  <ns1:srgbClr val="666666"/>
                </ns1:solidFill>
                <ns1:latin typeface="微软雅黑"/>
                <ns1:ea typeface="微软雅黑"/>
                <ns1:cs typeface="微软雅黑"/>
              </ns1:defRPr>
            </ns1:pPr>
          </ns1:p>
        </ns0:txPr>
        <ns0:crossAx val="48672768"/>
      </ns0:catAx>
      <ns0:valAx>
        <ns0:axId val="48672768"/>
        <ns0:scaling>
          <ns0:orientation val="minMax"/>
          <ns0:max val="450"/>
          <ns0:min val="-450"/>
        </ns0:scaling>
        <ns0:delete val="0"/>
        <ns0:axPos val="l"/>
        <ns0:majorGridlines>
          <ns0:spPr>
            <ns1:ln w="9525">
              <ns1:solidFill>
                <ns1:srgbClr val="DFE6EB"/>
              </ns1:solidFill>
            </ns1:ln>
          </ns0:spPr>
        </ns0:majorGridlines>
        <ns0:numFmt formatCode="0"/>
        <ns0:majorTickMark val="none"/>
        <ns0:minorTickMark val="none"/>
        <ns0:spPr>
          <ns1:ln w="9525">
            <ns1:solidFill>
              <ns1:srgbClr val="D4D4D4"/>
            </ns1:solidFill>
            <ns1:prstDash val="solid"/>
          </ns1:ln>
        </ns0:spPr>
        <ns0:txPr>
          <ns1:bodyPr anchorCtr="1"/>
          <ns1:lstStyle/>
          <ns1:p>
            <ns1:pPr>
              <ns1:defRPr sz="1275">
                <ns1:solidFill>
                  <ns1:srgbClr val="5D6975"/>
                </ns1:solidFill>
                <ns1:latin typeface="微软雅黑"/>
                <ns1:ea typeface="微软雅黑"/>
                <ns1:cs typeface="微软雅黑"/>
              </ns1:defRPr>
            </ns1:pPr>
          </ns1:p>
        </ns0:txPr>
        <ns0:crossAx val="48650112"/>
        <ns0:crossBetween val="between"/>
        <ns0:majorUnit val="150"/>
      </ns0:valAx>
      <ns0:spPr>
        <ns1:solidFill>
          <ns1:srgbClr val="FFFFFF"/>
        </ns1:solidFill>
        <ns1:ln w="0">
          <ns1:noFill/>
        </ns1:ln>
      </ns0:spPr>
    </ns0:plotArea>
    <ns0:plotVisOnly val="1"/>
  </ns0:chart>
  <ns0:spPr>
    <ns1:solidFill>
      <ns1:srgbClr val="FFFFFF"/>
    </ns1:solidFill>
    <ns1:ln w="0">
      <ns1:noFill/>
    </ns1:ln>
  </ns0:spPr>
  <ns0:externalData r:id="rIdChartSnapshot1">
    <ns0:autoUpdate val="0"/>
  </ns0:externalData>
</ns0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BDC014F-F667-402A-9527-04FF7E8F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399" y="0"/>
            <a:ext cx="12344400" cy="6857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3" name="图片 12">
            <a:extLst xmlns:a="http://schemas.openxmlformats.org/drawingml/2006/main">
              <a:ext uri="{FF2B5EF4-FFF2-40B4-BE49-F238E27FC236}">
                <a16:creationId xmlns:a16="http://schemas.microsoft.com/office/drawing/2014/main" id="{B10D5586-A286-43FF-8672-B75ED7C823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3526539cb345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52400" y="238760"/>
            <a:ext cx="12382500" cy="661924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37D41928-D02C-4B53-8C43-A251D91F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1114425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 algn="ctr">
              <a:defRPr sz="3900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buNone/>
              <a:defRPr sz="4275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buNone/>
              <a:defRPr sz="4275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buNone/>
              <a:defRPr sz="4275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buNone/>
              <a:defRPr sz="4275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buNone/>
              <a:defRPr sz="4275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buNone/>
              <a:defRPr sz="4275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buNone/>
              <a:defRPr sz="4275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buNone/>
              <a:defRPr sz="4275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buNone/>
              <a:defRPr sz="4275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buNone/>
              <a:defRPr sz="3900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1">
                <a:solidFill>
                  <a:srgbClr val="244B61"/>
                </a:solidFill>
                <a:latin typeface="微软雅黑"/>
                <a:ea typeface="微软雅黑"/>
                <a:cs typeface="微软雅黑"/>
              </a:rPr>
              <a:t>基于 DQN 与 PPO 的 Breakout 智能体</a:t>
            </a:r>
            <a:endParaRPr sz="7200" b="1">
              <a:solidFill>
                <a:srgbClr val="244B6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2" name="图片 11">
            <a:extLst xmlns:a="http://schemas.openxmlformats.org/drawingml/2006/main">
              <a:ext uri="{FF2B5EF4-FFF2-40B4-BE49-F238E27FC236}">
                <a16:creationId xmlns:a16="http://schemas.microsoft.com/office/drawing/2014/main" id="{B9AEACA9-A918-44C2-A21C-2F999C0EBD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bad1a38e5141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55200" y="382362"/>
            <a:ext cx="1964267" cy="618074"/>
          </a:xfrm>
          <a:prstGeom xmlns:a="http://schemas.openxmlformats.org/drawingml/2006/main" prst="rect">
            <a:avLst/>
          </a:prstGeom>
        </p:spPr>
      </p:pic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59F7E955-4EFC-4DCF-84AB-1B05156CEF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dd131f92af4c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4170" y="333375"/>
            <a:ext cx="2924175" cy="66675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704E2D40-40DB-4BD6-8DDF-55A0F73C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198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强化学习课程终期汇报    2026年10月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9A7E98-BAFC-428C-86CE-06776F25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8667"/>
            <a:ext cx="12192000" cy="169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98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设计方法、训练过程与实验结论">
            <a:extLst xmlns:a="http://schemas.openxmlformats.org/drawingml/2006/main">
              <a:ext uri="{FF2B5EF4-FFF2-40B4-BE49-F238E27FC236}">
                <a16:creationId xmlns:a16="http://schemas.microsoft.com/office/drawing/2014/main" id="{C2A00445-A37D-40C4-8BA3-5E7F253B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84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buNone/>
              <a:defRPr sz="2550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buNone/>
              <a:defRPr sz="2550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buNone/>
              <a:defRPr sz="2550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buNone/>
              <a:defRPr sz="2550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buNone/>
              <a:defRPr sz="2550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buNone/>
              <a:defRPr sz="2550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buNone/>
              <a:defRPr sz="2550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buNone/>
              <a:defRPr sz="2550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buNone/>
              <a:defRPr sz="2550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buNone/>
              <a:defRPr sz="2550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244B61"/>
                </a:solidFill>
                <a:latin typeface="微软雅黑"/>
                <a:ea typeface="微软雅黑"/>
                <a:cs typeface="微软雅黑"/>
              </a:rPr>
              <a:t>设计方法、训练过程与实验结论</a:t>
            </a:r>
            <a:endParaRPr sz="2550" b="1">
              <a:solidFill>
                <a:srgbClr val="244B6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赵恒升   硕2605班   M202674292     指导教师：何琨">
            <a:extLst xmlns:a="http://schemas.openxmlformats.org/drawingml/2006/main">
              <a:ext uri="{FF2B5EF4-FFF2-40B4-BE49-F238E27FC236}">
                <a16:creationId xmlns:a16="http://schemas.microsoft.com/office/drawing/2014/main" id="{8AF3F3A9-1CE4-4D19-B206-E9E29DBA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958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buNone/>
              <a:defRPr sz="1800" b="0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buNone/>
              <a:defRPr sz="1800" b="0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buNone/>
              <a:defRPr sz="1800" b="0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buNone/>
              <a:defRPr sz="1800" b="0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buNone/>
              <a:defRPr sz="1800" b="0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buNone/>
              <a:defRPr sz="1800" b="0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buNone/>
              <a:defRPr sz="1800" b="0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buNone/>
              <a:defRPr sz="1800" b="0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buNone/>
              <a:defRPr sz="1800" b="0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赵恒升   硕2605班  </a:t>
            </a:r>
            <a:endParaRPr sz="1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800" b="0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刘柯佟</a:t>
            </a:r>
            <a:r>
              <a:rPr sz="1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  </a:t>
            </a:r>
            <a:r>
              <a:rPr sz="1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硕</a:t>
            </a:r>
            <a:r>
              <a:rPr sz="1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2605</a:t>
            </a:r>
            <a:r>
              <a:rPr sz="1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班</a:t>
            </a:r>
            <a:endParaRPr sz="1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800" b="0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刘俊铖</a:t>
            </a:r>
            <a:r>
              <a:rPr sz="1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  </a:t>
            </a:r>
            <a:r>
              <a:rPr sz="1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硕</a:t>
            </a:r>
            <a:r>
              <a:rPr sz="1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2605</a:t>
            </a:r>
            <a:r>
              <a:rPr sz="1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班</a:t>
            </a:r>
            <a:endParaRPr sz="1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56263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98418360-BC64-4244-BCDD-24CBACE151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eedfc6580494902">
            <a:alphaModFix amt="1800"/>
          </a:blip>
          <a:srcRect xmlns:a="http://schemas.openxmlformats.org/drawingml/2006/main" l="0" t="4939" r="28793" b="22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1601" y="902926"/>
            <a:ext cx="9550400" cy="5955074"/>
          </a:xfrm>
          <a:prstGeom xmlns:a="http://schemas.openxmlformats.org/drawingml/2006/main" prst="rect">
            <a:avLst/>
          </a:prstGeom>
        </p:spPr>
      </p:pic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1E27D460-CE05-4078-AB30-12C4872DDF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149dace71444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285750"/>
            <a:ext cx="2628900" cy="600075"/>
          </a:xfrm>
          <a:prstGeom xmlns:a="http://schemas.openxmlformats.org/drawingml/2006/main" prst="rect">
            <a:avLst/>
          </a:prstGeom>
        </p:spPr>
      </p:pic>
      <p:sp>
        <p:nvSpPr>
          <p:cNvPr id="8" name="任务定义：两种算法共用环境与观测">
            <a:extLst xmlns:a="http://schemas.openxmlformats.org/drawingml/2006/main">
              <a:ext uri="{FF2B5EF4-FFF2-40B4-BE49-F238E27FC236}">
                <a16:creationId xmlns:a16="http://schemas.microsoft.com/office/drawing/2014/main" id="{AF89C96F-FEB7-4917-AC9E-863387F5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rPr>
              <a:t>任务与观测接口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B129B-A66D-4DA3-99F2-7C948A13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0"/>
          </a:solidFill>
          <a:ln xmlns:a="http://schemas.openxmlformats.org/drawingml/2006/main" w="0">
            <a:noFill/>
          </a:ln>
        </p:spPr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F1FEA6A2-7ABD-4573-A801-2B2ED105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674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99FE3-1CAC-4BA8-B7DD-C964ED15DB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58f747cada4bdf"/>
          <a:stretch xmlns:a="http://schemas.openxmlformats.org/drawingml/2006/main"/>
        </p:blipFill>
        <p:spPr>
          <a:xfrm xmlns:a="http://schemas.openxmlformats.org/drawingml/2006/main">
            <a:off x="600075" y="2097881"/>
            <a:ext cx="1752600" cy="2300288"/>
          </a:xfrm>
          <a:prstGeom xmlns:a="http://schemas.openxmlformats.org/drawingml/2006/main" prst="rect">
            <a:avLst/>
          </a:prstGeom>
        </p:spPr>
      </p:pic>
      <p:sp>
        <p:nvSpPr>
          <p:cNvPr id="12" name="实际游戏画面">
            <a:extLst xmlns:a="http://schemas.openxmlformats.org/drawingml/2006/main">
              <a:ext uri="{FF2B5EF4-FFF2-40B4-BE49-F238E27FC236}">
                <a16:creationId xmlns:a16="http://schemas.microsoft.com/office/drawing/2014/main" id="{09219BB4-B72D-46CF-8A12-BD419BD4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24375"/>
            <a:ext cx="1914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实际游戏画面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828140-514B-46DC-8AB4-70893A3D87E9}"/>
              </a:ext>
            </a:extLst>
          </p:cNvPr>
          <p:cNvGraphicFramePr/>
          <p:nvPr/>
        </p:nvGraphicFramePr>
        <p:xfrm>
          <a:off xmlns:a="http://schemas.openxmlformats.org/drawingml/2006/main" x="2647950" y="1981200"/>
          <a:ext xmlns:a="http://schemas.openxmlformats.org/drawingml/2006/main" cx="9001125" cy="2609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7538"/>
                <a:gridCol w="7383587"/>
              </a:tblGrid>
              <a:tr h="52197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要素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统一任务定义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</a:tr>
              <a:tr h="52197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 / 回合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个离散动作，完整 5 生命游戏，2 面砖墙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197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奖励 / 上限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原始击砖分数，不裁剪；满分 864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197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固定物理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球速 120 px/s，挡板宽 16 px，60 Hz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197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终止 / 截断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生命耗尽或通关 / 108000 物理帧上限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共同观测链">
            <a:extLst xmlns:a="http://schemas.openxmlformats.org/drawingml/2006/main">
              <a:ext uri="{FF2B5EF4-FFF2-40B4-BE49-F238E27FC236}">
                <a16:creationId xmlns:a16="http://schemas.microsoft.com/office/drawing/2014/main" id="{3B8B80AA-8481-421B-A6CF-F9497126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053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共同观测链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0F162C-D260-41A9-BDF2-AC0B2DD0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857750"/>
            <a:ext cx="21336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</a:ln>
        </p:spPr>
      </p:sp>
      <p:sp>
        <p:nvSpPr>
          <p:cNvPr id="16" name="动作重复 4 帧">
            <a:extLst xmlns:a="http://schemas.openxmlformats.org/drawingml/2006/main">
              <a:ext uri="{FF2B5EF4-FFF2-40B4-BE49-F238E27FC236}">
                <a16:creationId xmlns:a16="http://schemas.microsoft.com/office/drawing/2014/main" id="{A38D3EBA-926E-4FCA-9850-28F2ABF1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9911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动作重复 4 帧</a:t>
            </a:r>
          </a:p>
        </p:txBody>
      </p:sp>
      <p:sp>
        <p:nvSpPr>
          <p:cNvPr id="17" name="累计期间奖励">
            <a:extLst xmlns:a="http://schemas.openxmlformats.org/drawingml/2006/main">
              <a:ext uri="{FF2B5EF4-FFF2-40B4-BE49-F238E27FC236}">
                <a16:creationId xmlns:a16="http://schemas.microsoft.com/office/drawing/2014/main" id="{3F8CDF8F-BD6C-4132-AACF-79264E35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42925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累计期间奖励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885130-F5E8-4EB1-A105-4B8F7BD9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295900"/>
            <a:ext cx="1143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598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472217-F92F-4732-95DE-E6457FB5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857750"/>
            <a:ext cx="21336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</a:ln>
        </p:spPr>
      </p:sp>
      <p:sp>
        <p:nvSpPr>
          <p:cNvPr id="20" name="末两帧最大值">
            <a:extLst xmlns:a="http://schemas.openxmlformats.org/drawingml/2006/main">
              <a:ext uri="{FF2B5EF4-FFF2-40B4-BE49-F238E27FC236}">
                <a16:creationId xmlns:a16="http://schemas.microsoft.com/office/drawing/2014/main" id="{349FB878-6D47-41E7-8154-2E9F7F07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9911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末两帧最大值</a:t>
            </a:r>
          </a:p>
        </p:txBody>
      </p:sp>
      <p:sp>
        <p:nvSpPr>
          <p:cNvPr id="21" name="灰度 + 84×84">
            <a:extLst xmlns:a="http://schemas.openxmlformats.org/drawingml/2006/main">
              <a:ext uri="{FF2B5EF4-FFF2-40B4-BE49-F238E27FC236}">
                <a16:creationId xmlns:a16="http://schemas.microsoft.com/office/drawing/2014/main" id="{6980AAB1-B9B2-41E6-830B-3D5D6CD8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42925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灰度 + 84×84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ABB263-6F45-44BF-A506-0CA102AE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95900"/>
            <a:ext cx="1143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598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797512-ED2C-4E69-8400-40A689EA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857750"/>
            <a:ext cx="21336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</a:ln>
        </p:spPr>
      </p:sp>
      <p:sp>
        <p:nvSpPr>
          <p:cNvPr id="24" name="堆叠 4 次观测">
            <a:extLst xmlns:a="http://schemas.openxmlformats.org/drawingml/2006/main">
              <a:ext uri="{FF2B5EF4-FFF2-40B4-BE49-F238E27FC236}">
                <a16:creationId xmlns:a16="http://schemas.microsoft.com/office/drawing/2014/main" id="{0AFBD4ED-EEAC-4584-8952-42C460EB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9911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堆叠 4 次观测</a:t>
            </a:r>
          </a:p>
        </p:txBody>
      </p:sp>
      <p:sp>
        <p:nvSpPr>
          <p:cNvPr id="25" name="4×84×84 / uint8">
            <a:extLst xmlns:a="http://schemas.openxmlformats.org/drawingml/2006/main">
              <a:ext uri="{FF2B5EF4-FFF2-40B4-BE49-F238E27FC236}">
                <a16:creationId xmlns:a16="http://schemas.microsoft.com/office/drawing/2014/main" id="{35187A17-DD87-4DBB-AD80-3E0C5B6B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542925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4×84×84 / uint8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95C1B9-64A3-427D-8D63-1BD24BA6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95900"/>
            <a:ext cx="1143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598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E844C7-5DB7-4C7B-9079-EC62ECDB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857750"/>
            <a:ext cx="21336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</a:ln>
        </p:spPr>
      </p:sp>
      <p:sp>
        <p:nvSpPr>
          <p:cNvPr id="28" name="网络内归一化">
            <a:extLst xmlns:a="http://schemas.openxmlformats.org/drawingml/2006/main">
              <a:ext uri="{FF2B5EF4-FFF2-40B4-BE49-F238E27FC236}">
                <a16:creationId xmlns:a16="http://schemas.microsoft.com/office/drawing/2014/main" id="{BE7D608C-8ADE-40E0-A5F9-C406C498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9911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网络内归一化</a:t>
            </a:r>
          </a:p>
        </p:txBody>
      </p:sp>
      <p:sp>
        <p:nvSpPr>
          <p:cNvPr id="29" name="像素除以 255">
            <a:extLst xmlns:a="http://schemas.openxmlformats.org/drawingml/2006/main">
              <a:ext uri="{FF2B5EF4-FFF2-40B4-BE49-F238E27FC236}">
                <a16:creationId xmlns:a16="http://schemas.microsoft.com/office/drawing/2014/main" id="{6723B6B2-FBF4-475E-A506-9C27F35C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42925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像素除以 255</a:t>
            </a:r>
          </a:p>
        </p:txBody>
      </p:sp>
      <p:sp>
        <p:nvSpPr>
          <p:cNvPr id="30" name="自制 FixedSpeedBreakout-v0（physics_version=3）；自">
            <a:extLst xmlns:a="http://schemas.openxmlformats.org/drawingml/2006/main">
              <a:ext uri="{FF2B5EF4-FFF2-40B4-BE49-F238E27FC236}">
                <a16:creationId xmlns:a16="http://schemas.microsoft.com/office/drawing/2014/main" id="{7E4C7A96-25C9-438B-97C3-3C4ADD08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67475"/>
            <a:ext cx="1072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rPr>
              <a:t>自制 FixedSpeedBreakout-v0（physics_version=3）；自动发球由包装器完成；辅助奖励只用于独立对照，不用于主比较。</a:t>
            </a:r>
          </a:p>
        </p:txBody>
      </p:sp>
    </p:spTree>
    <p:extLst>
      <p:ext uri="{BB962C8B-B14F-4D97-AF65-F5344CB8AC3E}">
        <p14:creationId xmlns:p14="http://schemas.microsoft.com/office/powerpoint/2010/main" val="186118731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061E5B77-B6DA-4B7A-A2DB-A4F700A073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6c44d427acd47e1">
            <a:alphaModFix amt="1800"/>
          </a:blip>
          <a:srcRect xmlns:a="http://schemas.openxmlformats.org/drawingml/2006/main" l="0" t="4939" r="28793" b="22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1601" y="902926"/>
            <a:ext cx="9550400" cy="5955074"/>
          </a:xfrm>
          <a:prstGeom xmlns:a="http://schemas.openxmlformats.org/drawingml/2006/main" prst="rect">
            <a:avLst/>
          </a:prstGeom>
        </p:spPr>
      </p:pic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6EE495D8-B775-4994-8EF4-921AB55F6D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fc4df2dc4845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285750"/>
            <a:ext cx="2628900" cy="600075"/>
          </a:xfrm>
          <a:prstGeom xmlns:a="http://schemas.openxmlformats.org/drawingml/2006/main" prst="rect">
            <a:avLst/>
          </a:prstGeom>
        </p:spPr>
      </p:pic>
      <p:sp>
        <p:nvSpPr>
          <p:cNvPr id="8" name="方法选择：DQN 与 PPO 分别研究什么">
            <a:extLst xmlns:a="http://schemas.openxmlformats.org/drawingml/2006/main">
              <a:ext uri="{FF2B5EF4-FFF2-40B4-BE49-F238E27FC236}">
                <a16:creationId xmlns:a16="http://schemas.microsoft.com/office/drawing/2014/main" id="{96C6BC6D-A33F-41A2-84F4-C8837635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rPr>
              <a:t>DQN 与 PPO 的方法选择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4BEC0B-440C-4502-8E5B-EB670E8A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0"/>
          </a:solidFill>
          <a:ln xmlns:a="http://schemas.openxmlformats.org/drawingml/2006/main" w="0">
            <a:noFill/>
          </a:ln>
        </p:spPr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8D78DCF8-C8FA-409E-BC73-20303DAC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674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32B45-7191-4F67-99F1-D042007E956D}"/>
              </a:ext>
            </a:extLst>
          </p:cNvPr>
          <p:cNvGraphicFramePr/>
          <p:nvPr/>
        </p:nvGraphicFramePr>
        <p:xfrm>
          <a:off xmlns:a="http://schemas.openxmlformats.org/drawingml/2006/main" x="523875" y="1981200"/>
          <a:ext xmlns:a="http://schemas.openxmlformats.org/drawingml/2006/main" cx="111252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467225"/>
                <a:gridCol w="4848225"/>
              </a:tblGrid>
              <a:tr h="57150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DQN：价值学习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PPO：策略优化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动作产生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四个 Q 值取最大；训练用 ε-greedy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输出四动作概率；训练采样并加入熵项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经验利用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离策略，长期回放池随机复用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同策略，当前 rollout 内做多轮更新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稳定机制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 Q 网络、随机回放、Huber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概率比裁剪、优势标准化、KL 保护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本项目研究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继续训练退化、回放恢复、检查点选择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策略/价值优化、GAE、KL 反馈与配对续训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为何由 DQN 扩展到 PPO">
            <a:extLst xmlns:a="http://schemas.openxmlformats.org/drawingml/2006/main">
              <a:ext uri="{FF2B5EF4-FFF2-40B4-BE49-F238E27FC236}">
                <a16:creationId xmlns:a16="http://schemas.microsoft.com/office/drawing/2014/main" id="{39C94931-0E26-46C2-BE82-ABF7A4C3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4350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为何由 DQN 扩展到 PPO</a:t>
            </a:r>
          </a:p>
        </p:txBody>
      </p:sp>
      <p:sp>
        <p:nvSpPr>
          <p:cNvPr id="13" name="四动作均可适配；补充另一种优化机制，检验稳定性问题是否仍然存在。">
            <a:extLst xmlns:a="http://schemas.openxmlformats.org/drawingml/2006/main">
              <a:ext uri="{FF2B5EF4-FFF2-40B4-BE49-F238E27FC236}">
                <a16:creationId xmlns:a16="http://schemas.microsoft.com/office/drawing/2014/main" id="{1DC1BB00-FDF0-409D-89C0-EF912004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0"/>
            <a:ext cx="523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四动作均可适配；补充另一种优化机制，检验稳定性问题是否仍然存在。</a:t>
            </a:r>
          </a:p>
        </p:txBody>
      </p:sp>
      <p:sp>
        <p:nvSpPr>
          <p:cNvPr id="14" name="为何不继续堆叠算法">
            <a:extLst xmlns:a="http://schemas.openxmlformats.org/drawingml/2006/main">
              <a:ext uri="{FF2B5EF4-FFF2-40B4-BE49-F238E27FC236}">
                <a16:creationId xmlns:a16="http://schemas.microsoft.com/office/drawing/2014/main" id="{47D9CAF0-28CC-49A3-B03B-201FB5A8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43500"/>
            <a:ext cx="535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为何不继续堆叠算法</a:t>
            </a:r>
          </a:p>
        </p:txBody>
      </p:sp>
      <p:sp>
        <p:nvSpPr>
          <p:cNvPr id="15" name="A2C 可行但尚未实测；优先完成现有两种方法的对照、重复和误差分析。">
            <a:extLst xmlns:a="http://schemas.openxmlformats.org/drawingml/2006/main">
              <a:ext uri="{FF2B5EF4-FFF2-40B4-BE49-F238E27FC236}">
                <a16:creationId xmlns:a16="http://schemas.microsoft.com/office/drawing/2014/main" id="{CDE88028-68C1-4925-AAD9-8E629138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24500"/>
            <a:ext cx="5353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A2C 可行但尚未实测；优先完成现有两种方法的对照、重复和误差分析。</a:t>
            </a:r>
          </a:p>
        </p:txBody>
      </p:sp>
      <p:sp>
        <p:nvSpPr>
          <p:cNvPr id="16" name="SB3 标准 SAC / TD3 面向连续动作，不能直接替换 Discrete(4)。方法">
            <a:extLst xmlns:a="http://schemas.openxmlformats.org/drawingml/2006/main">
              <a:ext uri="{FF2B5EF4-FFF2-40B4-BE49-F238E27FC236}">
                <a16:creationId xmlns:a16="http://schemas.microsoft.com/office/drawing/2014/main" id="{A1D61175-18F1-4FE2-A4CC-C810D263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67475"/>
            <a:ext cx="1072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rPr>
              <a:t>SB3 标准 SAC / TD3 面向连续动作，不能直接替换 Discrete(4)。方法支持范围依据官方文档，性能结论只依据本项目实验。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D815B-AD38-40F5-8300-EB917B83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10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810404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E43E8FAF-7BBA-4E3C-B362-3B5D732003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f4d41c4f36b4d24">
            <a:alphaModFix amt="1800"/>
          </a:blip>
          <a:srcRect xmlns:a="http://schemas.openxmlformats.org/drawingml/2006/main" l="0" t="4939" r="28793" b="22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1601" y="902926"/>
            <a:ext cx="9550400" cy="5955074"/>
          </a:xfrm>
          <a:prstGeom xmlns:a="http://schemas.openxmlformats.org/drawingml/2006/main" prst="rect">
            <a:avLst/>
          </a:prstGeom>
        </p:spPr>
      </p:pic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C87E63B4-6FE5-4296-B7DE-C1607206BC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ff7f8f7c04f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285750"/>
            <a:ext cx="2628900" cy="600075"/>
          </a:xfrm>
          <a:prstGeom xmlns:a="http://schemas.openxmlformats.org/drawingml/2006/main" prst="rect">
            <a:avLst/>
          </a:prstGeom>
        </p:spPr>
      </p:pic>
      <p:sp>
        <p:nvSpPr>
          <p:cNvPr id="8" name="网络设计：相同像素输入，不同输出目标">
            <a:extLst xmlns:a="http://schemas.openxmlformats.org/drawingml/2006/main">
              <a:ext uri="{FF2B5EF4-FFF2-40B4-BE49-F238E27FC236}">
                <a16:creationId xmlns:a16="http://schemas.microsoft.com/office/drawing/2014/main" id="{C6A01B7B-C746-4C35-A7DA-2B944B4C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rPr>
              <a:t>视觉网络与输出结构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B25CF-AB8F-48D7-99C1-F6834E22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0"/>
          </a:solidFill>
          <a:ln xmlns:a="http://schemas.openxmlformats.org/drawingml/2006/main" w="0">
            <a:noFill/>
          </a:ln>
        </p:spPr>
      </p:sp>
      <p:sp>
        <p:nvSpPr>
          <p:cNvPr id="10" name="04">
            <a:extLst xmlns:a="http://schemas.openxmlformats.org/drawingml/2006/main">
              <a:ext uri="{FF2B5EF4-FFF2-40B4-BE49-F238E27FC236}">
                <a16:creationId xmlns:a16="http://schemas.microsoft.com/office/drawing/2014/main" id="{E236C706-9F9B-4C1C-9E40-DB1A751A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674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0D99E7-1AA9-4D3E-B87E-50395915BD7B}"/>
              </a:ext>
            </a:extLst>
          </p:cNvPr>
          <p:cNvGraphicFramePr/>
          <p:nvPr/>
        </p:nvGraphicFramePr>
        <p:xfrm>
          <a:off xmlns:a="http://schemas.openxmlformats.org/drawingml/2006/main" x="523875" y="1981200"/>
          <a:ext xmlns:a="http://schemas.openxmlformats.org/drawingml/2006/main" cx="5772150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2409825"/>
                <a:gridCol w="1838325"/>
              </a:tblGrid>
              <a:tr h="53340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特征提取层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</a:tr>
              <a:tr h="53340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四帧灰度 / 255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4×84×84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卷积 1 + ReLU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 核，8×8 / 4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32×20×20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卷积 2 + ReLU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 核，4×4 / 2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64×9×9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卷积 3 + ReLU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 核，3×3 / 1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64×7×7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展平 + FC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3136 → 512 / ReLU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512 维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DQN：在线 Q 网络 + 目标副本">
            <a:extLst xmlns:a="http://schemas.openxmlformats.org/drawingml/2006/main">
              <a:ext uri="{FF2B5EF4-FFF2-40B4-BE49-F238E27FC236}">
                <a16:creationId xmlns:a16="http://schemas.microsoft.com/office/drawing/2014/main" id="{F68ADCC1-490B-4015-A764-632A98EE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038350"/>
            <a:ext cx="487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DQN：在线 Q 网络 + 目标副本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FD1B1D-A324-49C9-9656-DBDA4C6D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562225"/>
            <a:ext cx="2143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</a:ln>
        </p:spPr>
      </p:sp>
      <p:sp>
        <p:nvSpPr>
          <p:cNvPr id="14" name="NatureCNN · 512">
            <a:extLst xmlns:a="http://schemas.openxmlformats.org/drawingml/2006/main">
              <a:ext uri="{FF2B5EF4-FFF2-40B4-BE49-F238E27FC236}">
                <a16:creationId xmlns:a16="http://schemas.microsoft.com/office/drawing/2014/main" id="{D8D46010-EFD9-4A72-B8CE-CE068174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75272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NatureCNN · 512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A290F6-49B0-4A70-A049-9DB9D068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09875"/>
            <a:ext cx="2667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5980"/>
          </a:solidFill>
          <a:ln xmlns:a="http://schemas.openxmlformats.org/drawingml/2006/main" w="0">
            <a:noFill/>
          </a:ln>
        </p:spPr>
      </p:sp>
      <p:sp>
        <p:nvSpPr>
          <p:cNvPr id="16" name="4 个 Q 值">
            <a:extLst xmlns:a="http://schemas.openxmlformats.org/drawingml/2006/main">
              <a:ext uri="{FF2B5EF4-FFF2-40B4-BE49-F238E27FC236}">
                <a16:creationId xmlns:a16="http://schemas.microsoft.com/office/drawing/2014/main" id="{5A8733A3-4ED4-419F-BCB3-911C2192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14625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rPr>
              <a:t>4 个 Q 值</a:t>
            </a:r>
          </a:p>
        </p:txBody>
      </p:sp>
      <p:sp>
        <p:nvSpPr>
          <p:cNvPr id="17" name="PPO：后续版本采用两套独立参数">
            <a:extLst xmlns:a="http://schemas.openxmlformats.org/drawingml/2006/main">
              <a:ext uri="{FF2B5EF4-FFF2-40B4-BE49-F238E27FC236}">
                <a16:creationId xmlns:a16="http://schemas.microsoft.com/office/drawing/2014/main" id="{22197EB5-2FF0-4AC6-91B2-736FFA79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457575"/>
            <a:ext cx="487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PPO：后续版本采用两套独立参数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3AB0EC-3DDF-483C-93EA-8FF5D633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048125"/>
            <a:ext cx="21526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</a:ln>
        </p:spPr>
      </p:sp>
      <p:sp>
        <p:nvSpPr>
          <p:cNvPr id="19" name="策略 CNN · 512">
            <a:extLst xmlns:a="http://schemas.openxmlformats.org/drawingml/2006/main">
              <a:ext uri="{FF2B5EF4-FFF2-40B4-BE49-F238E27FC236}">
                <a16:creationId xmlns:a16="http://schemas.microsoft.com/office/drawing/2014/main" id="{65A02A09-454B-41AB-8D68-60A7CEFB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2386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策略 CNN · 512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6986CF-65A9-4C12-9818-2FE878C9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286250"/>
            <a:ext cx="24765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5980"/>
          </a:solidFill>
          <a:ln xmlns:a="http://schemas.openxmlformats.org/drawingml/2006/main" w="0">
            <a:noFill/>
          </a:ln>
        </p:spPr>
      </p:sp>
      <p:sp>
        <p:nvSpPr>
          <p:cNvPr id="21" name="4 logits / softmax">
            <a:extLst xmlns:a="http://schemas.openxmlformats.org/drawingml/2006/main">
              <a:ext uri="{FF2B5EF4-FFF2-40B4-BE49-F238E27FC236}">
                <a16:creationId xmlns:a16="http://schemas.microsoft.com/office/drawing/2014/main" id="{B9B594C3-0A1C-41EB-83DA-413E261E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005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rPr>
              <a:t>4 logits / softmax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5D1977-34D3-4CF5-B324-FE865071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895850"/>
            <a:ext cx="21526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</a:ln>
        </p:spPr>
      </p:sp>
      <p:sp>
        <p:nvSpPr>
          <p:cNvPr id="23" name="价值 CNN · 512">
            <a:extLst xmlns:a="http://schemas.openxmlformats.org/drawingml/2006/main">
              <a:ext uri="{FF2B5EF4-FFF2-40B4-BE49-F238E27FC236}">
                <a16:creationId xmlns:a16="http://schemas.microsoft.com/office/drawing/2014/main" id="{763E1741-1CDD-4347-A9F7-BB988BD2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0863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价值 CNN · 512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C68C16-DD2D-465B-BA93-AE5C1113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133975"/>
            <a:ext cx="24765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5980"/>
          </a:solidFill>
          <a:ln xmlns:a="http://schemas.openxmlformats.org/drawingml/2006/main" w="0">
            <a:noFill/>
          </a:ln>
        </p:spPr>
      </p:sp>
      <p:sp>
        <p:nvSpPr>
          <p:cNvPr id="25" name="V(s) / 1 个标量">
            <a:extLst xmlns:a="http://schemas.openxmlformats.org/drawingml/2006/main">
              <a:ext uri="{FF2B5EF4-FFF2-40B4-BE49-F238E27FC236}">
                <a16:creationId xmlns:a16="http://schemas.microsoft.com/office/drawing/2014/main" id="{F414C797-070E-4B90-822F-C19680FD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482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V(s) / 1 个标量</a:t>
            </a:r>
          </a:p>
        </p:txBody>
      </p:sp>
      <p:sp>
        <p:nvSpPr>
          <p:cNvPr id="26" name="标准 PPO 初始共享特征；拆分时复制原权重，保持初始输出一致。">
            <a:extLst xmlns:a="http://schemas.openxmlformats.org/drawingml/2006/main">
              <a:ext uri="{FF2B5EF4-FFF2-40B4-BE49-F238E27FC236}">
                <a16:creationId xmlns:a16="http://schemas.microsoft.com/office/drawing/2014/main" id="{88C0F8B2-C2AB-4A3A-AE41-AF3F45A3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72125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标准 PPO 初始共享特征；拆分时复制原权重，保持初始输出一致。</a:t>
            </a:r>
          </a:p>
        </p:txBody>
      </p:sp>
      <p:sp>
        <p:nvSpPr>
          <p:cNvPr id="27" name="网络结构同类不代表参数共享；PPO 推理只使用策略分支。">
            <a:extLst xmlns:a="http://schemas.openxmlformats.org/drawingml/2006/main">
              <a:ext uri="{FF2B5EF4-FFF2-40B4-BE49-F238E27FC236}">
                <a16:creationId xmlns:a16="http://schemas.microsoft.com/office/drawing/2014/main" id="{F7D2EBED-7130-4C1A-A886-6CD416EB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81700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网络结构同类不代表参数共享；PPO 推理只使用策略分支。</a:t>
            </a:r>
          </a:p>
        </p:txBody>
      </p:sp>
      <p:sp>
        <p:nvSpPr>
          <p:cNvPr id="28" name="实现：SB3 CnnPolicy / NatureCNN；DQN 未使用 Double、D">
            <a:extLst xmlns:a="http://schemas.openxmlformats.org/drawingml/2006/main">
              <a:ext uri="{FF2B5EF4-FFF2-40B4-BE49-F238E27FC236}">
                <a16:creationId xmlns:a16="http://schemas.microsoft.com/office/drawing/2014/main" id="{42B4EA1C-53FF-48F2-8162-C18C2996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67475"/>
            <a:ext cx="1072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rPr>
              <a:t>实现：SB3 CnnPolicy / NatureCNN；DQN 未使用 Double、Dueling 或 PER；原始画面不含人工球坐标或落点特征。</a:t>
            </a:r>
          </a:p>
        </p:txBody>
      </p:sp>
    </p:spTree>
    <p:extLst>
      <p:ext uri="{BB962C8B-B14F-4D97-AF65-F5344CB8AC3E}">
        <p14:creationId xmlns:p14="http://schemas.microsoft.com/office/powerpoint/2010/main" val="98512473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AE24A3FC-06A6-43F0-9163-937EBC8FBE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9366cd152de4dc8">
            <a:alphaModFix amt="1800"/>
          </a:blip>
          <a:srcRect xmlns:a="http://schemas.openxmlformats.org/drawingml/2006/main" l="0" t="4939" r="28793" b="22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1601" y="902926"/>
            <a:ext cx="9550400" cy="5955074"/>
          </a:xfrm>
          <a:prstGeom xmlns:a="http://schemas.openxmlformats.org/drawingml/2006/main" prst="rect">
            <a:avLst/>
          </a:prstGeom>
        </p:spPr>
      </p:pic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ABFC98B7-F126-4BD4-AB0B-32D218280E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0be0951e847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285750"/>
            <a:ext cx="2628900" cy="600075"/>
          </a:xfrm>
          <a:prstGeom xmlns:a="http://schemas.openxmlformats.org/drawingml/2006/main" prst="rect">
            <a:avLst/>
          </a:prstGeom>
        </p:spPr>
      </p:pic>
      <p:sp>
        <p:nvSpPr>
          <p:cNvPr id="8" name="DQN：回放更新、目标网络与低学习率续训">
            <a:extLst xmlns:a="http://schemas.openxmlformats.org/drawingml/2006/main">
              <a:ext uri="{FF2B5EF4-FFF2-40B4-BE49-F238E27FC236}">
                <a16:creationId xmlns:a16="http://schemas.microsoft.com/office/drawing/2014/main" id="{1C7B1727-07D1-4A14-8565-3A23AC6F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rPr>
              <a:t>DQN 更新与续训配置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BB294-0DAF-42C0-B5B7-644318AC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0"/>
          </a:solidFill>
          <a:ln xmlns:a="http://schemas.openxmlformats.org/drawingml/2006/main" w="0">
            <a:noFill/>
          </a:ln>
        </p:spPr>
      </p:sp>
      <p:sp>
        <p:nvSpPr>
          <p:cNvPr id="10" name="05">
            <a:extLst xmlns:a="http://schemas.openxmlformats.org/drawingml/2006/main">
              <a:ext uri="{FF2B5EF4-FFF2-40B4-BE49-F238E27FC236}">
                <a16:creationId xmlns:a16="http://schemas.microsoft.com/office/drawing/2014/main" id="{B2BDB823-5487-4B7B-A2C0-ECDAD836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674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B04516-5110-413F-9B20-C006A8FF3CD5}"/>
              </a:ext>
            </a:extLst>
          </p:cNvPr>
          <p:cNvGraphicFramePr/>
          <p:nvPr/>
        </p:nvGraphicFramePr>
        <p:xfrm>
          <a:off xmlns:a="http://schemas.openxmlformats.org/drawingml/2006/main" x="6858000" y="1981200"/>
          <a:ext xmlns:a="http://schemas.openxmlformats.org/drawingml/2006/main" cx="4791075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14508"/>
                <a:gridCol w="1423634"/>
                <a:gridCol w="1952933"/>
              </a:tblGrid>
              <a:tr h="531812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历史设置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基础训练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低学习率续训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</a:tr>
              <a:tr h="531812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新增预算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500k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200k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1812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学习率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1×10⁻⁴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3×10⁻⁵ 至 1×10⁻⁵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1812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探索率 ε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至 0.05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 至 0.02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1812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回放 / 预热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50k / 20k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50k / 20k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1815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批量 / 早停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 / 关闭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 / 关闭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1k=1000 个决策步；每个动作内部重复 4 个物理帧，与“4 步更新一次”不同；历史配">
            <a:extLst xmlns:a="http://schemas.openxmlformats.org/drawingml/2006/main">
              <a:ext uri="{FF2B5EF4-FFF2-40B4-BE49-F238E27FC236}">
                <a16:creationId xmlns:a16="http://schemas.microsoft.com/office/drawing/2014/main" id="{64C91BA2-2162-4974-A546-BB35E2E4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67475"/>
            <a:ext cx="1072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rPr>
              <a:t>1k=1000 个决策步；每个动作内部重复 4 个物理帧，与“4 步更新一次”不同；历史配置以各 run 的 config.json 为准。</a:t>
            </a:r>
          </a:p>
        </p:txBody>
      </p:sp>
      <p:sp>
        <p:nvSpPr>
          <p:cNvPr id="20" name="一步 TD 目标">
            <a:extLst xmlns:a="http://schemas.openxmlformats.org/drawingml/2006/main">
              <a:ext uri="{FF2B5EF4-FFF2-40B4-BE49-F238E27FC236}">
                <a16:creationId xmlns:a16="http://schemas.microsoft.com/office/drawing/2014/main" id="{286B5400-5740-4C10-9728-12F156BE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193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一步 TD 目标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MATH:dqn">
                <a:extLst xmlns:a="http://schemas.openxmlformats.org/drawingml/2006/main">
                  <a:ext uri="{FF2B5EF4-FFF2-40B4-BE49-F238E27FC236}">
                    <a16:creationId xmlns:a16="http://schemas.microsoft.com/office/drawing/2014/main" id="{1A9BBE1B-1FFA-47AC-B851-A9E670C4B07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3875" y="2476500"/>
                <a:ext cx="6048375" cy="628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 xmlns:a="http://schemas.openxmlformats.org/drawingml/2006/main">
                <a:pPr algn="l">
                  <a:defRPr sz="2025"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ml="http://www.w3.org/1998/Math/MathML">
                      <m:sSub>
                        <m:e>
                          <m:r>
                            <a:rPr lang="en-US" sz="2025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a:rPr lang="en-US" sz="1721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a:rPr lang="en-US" sz="2025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en-US" sz="2025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1721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a:rPr lang="en-US" sz="2025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+γ</m:t>
                      </m:r>
                      <m:r>
                        <a:rPr lang="en-US" sz="2025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(1−</m:t>
                      </m:r>
                      <m:sSub>
                        <m:e>
                          <m:r>
                            <a:rPr lang="en-US" sz="2025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a:rPr lang="en-US" sz="1721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a:rPr lang="en-US" sz="2025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a:rPr lang="en-US" sz="2025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max </m:t>
                          </m:r>
                        </m:e>
                        <m:lim>
                          <m:sSup>
                            <m:e>
                              <m:r>
                                <a:rPr lang="en-US" sz="1721">
                                  <a:solidFill>
                                    <a:srgbClr val="244B6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1463">
                                  <a:solidFill>
                                    <a:srgbClr val="244B6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′</m:t>
                              </m:r>
                            </m:sup>
                          </m:sSup>
                        </m:lim>
                      </m:limLow>
                      <m:sSub>
                        <m:e>
                          <m:r>
                            <a:rPr lang="en-US" sz="2025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  <m:sub>
                          <m:sSup>
                            <m:e>
                              <m:r>
                                <a:rPr lang="en-US" sz="1721">
                                  <a:solidFill>
                                    <a:srgbClr val="244B6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  <m:sup>
                              <m:r>
                                <a:rPr lang="en-US" sz="1463">
                                  <a:solidFill>
                                    <a:srgbClr val="244B6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</m:sup>
                          </m:sSup>
                        </m:sub>
                      </m:sSub>
                      <m:r>
                        <a:rPr lang="en-US" sz="2025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025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1721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t+1</m:t>
                          </m:r>
                        </m:sub>
                      </m:sSub>
                      <m:r>
                        <a:rPr lang="en-US" sz="2025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sSup>
                        <m:e>
                          <m:r>
                            <a:rPr lang="en-US" sz="2025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en-US" sz="1721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2025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0021" name="MATH:dqn">
                <a:extLst xmlns:a="http://schemas.openxmlformats.org/drawingml/2006/main">
                  <a:ext uri="{FF2B5EF4-FFF2-40B4-BE49-F238E27FC236}">
                    <a16:creationId xmlns:a16="http://schemas.microsoft.com/office/drawing/2014/main" id="{1A9BBE1B-1FFA-47AC-B851-A9E670C4B07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3875" y="2476500"/>
                <a:ext cx="6048375" cy="6286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 xmlns:a="http://schemas.openxmlformats.org/drawingml/2006/main">
                <a: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rPr>
                  <a:t>yₜ = rₜ + γ(1−dₜ) max Qθ⁻(sₜ₊₁,a′)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MATH:dqnloss">
                <a:extLst xmlns:a="http://schemas.openxmlformats.org/drawingml/2006/main">
                  <a:ext uri="{FF2B5EF4-FFF2-40B4-BE49-F238E27FC236}">
                    <a16:creationId xmlns:a16="http://schemas.microsoft.com/office/drawing/2014/main" id="{49BFAF85-168C-4A3C-9A40-408E9B2A296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3875" y="3257550"/>
                <a:ext cx="6048375" cy="5429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 xmlns:a="http://schemas.openxmlformats.org/drawingml/2006/main">
                <a:pPr algn="l">
                  <a:defRPr sz="1950"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ml="http://www.w3.org/1998/Math/MathML">
                      <m:r>
                        <a:rPr lang="en-US" sz="195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r>
                        <a:rPr lang="en-US" sz="195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(θ)</m:t>
                      </m:r>
                      <m:r>
                        <a:rPr lang="en-US" sz="195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95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a:rPr lang="en-US" sz="195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sz="195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Huber</m:t>
                      </m:r>
                      <m:r>
                        <a:rPr lang="en-US" sz="195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195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a:rPr lang="en-US" sz="1658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a:rPr lang="en-US" sz="195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195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  <m:sub>
                          <m:r>
                            <a:rPr lang="en-US" sz="1658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sub>
                      </m:sSub>
                      <m:r>
                        <a:rPr lang="en-US" sz="195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195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1658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a:rPr lang="en-US" sz="195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sSub>
                        <m:e>
                          <m:r>
                            <a:rPr lang="en-US" sz="195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658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a:rPr lang="en-US" sz="195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  <m:r>
                        <a:rPr lang="en-US" sz="195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  <m:r>
                        <a:rPr lang="en-US" sz="195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0022" name="MATH:dqnloss">
                <a:extLst xmlns:a="http://schemas.openxmlformats.org/drawingml/2006/main">
                  <a:ext uri="{FF2B5EF4-FFF2-40B4-BE49-F238E27FC236}">
                    <a16:creationId xmlns:a16="http://schemas.microsoft.com/office/drawing/2014/main" id="{49BFAF85-168C-4A3C-9A40-408E9B2A296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3875" y="3257550"/>
                <a:ext cx="6048375" cy="5429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 xmlns:a="http://schemas.openxmlformats.org/drawingml/2006/main">
                <a: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rPr>
                  <a:t>L(θ) = E[Huber(yₜ − Qθ(sₜ,aₜ))]</a:t>
                </a:r>
              </a:p>
            </p:txBody>
          </p:sp>
        </mc:Fallback>
      </mc:AlternateContent>
      <p:sp>
        <p:nvSpPr>
          <p:cNvPr id="23" name="目标网络构造 y，并停止梯度；在线网络由 Adam 更新。">
            <a:extLst xmlns:a="http://schemas.openxmlformats.org/drawingml/2006/main">
              <a:ext uri="{FF2B5EF4-FFF2-40B4-BE49-F238E27FC236}">
                <a16:creationId xmlns:a16="http://schemas.microsoft.com/office/drawing/2014/main" id="{34C52D38-BCE7-40BA-8C59-5A124318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71925"/>
            <a:ext cx="5857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目标网络构造 y，并停止梯度；在线网络由 Adam 更新。</a:t>
            </a:r>
          </a:p>
        </p:txBody>
      </p:sp>
      <p:sp>
        <p:nvSpPr>
          <p:cNvPr id="24" name="随机回放：batch 32；每 4 个决策步更新 1 次。&#10;目标网络每 10k 步同步；折扣因子 γ">
            <a:extLst xmlns:a="http://schemas.openxmlformats.org/drawingml/2006/main">
              <a:ext uri="{FF2B5EF4-FFF2-40B4-BE49-F238E27FC236}">
                <a16:creationId xmlns:a16="http://schemas.microsoft.com/office/drawing/2014/main" id="{9896C8C2-058B-401F-A073-3310D4B4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14875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随机回放：batch 32；每 4 个决策步更新 1 次。</a:t>
            </a:r>
          </a:p>
          <a:p xmlns:a="http://schemas.openxmlformats.org/drawingml/2006/main">
            <a:pPr algn="l"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目标网络每 10k 步同步；折扣因子 γ = 0.99。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3BC195-D919-411F-9BFA-90B4E797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62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0"/>
          </a:solidFill>
          <a:ln xmlns:a="http://schemas.openxmlformats.org/drawingml/2006/main" w="0">
            <a:noFill/>
          </a:ln>
        </p:spPr>
      </p:sp>
      <p:sp>
        <p:nvSpPr>
          <p:cNvPr id="26" name="续训的起点">
            <a:extLst xmlns:a="http://schemas.openxmlformats.org/drawingml/2006/main">
              <a:ext uri="{FF2B5EF4-FFF2-40B4-BE49-F238E27FC236}">
                <a16:creationId xmlns:a16="http://schemas.microsoft.com/office/drawing/2014/main" id="{76D0EC0E-6449-4B22-A920-103477DB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8167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续训的起点</a:t>
            </a:r>
          </a:p>
        </p:txBody>
      </p:sp>
      <p:sp>
        <p:nvSpPr>
          <p:cNvPr id="27" name="加载权重并重建回放；前 20k 步用恢复策略采样，再开始梯度更新。">
            <a:extLst xmlns:a="http://schemas.openxmlformats.org/drawingml/2006/main">
              <a:ext uri="{FF2B5EF4-FFF2-40B4-BE49-F238E27FC236}">
                <a16:creationId xmlns:a16="http://schemas.microsoft.com/office/drawing/2014/main" id="{7AEAE7CE-1C72-4829-8B3D-BD5B459B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781675"/>
            <a:ext cx="932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加载权重并重建回放；前 20k 步用恢复策略采样，再开始梯度更新。</a:t>
            </a:r>
          </a:p>
        </p:txBody>
      </p:sp>
    </p:spTree>
    <p:extLst>
      <p:ext uri="{BB962C8B-B14F-4D97-AF65-F5344CB8AC3E}">
        <p14:creationId xmlns:p14="http://schemas.microsoft.com/office/powerpoint/2010/main" val="17949471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BDAEF67A-71C1-40D0-9E4B-95EAC44BB1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f9322238cc0438e">
            <a:alphaModFix amt="1800"/>
          </a:blip>
          <a:srcRect xmlns:a="http://schemas.openxmlformats.org/drawingml/2006/main" l="0" t="4939" r="28793" b="22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1601" y="902926"/>
            <a:ext cx="9550400" cy="5955074"/>
          </a:xfrm>
          <a:prstGeom xmlns:a="http://schemas.openxmlformats.org/drawingml/2006/main" prst="rect">
            <a:avLst/>
          </a:prstGeom>
        </p:spPr>
      </p:pic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570051AF-535B-4807-82A6-D9E8F77646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5a2c5103c45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285750"/>
            <a:ext cx="2628900" cy="600075"/>
          </a:xfrm>
          <a:prstGeom xmlns:a="http://schemas.openxmlformats.org/drawingml/2006/main" prst="rect">
            <a:avLst/>
          </a:prstGeom>
        </p:spPr>
      </p:pic>
      <p:sp>
        <p:nvSpPr>
          <p:cNvPr id="8" name="PPO：用 GAE 与概率比裁剪更新策略">
            <a:extLst xmlns:a="http://schemas.openxmlformats.org/drawingml/2006/main">
              <a:ext uri="{FF2B5EF4-FFF2-40B4-BE49-F238E27FC236}">
                <a16:creationId xmlns:a16="http://schemas.microsoft.com/office/drawing/2014/main" id="{ECC309A4-EF88-4AB5-87BD-94373381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rPr>
              <a:t>PPO 的优势估计与裁剪目标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4F7E71-0C01-448A-B593-C9404E7E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0"/>
          </a:solidFill>
          <a:ln xmlns:a="http://schemas.openxmlformats.org/drawingml/2006/main" w="0">
            <a:noFill/>
          </a:ln>
        </p:spPr>
      </p:sp>
      <p:sp>
        <p:nvSpPr>
          <p:cNvPr id="10" name="06">
            <a:extLst xmlns:a="http://schemas.openxmlformats.org/drawingml/2006/main">
              <a:ext uri="{FF2B5EF4-FFF2-40B4-BE49-F238E27FC236}">
                <a16:creationId xmlns:a16="http://schemas.microsoft.com/office/drawing/2014/main" id="{E65E375E-905C-4C30-BADA-8C496E2A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674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4" name="公式中首式展示非终止转移；自然终止取消自举，时间截断用最终观测自举。rollout 内多轮">
            <a:extLst xmlns:a="http://schemas.openxmlformats.org/drawingml/2006/main">
              <a:ext uri="{FF2B5EF4-FFF2-40B4-BE49-F238E27FC236}">
                <a16:creationId xmlns:a16="http://schemas.microsoft.com/office/drawing/2014/main" id="{A3CEAA1C-3ABF-44D2-8CC0-1024FF99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67475"/>
            <a:ext cx="1072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rPr>
              <a:t>首式为非终止转移；K 为当前有效轨迹剩余长度。自然终止取消自举，时间截断用最终观测自举；GAE 不跨重置累积。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2EA242-6020-46D9-87FC-46818165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62150"/>
            <a:ext cx="2609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0">
            <a:noFill/>
          </a:ln>
        </p:spPr>
      </p:sp>
      <p:sp>
        <p:nvSpPr>
          <p:cNvPr id="36" name="01  采集轨迹">
            <a:extLst xmlns:a="http://schemas.openxmlformats.org/drawingml/2006/main">
              <a:ext uri="{FF2B5EF4-FFF2-40B4-BE49-F238E27FC236}">
                <a16:creationId xmlns:a16="http://schemas.microsoft.com/office/drawing/2014/main" id="{A327A1C8-5F59-47FB-A164-0E7A359A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28825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01  采集轨迹</a:t>
            </a:r>
          </a:p>
        </p:txBody>
      </p:sp>
      <p:sp>
        <p:nvSpPr>
          <p:cNvPr id="37" name="16 环境 × 256 步">
            <a:extLst xmlns:a="http://schemas.openxmlformats.org/drawingml/2006/main">
              <a:ext uri="{FF2B5EF4-FFF2-40B4-BE49-F238E27FC236}">
                <a16:creationId xmlns:a16="http://schemas.microsoft.com/office/drawing/2014/main" id="{701AF642-24A5-4CE5-93D7-B9B64473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241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16 环境 × 256 步</a:t>
            </a:r>
          </a:p>
        </p:txBody>
      </p:sp>
      <p:sp>
        <p:nvSpPr>
          <p:cNvPr id="38" name="→">
            <a:extLst xmlns:a="http://schemas.openxmlformats.org/drawingml/2006/main">
              <a:ext uri="{FF2B5EF4-FFF2-40B4-BE49-F238E27FC236}">
                <a16:creationId xmlns:a16="http://schemas.microsoft.com/office/drawing/2014/main" id="{81C755B4-05F9-4FF5-9A53-062BF0A1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336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22D9F3-CBEA-452B-8DB8-09F79655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62150"/>
            <a:ext cx="2609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0">
            <a:noFill/>
          </a:ln>
        </p:spPr>
      </p:sp>
      <p:sp>
        <p:nvSpPr>
          <p:cNvPr id="40" name="02  固定旧策略量">
            <a:extLst xmlns:a="http://schemas.openxmlformats.org/drawingml/2006/main">
              <a:ext uri="{FF2B5EF4-FFF2-40B4-BE49-F238E27FC236}">
                <a16:creationId xmlns:a16="http://schemas.microsoft.com/office/drawing/2014/main" id="{A7BE66C0-ABC2-48CA-BEBE-53C437EB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28825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02  固定旧策略量</a:t>
            </a:r>
          </a:p>
        </p:txBody>
      </p:sp>
      <p:sp>
        <p:nvSpPr>
          <p:cNvPr id="41" name="概率、价值与 GAE">
            <a:extLst xmlns:a="http://schemas.openxmlformats.org/drawingml/2006/main">
              <a:ext uri="{FF2B5EF4-FFF2-40B4-BE49-F238E27FC236}">
                <a16:creationId xmlns:a16="http://schemas.microsoft.com/office/drawing/2014/main" id="{4D481544-BBBC-4D8A-ADC1-2FF83B50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241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概率、价值与 GAE</a:t>
            </a:r>
          </a:p>
        </p:txBody>
      </p:sp>
      <p:sp>
        <p:nvSpPr>
          <p:cNvPr id="42" name="→">
            <a:extLst xmlns:a="http://schemas.openxmlformats.org/drawingml/2006/main">
              <a:ext uri="{FF2B5EF4-FFF2-40B4-BE49-F238E27FC236}">
                <a16:creationId xmlns:a16="http://schemas.microsoft.com/office/drawing/2014/main" id="{D271FFFE-2933-4651-A05B-40C6C441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336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662468-C70E-40D6-BA81-BEC7800A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62150"/>
            <a:ext cx="2609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0">
            <a:noFill/>
          </a:ln>
        </p:spPr>
      </p:sp>
      <p:sp>
        <p:nvSpPr>
          <p:cNvPr id="44" name="03  小批量更新">
            <a:extLst xmlns:a="http://schemas.openxmlformats.org/drawingml/2006/main">
              <a:ext uri="{FF2B5EF4-FFF2-40B4-BE49-F238E27FC236}">
                <a16:creationId xmlns:a16="http://schemas.microsoft.com/office/drawing/2014/main" id="{0C614BF2-C481-411A-8359-CA116CAB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28825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03  小批量更新</a:t>
            </a:r>
          </a:p>
        </p:txBody>
      </p:sp>
      <p:sp>
        <p:nvSpPr>
          <p:cNvPr id="45" name="batch 256，最多 4 轮">
            <a:extLst xmlns:a="http://schemas.openxmlformats.org/drawingml/2006/main">
              <a:ext uri="{FF2B5EF4-FFF2-40B4-BE49-F238E27FC236}">
                <a16:creationId xmlns:a16="http://schemas.microsoft.com/office/drawing/2014/main" id="{307FD7FA-977E-4142-BE30-0B22D9FA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241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batch 256，最多 4 轮</a:t>
            </a:r>
          </a:p>
        </p:txBody>
      </p:sp>
      <p:sp>
        <p:nvSpPr>
          <p:cNvPr id="46" name="→">
            <a:extLst xmlns:a="http://schemas.openxmlformats.org/drawingml/2006/main">
              <a:ext uri="{FF2B5EF4-FFF2-40B4-BE49-F238E27FC236}">
                <a16:creationId xmlns:a16="http://schemas.microsoft.com/office/drawing/2014/main" id="{213AAF69-754E-4EC1-BBF1-4086327E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126DEB8-B4DE-42D3-81D4-B1B773FA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962150"/>
            <a:ext cx="2609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0">
            <a:noFill/>
          </a:ln>
        </p:spPr>
      </p:sp>
      <p:sp>
        <p:nvSpPr>
          <p:cNvPr id="48" name="04  重新采样">
            <a:extLst xmlns:a="http://schemas.openxmlformats.org/drawingml/2006/main">
              <a:ext uri="{FF2B5EF4-FFF2-40B4-BE49-F238E27FC236}">
                <a16:creationId xmlns:a16="http://schemas.microsoft.com/office/drawing/2014/main" id="{BFB72B1D-318C-411D-A0CC-10210014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028825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04  重新采样</a:t>
            </a:r>
          </a:p>
        </p:txBody>
      </p:sp>
      <p:sp>
        <p:nvSpPr>
          <p:cNvPr id="49" name="更新后采集新轨迹">
            <a:extLst xmlns:a="http://schemas.openxmlformats.org/drawingml/2006/main">
              <a:ext uri="{FF2B5EF4-FFF2-40B4-BE49-F238E27FC236}">
                <a16:creationId xmlns:a16="http://schemas.microsoft.com/office/drawing/2014/main" id="{07723D40-43F7-4A50-A355-1A852F2C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3241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更新后采集新轨迹</a:t>
            </a:r>
          </a:p>
        </p:txBody>
      </p:sp>
      <p:sp>
        <p:nvSpPr>
          <p:cNvPr id="50" name="GAE：分配延迟收益">
            <a:extLst xmlns:a="http://schemas.openxmlformats.org/drawingml/2006/main">
              <a:ext uri="{FF2B5EF4-FFF2-40B4-BE49-F238E27FC236}">
                <a16:creationId xmlns:a16="http://schemas.microsoft.com/office/drawing/2014/main" id="{97D01808-E166-4074-9426-36C5DF2E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098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GAE：分配延迟收益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MATH:delta">
                <a:extLst xmlns:a="http://schemas.openxmlformats.org/drawingml/2006/main">
                  <a:ext uri="{FF2B5EF4-FFF2-40B4-BE49-F238E27FC236}">
                    <a16:creationId xmlns:a16="http://schemas.microsoft.com/office/drawing/2014/main" id="{B36C25F5-92CF-4A32-A3F4-F4063CDCEE7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3875" y="3171825"/>
                <a:ext cx="6191250" cy="4572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 xmlns:a="http://schemas.openxmlformats.org/drawingml/2006/main">
                <a:pPr algn="l">
                  <a:defRPr sz="1950"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ml="http://www.w3.org/1998/Math/MathML">
                      <m:sSubSup>
                        <m:e>
                          <m:r>
                            <a:rPr lang="en-US" sz="195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</m:t>
                          </m:r>
                        </m:e>
                        <m:sub>
                          <m:r>
                            <a:rPr lang="en-US" sz="1658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  <m:sup>
                          <m:r>
                            <a:rPr lang="en-US" sz="1658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sup>
                      </m:sSubSup>
                      <m:r>
                        <a:rPr lang="en-US" sz="195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en-US" sz="195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1658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a:rPr lang="en-US" sz="195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+γ</m:t>
                      </m:r>
                      <m:sSub>
                        <m:e>
                          <m:r>
                            <a:rPr lang="en-US" sz="195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58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old</m:t>
                          </m:r>
                        </m:sub>
                      </m:sSub>
                      <m:r>
                        <a:rPr lang="en-US" sz="195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195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1658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t+1</m:t>
                          </m:r>
                        </m:sub>
                      </m:sSub>
                      <m:r>
                        <a:rPr lang="en-US" sz="195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  <m:r>
                        <a:rPr lang="en-US" sz="195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195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58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old</m:t>
                          </m:r>
                        </m:sub>
                      </m:sSub>
                      <m:r>
                        <a:rPr lang="en-US" sz="195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195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1658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a:rPr lang="en-US" sz="195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0051" name="MATH:delta">
                <a:extLst xmlns:a="http://schemas.openxmlformats.org/drawingml/2006/main">
                  <a:ext uri="{FF2B5EF4-FFF2-40B4-BE49-F238E27FC236}">
                    <a16:creationId xmlns:a16="http://schemas.microsoft.com/office/drawing/2014/main" id="{B36C25F5-92CF-4A32-A3F4-F4063CDCEE7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3875" y="3171825"/>
                <a:ext cx="6191250" cy="4572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 xmlns:a="http://schemas.openxmlformats.org/drawingml/2006/main">
                <a: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rPr>
                  <a:t>δᵛₜ = rₜ + γVold(sₜ₊₁) − Vold(sₜ)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MATH:gae">
                <a:extLst xmlns:a="http://schemas.openxmlformats.org/drawingml/2006/main">
                  <a:ext uri="{FF2B5EF4-FFF2-40B4-BE49-F238E27FC236}">
                    <a16:creationId xmlns:a16="http://schemas.microsoft.com/office/drawing/2014/main" id="{DB8CD08D-6429-4042-ABCC-E17C8838B7C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3875" y="3581400"/>
                <a:ext cx="6096000" cy="7429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 xmlns:a="http://schemas.openxmlformats.org/drawingml/2006/main">
                <a:pPr algn="l">
                  <a:defRPr sz="2025"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ml="http://www.w3.org/1998/Math/MathML"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2025">
                                  <a:solidFill>
                                    <a:srgbClr val="244B6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a:rPr lang="en-US" sz="1721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a:rPr lang="en-US" sz="2025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1"/>
                          <m:subHide m:val="off"/>
                          <m:supHide m:val="off"/>
                        </m:naryPr>
                        <m:sub>
                          <m:r>
                            <a:rPr lang="en-US" sz="1721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l=0</m:t>
                          </m:r>
                        </m:sub>
                        <m:sup>
                          <m:r>
                            <a:rPr lang="en-US" sz="1721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K−1</m:t>
                          </m:r>
                        </m:sup>
                        <m:e/>
                      </m:nary>
                      <m:sSup>
                        <m:e>
                          <m:r>
                            <a:rPr lang="en-US" sz="2025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(γλ)</m:t>
                          </m:r>
                        </m:e>
                        <m:sup>
                          <m:r>
                            <a:rPr lang="en-US" sz="1721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p>
                      </m:sSup>
                      <m:sSubSup>
                        <m:e>
                          <m:r>
                            <a:rPr lang="en-US" sz="2025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</m:t>
                          </m:r>
                        </m:e>
                        <m:sub>
                          <m:r>
                            <a:rPr lang="en-US" sz="1721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t+l</m:t>
                          </m:r>
                        </m:sub>
                        <m:sup>
                          <m:r>
                            <a:rPr lang="en-US" sz="1721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10052" name="MATH:gae">
                <a:extLst xmlns:a="http://schemas.openxmlformats.org/drawingml/2006/main">
                  <a:ext uri="{FF2B5EF4-FFF2-40B4-BE49-F238E27FC236}">
                    <a16:creationId xmlns:a16="http://schemas.microsoft.com/office/drawing/2014/main" id="{DB8CD08D-6429-4042-ABCC-E17C8838B7C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3875" y="3581400"/>
                <a:ext cx="6096000" cy="7429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 xmlns:a="http://schemas.openxmlformats.org/drawingml/2006/main">
                <a: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rPr>
                  <a:t>Âₜ = Σ (γλ)ˡ δᵛₜ₊ₗ</a:t>
                </a:r>
              </a:p>
            </p:txBody>
          </p:sp>
        </mc:Fallback>
      </mc:AlternateContent>
      <p:sp>
        <p:nvSpPr>
          <p:cNvPr id="53" name="γ = 0.995；λ = 0.98 / 0.99。&#10;衰减权重尺度约 40 / 67 步，跨度更长也">
            <a:extLst xmlns:a="http://schemas.openxmlformats.org/drawingml/2006/main">
              <a:ext uri="{FF2B5EF4-FFF2-40B4-BE49-F238E27FC236}">
                <a16:creationId xmlns:a16="http://schemas.microsoft.com/office/drawing/2014/main" id="{B6BB1ACD-CC2B-4F32-ADA8-528068D1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43425"/>
            <a:ext cx="619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γ = 0.995；λ = 0.98 / 0.99。</a:t>
            </a:r>
          </a:p>
          <a:p xmlns:a="http://schemas.openxmlformats.org/drawingml/2006/main">
            <a: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衰减权重尺度约 40 / 67 步，跨度更长也可能增加方差。</a:t>
            </a:r>
          </a:p>
        </p:txBody>
      </p:sp>
      <p:sp>
        <p:nvSpPr>
          <p:cNvPr id="54" name="概率比：新策略 / 旧策略">
            <a:extLst xmlns:a="http://schemas.openxmlformats.org/drawingml/2006/main">
              <a:ext uri="{FF2B5EF4-FFF2-40B4-BE49-F238E27FC236}">
                <a16:creationId xmlns:a16="http://schemas.microsoft.com/office/drawing/2014/main" id="{78F9B4BB-8957-4A37-AC3F-F20987D5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9875"/>
            <a:ext cx="4457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概率比：新策略 / 旧策略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MATH:ratio">
                <a:extLst xmlns:a="http://schemas.openxmlformats.org/drawingml/2006/main">
                  <a:ext uri="{FF2B5EF4-FFF2-40B4-BE49-F238E27FC236}">
                    <a16:creationId xmlns:a16="http://schemas.microsoft.com/office/drawing/2014/main" id="{90718346-D3B5-408B-BB63-99FD4553469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191375" y="3209925"/>
                <a:ext cx="4457700" cy="8763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 xmlns:a="http://schemas.openxmlformats.org/drawingml/2006/main">
                <a:pPr algn="l">
                  <a:defRPr sz="2100"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ml="http://www.w3.org/1998/Math/MathML">
                      <m:sSub>
                        <m:e>
                          <m:r>
                            <a:rPr lang="en-US" sz="210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ρ</m:t>
                          </m:r>
                        </m:e>
                        <m:sub>
                          <m:r>
                            <a:rPr lang="en-US" sz="1785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a:rPr lang="en-US" sz="210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(θ)</m:t>
                      </m:r>
                      <m:r>
                        <a:rPr lang="en-US" sz="210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2100">
                                  <a:solidFill>
                                    <a:srgbClr val="244B6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π</m:t>
                              </m:r>
                            </m:e>
                            <m:sub>
                              <m:r>
                                <a:rPr lang="en-US" sz="1785">
                                  <a:solidFill>
                                    <a:srgbClr val="244B6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sub>
                          </m:sSub>
                          <m:r>
                            <a:rPr lang="en-US" sz="210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</m:t>
                          </m:r>
                          <m:sSub>
                            <m:e>
                              <m:r>
                                <a:rPr lang="en-US" sz="2100">
                                  <a:solidFill>
                                    <a:srgbClr val="244B6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1785">
                                  <a:solidFill>
                                    <a:srgbClr val="244B6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10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|</m:t>
                          </m:r>
                          <m:sSub>
                            <m:e>
                              <m:r>
                                <a:rPr lang="en-US" sz="2100">
                                  <a:solidFill>
                                    <a:srgbClr val="244B6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1785">
                                  <a:solidFill>
                                    <a:srgbClr val="244B6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10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)</m:t>
                          </m:r>
                        </m:num>
                        <m:den>
                          <m:sSub>
                            <m:e>
                              <m:r>
                                <a:rPr lang="en-US" sz="2100">
                                  <a:solidFill>
                                    <a:srgbClr val="244B6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π</m:t>
                              </m:r>
                            </m:e>
                            <m:sub>
                              <m:sSub>
                                <m:e>
                                  <m:r>
                                    <a:rPr lang="en-US" sz="1785">
                                      <a:solidFill>
                                        <a:srgbClr val="244B6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θ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517">
                                      <a:solidFill>
                                        <a:srgbClr val="244B6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old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210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</m:t>
                          </m:r>
                          <m:sSub>
                            <m:e>
                              <m:r>
                                <a:rPr lang="en-US" sz="2100">
                                  <a:solidFill>
                                    <a:srgbClr val="244B6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1785">
                                  <a:solidFill>
                                    <a:srgbClr val="244B6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10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|</m:t>
                          </m:r>
                          <m:sSub>
                            <m:e>
                              <m:r>
                                <a:rPr lang="en-US" sz="2100">
                                  <a:solidFill>
                                    <a:srgbClr val="244B6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1785">
                                  <a:solidFill>
                                    <a:srgbClr val="244B6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10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0055" name="MATH:ratio">
                <a:extLst xmlns:a="http://schemas.openxmlformats.org/drawingml/2006/main">
                  <a:ext uri="{FF2B5EF4-FFF2-40B4-BE49-F238E27FC236}">
                    <a16:creationId xmlns:a16="http://schemas.microsoft.com/office/drawing/2014/main" id="{90718346-D3B5-408B-BB63-99FD4553469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191375" y="3209925"/>
                <a:ext cx="4457700" cy="8763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 xmlns:a="http://schemas.openxmlformats.org/drawingml/2006/main">
                <a: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rPr>
                  <a:t>ρₜ(θ) = πθ(aₜ|sₜ) / πθold(aₜ|sₜ)</a:t>
                </a:r>
              </a:p>
            </p:txBody>
          </p:sp>
        </mc:Fallback>
      </mc:AlternateContent>
      <p:sp>
        <p:nvSpPr>
          <p:cNvPr id="56" name="优势固定，用概率比衡量同一动作的变化。&#10;裁剪限制目标中的激进更新，&#10;并不保证每轮实际回报单调上升。">
            <a:extLst xmlns:a="http://schemas.openxmlformats.org/drawingml/2006/main">
              <a:ext uri="{FF2B5EF4-FFF2-40B4-BE49-F238E27FC236}">
                <a16:creationId xmlns:a16="http://schemas.microsoft.com/office/drawing/2014/main" id="{8063FB2C-2BF2-48C9-B58C-F5DF3627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38625"/>
            <a:ext cx="4457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优势固定，用概率比衡量同一动作的变化。</a:t>
            </a:r>
          </a:p>
          <a:p xmlns:a="http://schemas.openxmlformats.org/drawingml/2006/main">
            <a: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裁剪限制目标中的激进更新，</a:t>
            </a:r>
          </a:p>
          <a:p xmlns:a="http://schemas.openxmlformats.org/drawingml/2006/main">
            <a: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并不保证每轮实际回报单调上升。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960F520-D5C6-42A2-BF5A-BD35276D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24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0"/>
          </a:solidFill>
          <a:ln xmlns:a="http://schemas.openxmlformats.org/drawingml/2006/main" w="0">
            <a:noFill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MATH:clip">
                <a:extLst xmlns:a="http://schemas.openxmlformats.org/drawingml/2006/main">
                  <a:ext uri="{FF2B5EF4-FFF2-40B4-BE49-F238E27FC236}">
                    <a16:creationId xmlns:a16="http://schemas.microsoft.com/office/drawing/2014/main" id="{E62F0A9D-42DF-4B01-B828-91D2166B9C0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3875" y="5257800"/>
                <a:ext cx="11125200" cy="5048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 xmlns:a="http://schemas.openxmlformats.org/drawingml/2006/main">
                <a:pPr algn="l">
                  <a:defRPr sz="2100"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ml="http://www.w3.org/1998/Math/MathML">
                      <m:sSup>
                        <m:e>
                          <m:r>
                            <a:rPr lang="en-US" sz="210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785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clip</m:t>
                          </m:r>
                        </m:sup>
                      </m:sSup>
                      <m:r>
                        <a:rPr lang="en-US" sz="210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(θ)</m:t>
                      </m:r>
                      <m:r>
                        <a:rPr lang="en-US" sz="210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10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a:rPr lang="en-US" sz="210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sz="210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min</m:t>
                      </m:r>
                      <m:r>
                        <a:rPr lang="en-US" sz="210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10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ρ</m:t>
                          </m:r>
                        </m:e>
                        <m:sub>
                          <m:r>
                            <a:rPr lang="en-US" sz="1785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2100">
                                  <a:solidFill>
                                    <a:srgbClr val="244B6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a:rPr lang="en-US" sz="1785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a:rPr lang="en-US" sz="210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10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clip</m:t>
                      </m:r>
                      <m:r>
                        <a:rPr lang="en-US" sz="210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210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ρ</m:t>
                          </m:r>
                        </m:e>
                        <m:sub>
                          <m:r>
                            <a:rPr lang="en-US" sz="1785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a:rPr lang="en-US" sz="210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,1−ε,1+ε)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2100">
                                  <a:solidFill>
                                    <a:srgbClr val="244B6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a:rPr lang="en-US" sz="1785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a:rPr lang="en-US" sz="210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  <m:r>
                        <a:rPr lang="en-US" sz="210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0058" name="MATH:clip">
                <a:extLst xmlns:a="http://schemas.openxmlformats.org/drawingml/2006/main">
                  <a:ext uri="{FF2B5EF4-FFF2-40B4-BE49-F238E27FC236}">
                    <a16:creationId xmlns:a16="http://schemas.microsoft.com/office/drawing/2014/main" id="{E62F0A9D-42DF-4B01-B828-91D2166B9C0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3875" y="5257800"/>
                <a:ext cx="11125200" cy="5048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 xmlns:a="http://schemas.openxmlformats.org/drawingml/2006/main">
                <a:pPr algn="l">
                  <a:def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21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rPr>
                  <a:t>Lclip(θ) = E[min(ρₜÂₜ, clip(ρₜ,1−ε,1+ε)Âₜ)]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MATH:total">
                <a:extLst xmlns:a="http://schemas.openxmlformats.org/drawingml/2006/main">
                  <a:ext uri="{FF2B5EF4-FFF2-40B4-BE49-F238E27FC236}">
                    <a16:creationId xmlns:a16="http://schemas.microsoft.com/office/drawing/2014/main" id="{C8C433A2-E55F-4AF7-8338-261EC75CFD4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3875" y="5886450"/>
                <a:ext cx="5010150" cy="3810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 xmlns:a="http://schemas.openxmlformats.org/drawingml/2006/main">
                <a:pPr algn="l">
                  <a:defRPr sz="1875"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ml="http://www.w3.org/1998/Math/MathML">
                      <m:r>
                        <a:rPr lang="en-US" sz="1875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L=−</m:t>
                      </m:r>
                      <m:sSup>
                        <m:e>
                          <m:r>
                            <a:rPr lang="en-US" sz="1875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594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clip</m:t>
                          </m:r>
                        </m:sup>
                      </m:sSup>
                      <m:r>
                        <a:rPr lang="en-US" sz="1875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en-US" sz="1875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en-US" sz="1594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sub>
                      </m:sSub>
                      <m:sSub>
                        <m:e>
                          <m:r>
                            <a:rPr lang="en-US" sz="1875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en-US" sz="1594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sub>
                      </m:sSub>
                      <m:r>
                        <a:rPr lang="en-US" sz="1875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en-US" sz="1875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en-US" sz="1594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sub>
                      </m:sSub>
                      <m:r>
                        <a:rPr lang="en-US" sz="1875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0059" name="MATH:total">
                <a:extLst xmlns:a="http://schemas.openxmlformats.org/drawingml/2006/main">
                  <a:ext uri="{FF2B5EF4-FFF2-40B4-BE49-F238E27FC236}">
                    <a16:creationId xmlns:a16="http://schemas.microsoft.com/office/drawing/2014/main" id="{C8C433A2-E55F-4AF7-8338-261EC75CFD4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3875" y="5886450"/>
                <a:ext cx="5010150" cy="3810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 xmlns:a="http://schemas.openxmlformats.org/drawingml/2006/main">
                <a: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rPr>
                  <a:t>L = −Lclip + cV LV − cH H</a:t>
                </a:r>
              </a:p>
            </p:txBody>
          </p:sp>
        </mc:Fallback>
      </mc:AlternateContent>
      <p:sp>
        <p:nvSpPr>
          <p:cNvPr id="60" name="策略改进  +  价值回归  +  熵探索">
            <a:extLst xmlns:a="http://schemas.openxmlformats.org/drawingml/2006/main">
              <a:ext uri="{FF2B5EF4-FFF2-40B4-BE49-F238E27FC236}">
                <a16:creationId xmlns:a16="http://schemas.microsoft.com/office/drawing/2014/main" id="{7F8A11CD-85CC-47C0-9423-DB919BBC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59245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策略改进  +  价值回归  +  熵探索</a:t>
            </a:r>
          </a:p>
        </p:txBody>
      </p:sp>
    </p:spTree>
    <p:extLst>
      <p:ext uri="{BB962C8B-B14F-4D97-AF65-F5344CB8AC3E}">
        <p14:creationId xmlns:p14="http://schemas.microsoft.com/office/powerpoint/2010/main" val="19479186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1610DE64-DEAF-45B3-893E-35D606AB8D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551661cadea4e51">
            <a:alphaModFix amt="1800"/>
          </a:blip>
          <a:srcRect xmlns:a="http://schemas.openxmlformats.org/drawingml/2006/main" l="0" t="4939" r="28793" b="22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1601" y="902926"/>
            <a:ext cx="9550400" cy="5955074"/>
          </a:xfrm>
          <a:prstGeom xmlns:a="http://schemas.openxmlformats.org/drawingml/2006/main" prst="rect">
            <a:avLst/>
          </a:prstGeom>
        </p:spPr>
      </p:pic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6E1C4092-F19C-4523-A381-4100C195F2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7c33d0a9c48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285750"/>
            <a:ext cx="2628900" cy="600075"/>
          </a:xfrm>
          <a:prstGeom xmlns:a="http://schemas.openxmlformats.org/drawingml/2006/main" prst="rect">
            <a:avLst/>
          </a:prstGeom>
        </p:spPr>
      </p:pic>
      <p:sp>
        <p:nvSpPr>
          <p:cNvPr id="8" name="PPO 工程设计：分离梯度预算与有界 KL 反馈">
            <a:extLst xmlns:a="http://schemas.openxmlformats.org/drawingml/2006/main">
              <a:ext uri="{FF2B5EF4-FFF2-40B4-BE49-F238E27FC236}">
                <a16:creationId xmlns:a16="http://schemas.microsoft.com/office/drawing/2014/main" id="{E29A4BB5-98A7-4FC8-92E4-51B231B9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rPr>
              <a:t>PPO 的稳定性设计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A321C-92A6-4B44-8D17-A0403483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0"/>
          </a:solidFill>
          <a:ln xmlns:a="http://schemas.openxmlformats.org/drawingml/2006/main" w="0">
            <a:noFill/>
          </a:ln>
        </p:spPr>
      </p:sp>
      <p:sp>
        <p:nvSpPr>
          <p:cNvPr id="10" name="07">
            <a:extLst xmlns:a="http://schemas.openxmlformats.org/drawingml/2006/main">
              <a:ext uri="{FF2B5EF4-FFF2-40B4-BE49-F238E27FC236}">
                <a16:creationId xmlns:a16="http://schemas.microsoft.com/office/drawing/2014/main" id="{C375FE8A-0FFE-48F2-8E52-186A515D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674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A3289C-CACD-43E0-B4C1-BB7E8E92969D}"/>
              </a:ext>
            </a:extLst>
          </p:cNvPr>
          <p:cNvGraphicFramePr/>
          <p:nvPr/>
        </p:nvGraphicFramePr>
        <p:xfrm>
          <a:off xmlns:a="http://schemas.openxmlformats.org/drawingml/2006/main" x="523875" y="1981200"/>
          <a:ext xmlns:a="http://schemas.openxmlformats.org/drawingml/2006/main" cx="5791200" cy="3514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124200"/>
              </a:tblGrid>
              <a:tr h="502104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GAE / KL 阶段共同设置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实际配置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</a:tr>
              <a:tr h="502104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采样 / 小批量 / epoch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4096 / 256 / 4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104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基础学习率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2×10⁻⁵ 线性退火至 5×10⁻⁶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104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概率比 clip / 熵系数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 至 0.03 / 0.0003 至 0.0001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104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 / 价值梯度上限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 / 1.0，分别裁剪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104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价值损失 / 权重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2×Huber(δ=10) / 0.25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101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优化器 / 奖励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匹配重置 Adam / 原始击砖奖励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本页为项目实现变体，不等同于原论文的自适应 KL 惩罚目标；源文件：balanced_pp">
            <a:extLst xmlns:a="http://schemas.openxmlformats.org/drawingml/2006/main">
              <a:ext uri="{FF2B5EF4-FFF2-40B4-BE49-F238E27FC236}">
                <a16:creationId xmlns:a16="http://schemas.microsoft.com/office/drawing/2014/main" id="{C3D7CD7B-1252-473B-BAD2-5F1C7C12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67475"/>
            <a:ext cx="1072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rPr>
              <a:t>本页为项目实现变体，不等同于原论文的自适应 KL 惩罚目标；源文件：balanced_ppo.py、adaptive_kl_ppo.py。</a:t>
            </a:r>
          </a:p>
        </p:txBody>
      </p:sp>
      <p:sp>
        <p:nvSpPr>
          <p:cNvPr id="19" name="Balanced：独立网络与梯度预算">
            <a:extLst xmlns:a="http://schemas.openxmlformats.org/drawingml/2006/main">
              <a:ext uri="{FF2B5EF4-FFF2-40B4-BE49-F238E27FC236}">
                <a16:creationId xmlns:a16="http://schemas.microsoft.com/office/drawing/2014/main" id="{0DAA8D13-5A46-441F-8723-E4BA95F0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62625"/>
            <a:ext cx="5791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Balanced：独立网络与梯度预算</a:t>
            </a:r>
          </a:p>
        </p:txBody>
      </p:sp>
      <p:sp>
        <p:nvSpPr>
          <p:cNvPr id="20" name="KL 反馈只调整下一轮策略学习率">
            <a:extLst xmlns:a="http://schemas.openxmlformats.org/drawingml/2006/main">
              <a:ext uri="{FF2B5EF4-FFF2-40B4-BE49-F238E27FC236}">
                <a16:creationId xmlns:a16="http://schemas.microsoft.com/office/drawing/2014/main" id="{9EE6048E-B710-4052-9D59-8830840F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028825"/>
            <a:ext cx="487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KL 反馈只调整下一轮策略学习率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MATH:rate">
                <a:extLst xmlns:a="http://schemas.openxmlformats.org/drawingml/2006/main">
                  <a:ext uri="{FF2B5EF4-FFF2-40B4-BE49-F238E27FC236}">
                    <a16:creationId xmlns:a16="http://schemas.microsoft.com/office/drawing/2014/main" id="{C0738B1F-1C9C-48F2-922F-579F3C0F0A6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772275" y="2505075"/>
                <a:ext cx="4876800" cy="5048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 xmlns:a="http://schemas.openxmlformats.org/drawingml/2006/main">
                <a:pPr algn="l">
                  <a:defRPr sz="2025"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ml="http://www.w3.org/1998/Math/MathML">
                      <m:sSub>
                        <m:e>
                          <m:r>
                            <a:rPr lang="en-US" sz="2025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η</m:t>
                          </m:r>
                        </m:e>
                        <m:sub>
                          <m:r>
                            <a:rPr lang="en-US" sz="1721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</m:sub>
                      </m:sSub>
                      <m:r>
                        <a:rPr lang="en-US" sz="2025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=m</m:t>
                      </m:r>
                      <m:sSub>
                        <m:e>
                          <m:r>
                            <a:rPr lang="en-US" sz="2025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721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base</m:t>
                          </m:r>
                        </m:sub>
                      </m:sSub>
                      <m:r>
                        <a:rPr lang="en-US" sz="2025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,  </m:t>
                      </m:r>
                      <m:sSub>
                        <m:e>
                          <m:r>
                            <a:rPr lang="en-US" sz="2025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η</m:t>
                          </m:r>
                        </m:e>
                        <m:sub>
                          <m:r>
                            <a:rPr lang="en-US" sz="1721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sub>
                      </m:sSub>
                      <m:r>
                        <a:rPr lang="en-US" sz="2025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en-US" sz="2025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721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base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0021" name="MATH:rate">
                <a:extLst xmlns:a="http://schemas.openxmlformats.org/drawingml/2006/main">
                  <a:ext uri="{FF2B5EF4-FFF2-40B4-BE49-F238E27FC236}">
                    <a16:creationId xmlns:a16="http://schemas.microsoft.com/office/drawing/2014/main" id="{C0738B1F-1C9C-48F2-922F-579F3C0F0A6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772275" y="2505075"/>
                <a:ext cx="4876800" cy="5048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 xmlns:a="http://schemas.openxmlformats.org/drawingml/2006/main">
                <a: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rPr>
                  <a:t>ηπ = mηbase，ηV = ηbase</a:t>
                </a:r>
              </a:p>
            </p:txBody>
          </p:sp>
        </mc:Fallback>
      </mc:AlternateContent>
      <p:sp>
        <p:nvSpPr>
          <p:cNvPr id="22" name="观测：整轮更新后的采样 KL，EMA 权重 0.2。&#10;目标：0.0005；阈值为目标 ÷1.5 / ">
            <a:extLst xmlns:a="http://schemas.openxmlformats.org/drawingml/2006/main">
              <a:ext uri="{FF2B5EF4-FFF2-40B4-BE49-F238E27FC236}">
                <a16:creationId xmlns:a16="http://schemas.microsoft.com/office/drawing/2014/main" id="{491FCC4E-7E28-48BA-90B7-6DA81924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238500"/>
            <a:ext cx="4876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观测：整轮更新后的采样 KL，EMA 权重 0.2。</a:t>
            </a:r>
          </a:p>
          <a:p xmlns:a="http://schemas.openxmlformats.org/drawingml/2006/main">
            <a: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目标：0.0005；阈值为目标 ÷1.5 / ×1.5。</a:t>
            </a:r>
          </a:p>
          <a:p xmlns:a="http://schemas.openxmlformats.org/drawingml/2006/main">
            <a: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调整：偏低 ×1.1，偏高 ÷1.1。</a:t>
            </a:r>
          </a:p>
          <a:p xmlns:a="http://schemas.openxmlformats.org/drawingml/2006/main">
            <a: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边界：m ∈ [0.5, 2]；瞬时超界优先下调。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9B8C4A-A140-48E8-8DB9-44085723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69582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0"/>
          </a:solidFill>
          <a:ln xmlns:a="http://schemas.openxmlformats.org/drawingml/2006/main" w="0">
            <a:noFill/>
          </a:ln>
        </p:spPr>
      </p:sp>
      <p:sp>
        <p:nvSpPr>
          <p:cNvPr id="24" name="匹配对照">
            <a:extLst xmlns:a="http://schemas.openxmlformats.org/drawingml/2006/main">
              <a:ext uri="{FF2B5EF4-FFF2-40B4-BE49-F238E27FC236}">
                <a16:creationId xmlns:a16="http://schemas.microsoft.com/office/drawing/2014/main" id="{9860A3FE-0FA6-4638-80C0-4CCB8516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886325"/>
            <a:ext cx="487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匹配对照</a:t>
            </a:r>
          </a:p>
        </p:txBody>
      </p:sp>
      <p:sp>
        <p:nvSpPr>
          <p:cNvPr id="25" name="关闭反馈、固定 m = 1；其余实现保持一致。&#10;当前更新另有 KL 保护：0.0075 的 1.5 ">
            <a:extLst xmlns:a="http://schemas.openxmlformats.org/drawingml/2006/main">
              <a:ext uri="{FF2B5EF4-FFF2-40B4-BE49-F238E27FC236}">
                <a16:creationId xmlns:a16="http://schemas.microsoft.com/office/drawing/2014/main" id="{5930B3D1-0368-40E0-938C-C79BA4BA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5286375"/>
            <a:ext cx="4876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关闭反馈、固定 m = 1；其余实现保持一致。</a:t>
            </a:r>
          </a:p>
          <a:p xmlns:a="http://schemas.openxmlformats.org/drawingml/2006/main">
            <a: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当前更新另有 KL 保护：0.0075 的 1.5 倍停更。</a:t>
            </a:r>
          </a:p>
          <a:p xmlns:a="http://schemas.openxmlformats.org/drawingml/2006/main">
            <a: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GAE / KL 两轮均不启用额外价值拟合。</a:t>
            </a:r>
          </a:p>
        </p:txBody>
      </p:sp>
    </p:spTree>
    <p:extLst>
      <p:ext uri="{BB962C8B-B14F-4D97-AF65-F5344CB8AC3E}">
        <p14:creationId xmlns:p14="http://schemas.microsoft.com/office/powerpoint/2010/main" val="210329466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AE6FFC7B-C171-49BA-86EE-C85B453864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7a1723ffb2426c">
            <a:alphaModFix amt="1800"/>
          </a:blip>
          <a:srcRect xmlns:a="http://schemas.openxmlformats.org/drawingml/2006/main" l="0" t="4939" r="28793" b="22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1601" y="902926"/>
            <a:ext cx="9550400" cy="5955074"/>
          </a:xfrm>
          <a:prstGeom xmlns:a="http://schemas.openxmlformats.org/drawingml/2006/main" prst="rect">
            <a:avLst/>
          </a:prstGeom>
        </p:spPr>
      </p:pic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2ACFE34A-FA41-431F-A701-842F3209F5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df041180a47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285750"/>
            <a:ext cx="2628900" cy="600075"/>
          </a:xfrm>
          <a:prstGeom xmlns:a="http://schemas.openxmlformats.org/drawingml/2006/main" prst="rect">
            <a:avLst/>
          </a:prstGeom>
        </p:spPr>
      </p:pic>
      <p:sp>
        <p:nvSpPr>
          <p:cNvPr id="8" name="实验路线：DQN 分支诊断与 PPO 逐轮对照">
            <a:extLst xmlns:a="http://schemas.openxmlformats.org/drawingml/2006/main">
              <a:ext uri="{FF2B5EF4-FFF2-40B4-BE49-F238E27FC236}">
                <a16:creationId xmlns:a16="http://schemas.microsoft.com/office/drawing/2014/main" id="{80A7014C-487B-456A-8FA1-6E04F487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rPr>
              <a:t>分阶段实验与对照路线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9308B-D23B-4080-917E-382BEC99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0"/>
          </a:solidFill>
          <a:ln xmlns:a="http://schemas.openxmlformats.org/drawingml/2006/main" w="0">
            <a:noFill/>
          </a:ln>
        </p:spPr>
      </p:sp>
      <p:sp>
        <p:nvSpPr>
          <p:cNvPr id="10" name="08">
            <a:extLst xmlns:a="http://schemas.openxmlformats.org/drawingml/2006/main">
              <a:ext uri="{FF2B5EF4-FFF2-40B4-BE49-F238E27FC236}">
                <a16:creationId xmlns:a16="http://schemas.microsoft.com/office/drawing/2014/main" id="{6F3729C8-E5B9-47B0-9DE5-B68DAE8C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674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11" name="DQN：围绕回退的分支诊断">
            <a:extLst xmlns:a="http://schemas.openxmlformats.org/drawingml/2006/main">
              <a:ext uri="{FF2B5EF4-FFF2-40B4-BE49-F238E27FC236}">
                <a16:creationId xmlns:a16="http://schemas.microsoft.com/office/drawing/2014/main" id="{FD9EFDD6-20B0-4940-92C7-0603EBC7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02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DQN：围绕回退的分支诊断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7F2B8-D709-4E6A-AABE-EA21FBF4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14600"/>
            <a:ext cx="3524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</a:ln>
        </p:spPr>
      </p:sp>
      <p:sp>
        <p:nvSpPr>
          <p:cNvPr id="13" name="基础 500k">
            <a:extLst xmlns:a="http://schemas.openxmlformats.org/drawingml/2006/main">
              <a:ext uri="{FF2B5EF4-FFF2-40B4-BE49-F238E27FC236}">
                <a16:creationId xmlns:a16="http://schemas.microsoft.com/office/drawing/2014/main" id="{31D43A97-122A-4810-80E0-EF289D20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38425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基础 500k</a:t>
            </a:r>
          </a:p>
        </p:txBody>
      </p:sp>
      <p:sp>
        <p:nvSpPr>
          <p:cNvPr id="14" name="训练种子 42&#10;选 350k 检查点">
            <a:extLst xmlns:a="http://schemas.openxmlformats.org/drawingml/2006/main">
              <a:ext uri="{FF2B5EF4-FFF2-40B4-BE49-F238E27FC236}">
                <a16:creationId xmlns:a16="http://schemas.microsoft.com/office/drawing/2014/main" id="{951FF6BA-F602-41A9-9C23-80FF009E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289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rPr>
              <a:t>训练种子 42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rPr>
              <a:t>选 350k 检查点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627F52-F5EA-4749-89E6-F770D1E1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981325"/>
            <a:ext cx="161925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598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798410-1941-4802-8C69-D8925DEA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14600"/>
            <a:ext cx="3524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</a:ln>
        </p:spPr>
      </p:sp>
      <p:sp>
        <p:nvSpPr>
          <p:cNvPr id="17" name="续训 +200k">
            <a:extLst xmlns:a="http://schemas.openxmlformats.org/drawingml/2006/main">
              <a:ext uri="{FF2B5EF4-FFF2-40B4-BE49-F238E27FC236}">
                <a16:creationId xmlns:a16="http://schemas.microsoft.com/office/drawing/2014/main" id="{167D12AE-0C47-45A7-AA3F-3AB628A7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638425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续训 +200k</a:t>
            </a:r>
          </a:p>
        </p:txBody>
      </p:sp>
      <p:sp>
        <p:nvSpPr>
          <p:cNvPr id="18" name="前 20k 重建回放&#10;选 +25k 最佳">
            <a:extLst xmlns:a="http://schemas.openxmlformats.org/drawingml/2006/main">
              <a:ext uri="{FF2B5EF4-FFF2-40B4-BE49-F238E27FC236}">
                <a16:creationId xmlns:a16="http://schemas.microsoft.com/office/drawing/2014/main" id="{C526BED8-4D7F-46B2-BF65-126A6CCD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0289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rPr>
              <a:t>前 20k 重建回放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rPr>
              <a:t>选 +25k 最佳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80910A-CB79-4FBB-8041-14BC25E4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981325"/>
            <a:ext cx="161925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598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54E20B-F16A-400C-AC87-061C3E96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514600"/>
            <a:ext cx="3524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</a:ln>
        </p:spPr>
      </p:sp>
      <p:sp>
        <p:nvSpPr>
          <p:cNvPr id="21" name="两条恢复分支">
            <a:extLst xmlns:a="http://schemas.openxmlformats.org/drawingml/2006/main">
              <a:ext uri="{FF2B5EF4-FFF2-40B4-BE49-F238E27FC236}">
                <a16:creationId xmlns:a16="http://schemas.microsoft.com/office/drawing/2014/main" id="{B71DA7F7-8875-4E1C-BE6F-5CDA3042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638425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两条恢复分支</a:t>
            </a:r>
          </a:p>
        </p:txBody>
      </p:sp>
      <p:sp>
        <p:nvSpPr>
          <p:cNvPr id="22" name="3 步 / 1 步，回放 150k&#10;各实际 +50k 后早停">
            <a:extLst xmlns:a="http://schemas.openxmlformats.org/drawingml/2006/main">
              <a:ext uri="{FF2B5EF4-FFF2-40B4-BE49-F238E27FC236}">
                <a16:creationId xmlns:a16="http://schemas.microsoft.com/office/drawing/2014/main" id="{7CBE2572-CAB7-49DD-A5A6-8FEE30DE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0289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rPr>
              <a:t>3 步 / 1 步，回放 150k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rPr>
              <a:t>各实际 +50k 后早停</a:t>
            </a:r>
          </a:p>
        </p:txBody>
      </p:sp>
      <p:sp>
        <p:nvSpPr>
          <p:cNvPr id="23" name="PPO：逐轮改动，设置同轮对照">
            <a:extLst xmlns:a="http://schemas.openxmlformats.org/drawingml/2006/main">
              <a:ext uri="{FF2B5EF4-FFF2-40B4-BE49-F238E27FC236}">
                <a16:creationId xmlns:a16="http://schemas.microsoft.com/office/drawing/2014/main" id="{6A710F67-4942-47AF-B22B-1902A861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19525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rPr>
              <a:t>PPO：逐轮改动，设置同轮对照</a:t>
            </a:r>
          </a:p>
        </p:txBody>
      </p:sp>
      <p:graphicFrame>
        <p:nvGraphicFrame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3D3A15-744A-4289-9DC4-C2D31DB25FD4}"/>
              </a:ext>
            </a:extLst>
          </p:cNvPr>
          <p:cNvGraphicFramePr/>
          <p:nvPr/>
        </p:nvGraphicFramePr>
        <p:xfrm>
          <a:off xmlns:a="http://schemas.openxmlformats.org/drawingml/2006/main" x="523875" y="4238625"/>
          <a:ext xmlns:a="http://schemas.openxmlformats.org/drawingml/2006/main" cx="11125200" cy="1971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5686425"/>
                <a:gridCol w="3724275"/>
              </a:tblGrid>
              <a:tr h="492919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研究改动与对照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重复与预算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</a:tr>
              <a:tr h="492919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基线及探索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 PPO；续训、长回报 / 奖励、Balanced、双学习率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各轮使用自己的起点与测试集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2919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GAE 对照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 Balanced 起点，λ=0.99 对 λ=0.98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seed=47，各新增 503808 步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2918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KL 反馈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从开发选中的 λ=0.98 冻结副本开始，反馈开 / 关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seed=48/49/50，各一对；</a:t>
                      </a:r>
                      <a:b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</a:b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每次 503808 步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DQN 累计执行 800k 步包含分支；KL 为共享起点的 3 次配对续训，不是 3 次从">
            <a:extLst xmlns:a="http://schemas.openxmlformats.org/drawingml/2006/main">
              <a:ext uri="{FF2B5EF4-FFF2-40B4-BE49-F238E27FC236}">
                <a16:creationId xmlns:a16="http://schemas.microsoft.com/office/drawing/2014/main" id="{79B60CFF-B247-4E7E-9B0B-0CFE0692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67475"/>
            <a:ext cx="1072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rPr>
              <a:t>DQN 累计执行 800k 步包含分支；KL 为共享起点的 3 次配对续训，不是 3 次从零训练。不同阶段、不同测试集不拼成一条学习曲线。</a:t>
            </a:r>
          </a:p>
        </p:txBody>
      </p:sp>
    </p:spTree>
    <p:extLst>
      <p:ext uri="{BB962C8B-B14F-4D97-AF65-F5344CB8AC3E}">
        <p14:creationId xmlns:p14="http://schemas.microsoft.com/office/powerpoint/2010/main" val="74613306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4FC2552E-258C-4E45-A3A6-160FB69264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439b447b54f4b8e">
            <a:alphaModFix amt="1800"/>
          </a:blip>
          <a:srcRect xmlns:a="http://schemas.openxmlformats.org/drawingml/2006/main" l="0" t="4939" r="28793" b="22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1601" y="902926"/>
            <a:ext cx="9550400" cy="5955074"/>
          </a:xfrm>
          <a:prstGeom xmlns:a="http://schemas.openxmlformats.org/drawingml/2006/main" prst="rect">
            <a:avLst/>
          </a:prstGeom>
        </p:spPr>
      </p:pic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DF8CF0AC-2CDF-4043-8E3D-6563D659FD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161ce7869b4a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285750"/>
            <a:ext cx="2628900" cy="600075"/>
          </a:xfrm>
          <a:prstGeom xmlns:a="http://schemas.openxmlformats.org/drawingml/2006/main" prst="rect">
            <a:avLst/>
          </a:prstGeom>
        </p:spPr>
      </p:pic>
      <p:sp>
        <p:nvSpPr>
          <p:cNvPr id="8" name="DQN 结果：中间检查点优于训练终点">
            <a:extLst xmlns:a="http://schemas.openxmlformats.org/drawingml/2006/main">
              <a:ext uri="{FF2B5EF4-FFF2-40B4-BE49-F238E27FC236}">
                <a16:creationId xmlns:a16="http://schemas.microsoft.com/office/drawing/2014/main" id="{AB756BA4-5A8C-4B40-916B-FFC49745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rPr>
              <a:t>DQN：继续训练出现性能回退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717AE-EEDA-4322-BD97-81763A51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0"/>
          </a:solidFill>
          <a:ln xmlns:a="http://schemas.openxmlformats.org/drawingml/2006/main" w="0">
            <a:noFill/>
          </a:ln>
        </p:spPr>
      </p:sp>
      <p:sp>
        <p:nvSpPr>
          <p:cNvPr id="10" name="09">
            <a:extLst xmlns:a="http://schemas.openxmlformats.org/drawingml/2006/main">
              <a:ext uri="{FF2B5EF4-FFF2-40B4-BE49-F238E27FC236}">
                <a16:creationId xmlns:a16="http://schemas.microsoft.com/office/drawing/2014/main" id="{B672969A-8E5C-41C6-9FD1-EBDD5A85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674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11" name="基础阶段开发均分（20 局 / 节点）">
            <a:extLst xmlns:a="http://schemas.openxmlformats.org/drawingml/2006/main">
              <a:ext uri="{FF2B5EF4-FFF2-40B4-BE49-F238E27FC236}">
                <a16:creationId xmlns:a16="http://schemas.microsoft.com/office/drawing/2014/main" id="{B1429935-DAE4-4C93-AF94-0414268E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9775"/>
            <a:ext cx="5334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基础阶段开发均分（20 局 / 节点）</a:t>
            </a:r>
          </a:p>
        </p:txBody>
      </p:sp>
      <p:sp>
        <p:nvSpPr>
          <p:cNvPr id="12" name="续训阶段开发均分（50 局 / 节点）">
            <a:extLst xmlns:a="http://schemas.openxmlformats.org/drawingml/2006/main">
              <a:ext uri="{FF2B5EF4-FFF2-40B4-BE49-F238E27FC236}">
                <a16:creationId xmlns:a16="http://schemas.microsoft.com/office/drawing/2014/main" id="{A4E80065-B181-4669-BF46-8E192AF5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5362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rPr>
              <a:t>续训阶段开发均分（50 局 / 节点）</a:t>
            </a:r>
          </a:p>
        </p:txBody>
      </p:sp>
      <p:graphicFrame>
        <p:nvGraphicFramePr>
          <p:cNvPr id="13" name="Chart">
            <a:extLst xmlns:a="http://schemas.openxmlformats.org/drawingml/2006/main">
              <a:ext uri="{FF2B5EF4-FFF2-40B4-BE49-F238E27FC236}">
                <a16:creationId xmlns:a16="http://schemas.microsoft.com/office/drawing/2014/main" id="{B9CC14AB-C600-4155-A801-7F338D3D9CE5}"/>
              </a:ext>
            </a:extLst>
          </p:cNvPr>
          <p:cNvGraphicFramePr/>
          <p:nvPr/>
        </p:nvGraphicFramePr>
        <p:xfrm>
          <a:off xmlns:a="http://schemas.openxmlformats.org/drawingml/2006/main" x="523875" y="2400300"/>
          <a:ext xmlns:a="http://schemas.openxmlformats.org/drawingml/2006/main" cx="53149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34b0bfe3b446ad"/>
          </a:graphicData>
        </a:graphic>
      </p:graphicFrame>
      <p:graphicFrame>
        <p:nvGraphicFramePr>
          <p:cNvPr id="14" name="Chart">
            <a:extLst xmlns:a="http://schemas.openxmlformats.org/drawingml/2006/main">
              <a:ext uri="{FF2B5EF4-FFF2-40B4-BE49-F238E27FC236}">
                <a16:creationId xmlns:a16="http://schemas.microsoft.com/office/drawing/2014/main" id="{43DA6B57-DD3C-454F-A6F2-78144461CC48}"/>
              </a:ext>
            </a:extLst>
          </p:cNvPr>
          <p:cNvGraphicFramePr/>
          <p:nvPr/>
        </p:nvGraphicFramePr>
        <p:xfrm>
          <a:off xmlns:a="http://schemas.openxmlformats.org/drawingml/2006/main" x="6286500" y="2400300"/>
          <a:ext xmlns:a="http://schemas.openxmlformats.org/drawingml/2006/main" cx="5362575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1c48c725294306"/>
          </a:graphicData>
        </a:graphic>
      </p:graphicFrame>
      <p:sp>
        <p:nvSpPr>
          <p:cNvPr id="15" name="本阶段决策步 / 千步">
            <a:extLst xmlns:a="http://schemas.openxmlformats.org/drawingml/2006/main">
              <a:ext uri="{FF2B5EF4-FFF2-40B4-BE49-F238E27FC236}">
                <a16:creationId xmlns:a16="http://schemas.microsoft.com/office/drawing/2014/main" id="{69B5179B-CD5D-40C4-83AA-664A843B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625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35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35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35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35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35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35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35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35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35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rPr>
              <a:t>本阶段决策步 / 千步</a:t>
            </a:r>
          </a:p>
        </p:txBody>
      </p:sp>
      <p:sp>
        <p:nvSpPr>
          <p:cNvPr id="16" name="本阶段新增决策步 / 千步">
            <a:extLst xmlns:a="http://schemas.openxmlformats.org/drawingml/2006/main">
              <a:ext uri="{FF2B5EF4-FFF2-40B4-BE49-F238E27FC236}">
                <a16:creationId xmlns:a16="http://schemas.microsoft.com/office/drawing/2014/main" id="{34B8554D-E19B-408C-B1CF-3DE93F90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9625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35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35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35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35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35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35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35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35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35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rPr>
              <a:t>本阶段新增决策步 / 千步</a:t>
            </a:r>
          </a:p>
        </p:txBody>
      </p:sp>
      <p:sp>
        <p:nvSpPr>
          <p:cNvPr id="17" name="350k：174.00；500k：133.30">
            <a:extLst xmlns:a="http://schemas.openxmlformats.org/drawingml/2006/main">
              <a:ext uri="{FF2B5EF4-FFF2-40B4-BE49-F238E27FC236}">
                <a16:creationId xmlns:a16="http://schemas.microsoft.com/office/drawing/2014/main" id="{1C265B13-A028-4D38-AA18-98937DEF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05425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350k：174.00；500k：133.30</a:t>
            </a:r>
          </a:p>
        </p:txBody>
      </p:sp>
      <p:sp>
        <p:nvSpPr>
          <p:cNvPr id="18" name="25k：283.48；200k：113.12">
            <a:extLst xmlns:a="http://schemas.openxmlformats.org/drawingml/2006/main">
              <a:ext uri="{FF2B5EF4-FFF2-40B4-BE49-F238E27FC236}">
                <a16:creationId xmlns:a16="http://schemas.microsoft.com/office/drawing/2014/main" id="{36DC11FB-6592-4A9E-8049-C7819C16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05425"/>
            <a:ext cx="5362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rPr>
              <a:t>25k：283.48；200k：113.12</a:t>
            </a:r>
          </a:p>
        </p:txBody>
      </p:sp>
      <p:sp>
        <p:nvSpPr>
          <p:cNvPr id="19" name="候选 50 局复核选择 350k，均分 237.68。&#10;两条恢复终点 187.78 / 2">
            <a:extLst xmlns:a="http://schemas.openxmlformats.org/drawingml/2006/main">
              <a:ext uri="{FF2B5EF4-FFF2-40B4-BE49-F238E27FC236}">
                <a16:creationId xmlns:a16="http://schemas.microsoft.com/office/drawing/2014/main" id="{B54E4B28-C145-4586-AFE0-280A8179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72150"/>
            <a:ext cx="5334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7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7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7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7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7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7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7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7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7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候选 50 局复核选择 350k，均分 237.68。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两条恢复终点 187.78 / 216.94，均未超过起点。</a:t>
            </a:r>
          </a:p>
        </p:txBody>
      </p:sp>
      <p:sp>
        <p:nvSpPr>
          <p:cNvPr id="20" name="同 30 个开发开局复测：260.27 对 122.40。&#10;最佳模型胜出 28/30 局，">
            <a:extLst xmlns:a="http://schemas.openxmlformats.org/drawingml/2006/main">
              <a:ext uri="{FF2B5EF4-FFF2-40B4-BE49-F238E27FC236}">
                <a16:creationId xmlns:a16="http://schemas.microsoft.com/office/drawing/2014/main" id="{2216C4BE-F546-43FE-85F1-FB923317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772150"/>
            <a:ext cx="53625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7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7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7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7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7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7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7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7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7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同 30 个开发开局复测：260.27 对 122.40。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最佳模型胜出 28/30 局，配对差 +137.87。</a:t>
            </a:r>
          </a:p>
        </p:txBody>
      </p:sp>
      <p:sp>
        <p:nvSpPr>
          <p:cNvPr id="21" name="曲线来自各阶段训练回调；候选复核与 30 局复测采用不同种子。恢复实验含组合改动，不能单独">
            <a:extLst xmlns:a="http://schemas.openxmlformats.org/drawingml/2006/main">
              <a:ext uri="{FF2B5EF4-FFF2-40B4-BE49-F238E27FC236}">
                <a16:creationId xmlns:a16="http://schemas.microsoft.com/office/drawing/2014/main" id="{95E22C85-55BA-42C1-9904-9CEF06CE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67475"/>
            <a:ext cx="1072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rPr>
              <a:t>曲线来自各阶段训练回调；候选复核与 30 局复测采用不同种子。恢复实验含组合改动，不能单独归因回放容量或回报跨度。</a:t>
            </a:r>
          </a:p>
        </p:txBody>
      </p:sp>
    </p:spTree>
    <p:extLst>
      <p:ext uri="{BB962C8B-B14F-4D97-AF65-F5344CB8AC3E}">
        <p14:creationId xmlns:p14="http://schemas.microsoft.com/office/powerpoint/2010/main" val="113242269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13C9C475-1AE5-418B-99FA-0CC2C2ECEC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d11cf66cb9e4a7c">
            <a:alphaModFix amt="1800"/>
          </a:blip>
          <a:srcRect xmlns:a="http://schemas.openxmlformats.org/drawingml/2006/main" l="0" t="4939" r="28793" b="22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1601" y="902926"/>
            <a:ext cx="9550400" cy="5955074"/>
          </a:xfrm>
          <a:prstGeom xmlns:a="http://schemas.openxmlformats.org/drawingml/2006/main" prst="rect">
            <a:avLst/>
          </a:prstGeom>
        </p:spPr>
      </p:pic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FCCAF280-9A8E-42CB-BE4A-435B31E720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bd685f88d41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285750"/>
            <a:ext cx="2628900" cy="600075"/>
          </a:xfrm>
          <a:prstGeom xmlns:a="http://schemas.openxmlformats.org/drawingml/2006/main" prst="rect">
            <a:avLst/>
          </a:prstGeom>
        </p:spPr>
      </p:pic>
      <p:sp>
        <p:nvSpPr>
          <p:cNvPr id="8" name="PPO 的 GAE 对照：开发选模与测试分开">
            <a:extLst xmlns:a="http://schemas.openxmlformats.org/drawingml/2006/main">
              <a:ext uri="{FF2B5EF4-FFF2-40B4-BE49-F238E27FC236}">
                <a16:creationId xmlns:a16="http://schemas.microsoft.com/office/drawing/2014/main" id="{DD4E7680-73E2-4ABB-8CEB-FC59546E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rPr>
              <a:t>GAE 对照与开发选模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06FC3-3A81-469B-8920-41D6F375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0"/>
          </a:solidFill>
          <a:ln xmlns:a="http://schemas.openxmlformats.org/drawingml/2006/main" w="0">
            <a:noFill/>
          </a:ln>
        </p:spPr>
      </p:sp>
      <p:sp>
        <p:nvSpPr>
          <p:cNvPr id="10" name="10">
            <a:extLst xmlns:a="http://schemas.openxmlformats.org/drawingml/2006/main">
              <a:ext uri="{FF2B5EF4-FFF2-40B4-BE49-F238E27FC236}">
                <a16:creationId xmlns:a16="http://schemas.microsoft.com/office/drawing/2014/main" id="{F5EB8085-377E-47D4-BF84-F840B6FA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674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1" name="同一组 32 个逐局开发种子的均分">
            <a:extLst xmlns:a="http://schemas.openxmlformats.org/drawingml/2006/main">
              <a:ext uri="{FF2B5EF4-FFF2-40B4-BE49-F238E27FC236}">
                <a16:creationId xmlns:a16="http://schemas.microsoft.com/office/drawing/2014/main" id="{1DBB7536-5140-4C82-98E5-B2BB2072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9775"/>
            <a:ext cx="7000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同一组 32 个逐局开发种子的均分</a:t>
            </a:r>
          </a:p>
        </p:txBody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2F4A407E-42B0-4FBD-8017-2F591CAFDAEE}"/>
              </a:ext>
            </a:extLst>
          </p:cNvPr>
          <p:cNvGraphicFramePr/>
          <p:nvPr/>
        </p:nvGraphicFramePr>
        <p:xfrm>
          <a:off xmlns:a="http://schemas.openxmlformats.org/drawingml/2006/main" x="523875" y="2524125"/>
          <a:ext xmlns:a="http://schemas.openxmlformats.org/drawingml/2006/main" cx="7124700" cy="2981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f07fd8ec6b4b9c"/>
          </a:graphicData>
        </a:graphic>
      </p:graphicFrame>
      <p:sp>
        <p:nvSpPr>
          <p:cNvPr id="13" name="本阶段新增决策步 / 千步">
            <a:extLst xmlns:a="http://schemas.openxmlformats.org/drawingml/2006/main">
              <a:ext uri="{FF2B5EF4-FFF2-40B4-BE49-F238E27FC236}">
                <a16:creationId xmlns:a16="http://schemas.microsoft.com/office/drawing/2014/main" id="{B612AD57-C24F-4A33-BF5E-5153DE36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543550"/>
            <a:ext cx="3876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4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4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4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4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4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4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4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4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4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本阶段新增决策步 / 千步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0771A-9E24-45FB-AF34-136DDDF8C8BD}"/>
              </a:ext>
            </a:extLst>
          </p:cNvPr>
          <p:cNvGraphicFramePr/>
          <p:nvPr/>
        </p:nvGraphicFramePr>
        <p:xfrm>
          <a:off xmlns:a="http://schemas.openxmlformats.org/drawingml/2006/main" x="7962900" y="1981200"/>
          <a:ext xmlns:a="http://schemas.openxmlformats.org/drawingml/2006/main" cx="3686175" cy="2133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7066"/>
                <a:gridCol w="1149555"/>
                <a:gridCol w="1149554"/>
              </a:tblGrid>
              <a:tr h="53340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开发选模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λ=0.98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λ=0.99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</a:tr>
              <a:tr h="53340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最佳均分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196.00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171.09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选中步数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500000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503808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主候选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补充消融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共同起点与完整预算">
            <a:extLst xmlns:a="http://schemas.openxmlformats.org/drawingml/2006/main">
              <a:ext uri="{FF2B5EF4-FFF2-40B4-BE49-F238E27FC236}">
                <a16:creationId xmlns:a16="http://schemas.microsoft.com/office/drawing/2014/main" id="{E20AFF89-28AC-44FC-8BF2-325F1EA9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91025"/>
            <a:ext cx="3686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共同起点与完整预算</a:t>
            </a:r>
          </a:p>
        </p:txBody>
      </p:sp>
      <p:sp>
        <p:nvSpPr>
          <p:cNvPr id="16" name="同 seed=47，同原始奖励&#10;各实际新增 503808 步&#10;仅改变 GAE λ">
            <a:extLst xmlns:a="http://schemas.openxmlformats.org/drawingml/2006/main">
              <a:ext uri="{FF2B5EF4-FFF2-40B4-BE49-F238E27FC236}">
                <a16:creationId xmlns:a16="http://schemas.microsoft.com/office/drawing/2014/main" id="{4E1E1A0A-5FAD-4F9A-BFBC-C48B87A3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91075"/>
            <a:ext cx="36861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同 seed=47，同原始奖励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各实际新增 503808 步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仅改变 GAE λ</a:t>
            </a:r>
          </a:p>
        </p:txBody>
      </p:sp>
      <p:sp>
        <p:nvSpPr>
          <p:cNvPr id="17" name="选模约束：只有中位数更高且均分达到最佳均分的 95%，才替换均分最佳候选。">
            <a:extLst xmlns:a="http://schemas.openxmlformats.org/drawingml/2006/main">
              <a:ext uri="{FF2B5EF4-FFF2-40B4-BE49-F238E27FC236}">
                <a16:creationId xmlns:a16="http://schemas.microsoft.com/office/drawing/2014/main" id="{00C65A93-6063-4234-9FA1-F7F6A06F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1980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选模约束：只有中位数更高且均分达到最佳均分的 95%，才替换均分最佳候选。</a:t>
            </a:r>
          </a:p>
        </p:txBody>
      </p:sp>
      <p:sp>
        <p:nvSpPr>
          <p:cNvPr id="18" name="开发种子 111000–111031；本轮两组实际均选中均分最佳模型。0.99 的测试均分">
            <a:extLst xmlns:a="http://schemas.openxmlformats.org/drawingml/2006/main">
              <a:ext uri="{FF2B5EF4-FFF2-40B4-BE49-F238E27FC236}">
                <a16:creationId xmlns:a16="http://schemas.microsoft.com/office/drawing/2014/main" id="{F1C93D3C-2EC6-48B4-AC57-65E6A6DA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67475"/>
            <a:ext cx="1072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rPr>
              <a:t>开发种子 111000–111031；本轮两组实际均选中均分最佳模型。0.99 的测试均分较高不作为更换主候选的依据。</a:t>
            </a:r>
          </a:p>
        </p:txBody>
      </p:sp>
    </p:spTree>
    <p:extLst>
      <p:ext uri="{BB962C8B-B14F-4D97-AF65-F5344CB8AC3E}">
        <p14:creationId xmlns:p14="http://schemas.microsoft.com/office/powerpoint/2010/main" val="191055442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2C3FFB9B-34BE-409A-AE99-AB4321CED7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0c4b56a4c4d44ea">
            <a:alphaModFix amt="1800"/>
          </a:blip>
          <a:srcRect xmlns:a="http://schemas.openxmlformats.org/drawingml/2006/main" l="0" t="4939" r="28793" b="22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1601" y="902926"/>
            <a:ext cx="9550400" cy="5955074"/>
          </a:xfrm>
          <a:prstGeom xmlns:a="http://schemas.openxmlformats.org/drawingml/2006/main" prst="rect">
            <a:avLst/>
          </a:prstGeom>
        </p:spPr>
      </p:pic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ABD6118E-FB3A-434B-81A3-40EA48EF8B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e3045af0a42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285750"/>
            <a:ext cx="2628900" cy="600075"/>
          </a:xfrm>
          <a:prstGeom xmlns:a="http://schemas.openxmlformats.org/drawingml/2006/main" prst="rect">
            <a:avLst/>
          </a:prstGeom>
        </p:spPr>
      </p:pic>
      <p:sp>
        <p:nvSpPr>
          <p:cNvPr id="8" name="PPO 改进实验：收益需要同轮配对验证">
            <a:extLst xmlns:a="http://schemas.openxmlformats.org/drawingml/2006/main">
              <a:ext uri="{FF2B5EF4-FFF2-40B4-BE49-F238E27FC236}">
                <a16:creationId xmlns:a16="http://schemas.microsoft.com/office/drawing/2014/main" id="{A914F366-B49B-445D-BBC3-B50B2BE7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rPr>
              <a:t>PPO 改进措施的配对结果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103105-D8B1-4F55-A8C7-7D8817A2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0"/>
          </a:solidFill>
          <a:ln xmlns:a="http://schemas.openxmlformats.org/drawingml/2006/main" w="0">
            <a:noFill/>
          </a:ln>
        </p:spPr>
      </p:sp>
      <p:sp>
        <p:nvSpPr>
          <p:cNvPr id="10" name="11">
            <a:extLst xmlns:a="http://schemas.openxmlformats.org/drawingml/2006/main">
              <a:ext uri="{FF2B5EF4-FFF2-40B4-BE49-F238E27FC236}">
                <a16:creationId xmlns:a16="http://schemas.microsoft.com/office/drawing/2014/main" id="{4DDB978B-4690-4142-A2ED-B33F5FB0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674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8D94AD-A86E-45DD-B94E-07B99C6125AD}"/>
              </a:ext>
            </a:extLst>
          </p:cNvPr>
          <p:cNvGraphicFramePr/>
          <p:nvPr/>
        </p:nvGraphicFramePr>
        <p:xfrm>
          <a:off xmlns:a="http://schemas.openxmlformats.org/drawingml/2006/main" x="523875" y="1981200"/>
          <a:ext xmlns:a="http://schemas.openxmlformats.org/drawingml/2006/main" cx="111252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14850"/>
                <a:gridCol w="1619250"/>
                <a:gridCol w="2362200"/>
                <a:gridCol w="2628900"/>
              </a:tblGrid>
              <a:tr h="47625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同轮改动减对照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配对均分差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95% 区间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解释限制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</a:tr>
              <a:tr h="47625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稳定续训组合 − 仅续训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−9.67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[−42.63, 20.87]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局；组合改动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辅助奖励 − 原始奖励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−31.20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[−62.56, −1.82]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 局；改变训练目标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独立裁剪 + Huber − 标准更新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+18.92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[−13.52, 52.16]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 局；不能拆分归因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双学习率 + 额外拟合 − 对照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−5.88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[−49.06, 36.60]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 局；早停，保留起点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GAE 0.99 − 0.98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+6.88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[−41.08, 54.68]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 局；单次训练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KL 反馈 − 固定计划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+7.81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[−47.29, 64.17]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次配对续训，各 50 局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训练误差下降未自动转化为策略提升">
            <a:extLst xmlns:a="http://schemas.openxmlformats.org/drawingml/2006/main">
              <a:ext uri="{FF2B5EF4-FFF2-40B4-BE49-F238E27FC236}">
                <a16:creationId xmlns:a16="http://schemas.microsoft.com/office/drawing/2014/main" id="{D26D612A-15EA-47D9-A8CC-D1E79F91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训练误差下降未自动转化为策略提升</a:t>
            </a:r>
          </a:p>
        </p:txBody>
      </p:sp>
      <p:sp>
        <p:nvSpPr>
          <p:cNvPr id="13" name="双学习率实验中 96.9% 的额外价值拟合降低训练 MSE，中位降幅约 19%；选模仍保留">
            <a:extLst xmlns:a="http://schemas.openxmlformats.org/drawingml/2006/main">
              <a:ext uri="{FF2B5EF4-FFF2-40B4-BE49-F238E27FC236}">
                <a16:creationId xmlns:a16="http://schemas.microsoft.com/office/drawing/2014/main" id="{A2585883-8621-4DBA-BB14-9E3C83C3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38850"/>
            <a:ext cx="1112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双学习率实验中 96.9% 的额外价值拟合降低训练 MSE，中位降幅约 19%；选模仍保留起点。</a:t>
            </a:r>
          </a:p>
        </p:txBody>
      </p:sp>
      <p:sp>
        <p:nvSpPr>
          <p:cNvPr id="14" name="前五行是固定策略的回合配对区间，末行是训练 / 游戏两维区间。各行起点与测试集合不同，不能">
            <a:extLst xmlns:a="http://schemas.openxmlformats.org/drawingml/2006/main">
              <a:ext uri="{FF2B5EF4-FFF2-40B4-BE49-F238E27FC236}">
                <a16:creationId xmlns:a16="http://schemas.microsoft.com/office/drawing/2014/main" id="{81EDFC71-6243-480F-85AA-A6E18F19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67475"/>
            <a:ext cx="1072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rPr>
              <a:t>前五行是固定策略的回合配对区间，末行是训练 / 游戏两维区间。各行起点与测试集合不同，不能用于跨轮原始得分排名。</a:t>
            </a:r>
          </a:p>
        </p:txBody>
      </p:sp>
    </p:spTree>
    <p:extLst>
      <p:ext uri="{BB962C8B-B14F-4D97-AF65-F5344CB8AC3E}">
        <p14:creationId xmlns:p14="http://schemas.microsoft.com/office/powerpoint/2010/main" val="108166346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9B7387AB-A580-4668-B044-6931C561E0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a5b1458f45b4d70">
            <a:alphaModFix amt="1800"/>
          </a:blip>
          <a:srcRect xmlns:a="http://schemas.openxmlformats.org/drawingml/2006/main" l="0" t="4939" r="28793" b="22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1601" y="902926"/>
            <a:ext cx="9550400" cy="5955074"/>
          </a:xfrm>
          <a:prstGeom xmlns:a="http://schemas.openxmlformats.org/drawingml/2006/main" prst="rect">
            <a:avLst/>
          </a:prstGeom>
        </p:spPr>
      </p:pic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04D441EC-1A1B-4E9B-B617-A1660F2985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63355a5c9b40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285750"/>
            <a:ext cx="2628900" cy="600075"/>
          </a:xfrm>
          <a:prstGeom xmlns:a="http://schemas.openxmlformats.org/drawingml/2006/main" prst="rect">
            <a:avLst/>
          </a:prstGeom>
        </p:spPr>
      </p:pic>
      <p:sp>
        <p:nvSpPr>
          <p:cNvPr id="8" name="KL 反馈：控制已生效，三次续训收益不一致">
            <a:extLst xmlns:a="http://schemas.openxmlformats.org/drawingml/2006/main">
              <a:ext uri="{FF2B5EF4-FFF2-40B4-BE49-F238E27FC236}">
                <a16:creationId xmlns:a16="http://schemas.microsoft.com/office/drawing/2014/main" id="{F70AE358-6D76-4651-B3C3-D8E6F7B1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rPr>
              <a:t>KL 反馈的三次配对续训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34125-D6EE-4F72-A8D4-38F5F9C1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0"/>
          </a:solidFill>
          <a:ln xmlns:a="http://schemas.openxmlformats.org/drawingml/2006/main" w="0">
            <a:noFill/>
          </a:ln>
        </p:spPr>
      </p:sp>
      <p:sp>
        <p:nvSpPr>
          <p:cNvPr id="10" name="12">
            <a:extLst xmlns:a="http://schemas.openxmlformats.org/drawingml/2006/main">
              <a:ext uri="{FF2B5EF4-FFF2-40B4-BE49-F238E27FC236}">
                <a16:creationId xmlns:a16="http://schemas.microsoft.com/office/drawing/2014/main" id="{25BA694A-1236-44F0-B07A-6808F1E0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674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11" name="策略学习率倍率（反馈组三次实际日志）">
            <a:extLst xmlns:a="http://schemas.openxmlformats.org/drawingml/2006/main">
              <a:ext uri="{FF2B5EF4-FFF2-40B4-BE49-F238E27FC236}">
                <a16:creationId xmlns:a16="http://schemas.microsoft.com/office/drawing/2014/main" id="{FBBB7E74-A680-41F3-853D-E67041AC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9775"/>
            <a:ext cx="5743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策略学习率倍率（反馈组三次实际日志）</a:t>
            </a:r>
          </a:p>
        </p:txBody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21EA1ABC-FF8F-4012-9960-578C0FEB877C}"/>
              </a:ext>
            </a:extLst>
          </p:cNvPr>
          <p:cNvGraphicFramePr/>
          <p:nvPr/>
        </p:nvGraphicFramePr>
        <p:xfrm>
          <a:off xmlns:a="http://schemas.openxmlformats.org/drawingml/2006/main" x="523875" y="2514600"/>
          <a:ext xmlns:a="http://schemas.openxmlformats.org/drawingml/2006/main" cx="5743575" cy="2705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c2574f892d439d"/>
          </a:graphicData>
        </a:graphic>
      </p:graphicFrame>
      <p:sp>
        <p:nvSpPr>
          <p:cNvPr id="13" name="日志记录位置 / 千步">
            <a:extLst xmlns:a="http://schemas.openxmlformats.org/drawingml/2006/main">
              <a:ext uri="{FF2B5EF4-FFF2-40B4-BE49-F238E27FC236}">
                <a16:creationId xmlns:a16="http://schemas.microsoft.com/office/drawing/2014/main" id="{A467A7C2-E747-4837-91DE-BDADBB4D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3875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35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35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35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35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35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35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35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35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35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rPr>
              <a:t>日志记录位置 / 千步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8ED87-BB64-4FD4-9627-EE656468DB04}"/>
              </a:ext>
            </a:extLst>
          </p:cNvPr>
          <p:cNvGraphicFramePr/>
          <p:nvPr/>
        </p:nvGraphicFramePr>
        <p:xfrm>
          <a:off xmlns:a="http://schemas.openxmlformats.org/drawingml/2006/main" x="6772275" y="1981200"/>
          <a:ext xmlns:a="http://schemas.openxmlformats.org/drawingml/2006/main" cx="4876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5965"/>
                <a:gridCol w="1150278"/>
                <a:gridCol w="1150278"/>
                <a:gridCol w="1150279"/>
              </a:tblGrid>
              <a:tr h="50292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续训种子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KL 反馈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固定计划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配对差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</a:tr>
              <a:tr h="50292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224.26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170.66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+53.60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181.54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215.04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−33.50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213.78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210.44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+3.34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三次平均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206.53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198.71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+7.81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3F8FA"/>
                    </a:solidFill>
                  </a:tcPr>
                </a:tc>
              </a:tr>
            </a:tbl>
          </a:graphicData>
        </a:graphic>
      </p:graphicFrame>
      <p:sp>
        <p:nvSpPr>
          <p:cNvPr id="15" name="95% 两维配对区间">
            <a:extLst xmlns:a="http://schemas.openxmlformats.org/drawingml/2006/main">
              <a:ext uri="{FF2B5EF4-FFF2-40B4-BE49-F238E27FC236}">
                <a16:creationId xmlns:a16="http://schemas.microsoft.com/office/drawing/2014/main" id="{51FDA23E-EAE3-4954-AFFA-4EE5072C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762500"/>
            <a:ext cx="487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rPr>
              <a:t>95% 两维配对区间</a:t>
            </a:r>
          </a:p>
        </p:txBody>
      </p:sp>
      <p:sp>
        <p:nvSpPr>
          <p:cNvPr id="16" name="[−47.29, 64.17] 分">
            <a:extLst xmlns:a="http://schemas.openxmlformats.org/drawingml/2006/main">
              <a:ext uri="{FF2B5EF4-FFF2-40B4-BE49-F238E27FC236}">
                <a16:creationId xmlns:a16="http://schemas.microsoft.com/office/drawing/2014/main" id="{EC35F661-7C7B-4440-91DF-CE060012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5143500"/>
            <a:ext cx="487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rPr>
              <a:t>[−47.29, 64.17] 分</a:t>
            </a:r>
          </a:p>
        </p:txBody>
      </p:sp>
      <p:sp>
        <p:nvSpPr>
          <p:cNvPr id="17" name="后 100k 整轮 KL 中位数：反馈约 1.6×10⁻⁴，对照约 8.5×10⁻⁵。&#10;反">
            <a:extLst xmlns:a="http://schemas.openxmlformats.org/drawingml/2006/main">
              <a:ext uri="{FF2B5EF4-FFF2-40B4-BE49-F238E27FC236}">
                <a16:creationId xmlns:a16="http://schemas.microsoft.com/office/drawing/2014/main" id="{3FB22AC0-1A87-4089-B425-C4700543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10250"/>
            <a:ext cx="11125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后 100k 整轮 KL 中位数：反馈约 1.6×10⁻⁴，对照约 8.5×10⁻⁵。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反馈改变了更新幅度，但测试收益方向不一致。</a:t>
            </a:r>
          </a:p>
        </p:txBody>
      </p:sp>
      <p:sp>
        <p:nvSpPr>
          <p:cNvPr id="18" name="表为测试均分，种子 141000–141049；共同起点 194.36。每设置 150 局">
            <a:extLst xmlns:a="http://schemas.openxmlformats.org/drawingml/2006/main">
              <a:ext uri="{FF2B5EF4-FFF2-40B4-BE49-F238E27FC236}">
                <a16:creationId xmlns:a16="http://schemas.microsoft.com/office/drawing/2014/main" id="{C9E11FA2-4E68-4DFB-8B05-46D46CFE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67475"/>
            <a:ext cx="1072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rPr>
              <a:t>表为测试均分，种子 141000–141049；共同起点 194.36。每设置 150 局 ≠ 150 次独立训练；日志位置可能晚于对应优化 rollout。</a:t>
            </a:r>
          </a:p>
        </p:txBody>
      </p:sp>
    </p:spTree>
    <p:extLst>
      <p:ext uri="{BB962C8B-B14F-4D97-AF65-F5344CB8AC3E}">
        <p14:creationId xmlns:p14="http://schemas.microsoft.com/office/powerpoint/2010/main" val="211394703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B7162846-C7ED-4E6A-B28A-3E5B834978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5d637418b8743d8">
            <a:alphaModFix amt="1800"/>
          </a:blip>
          <a:srcRect xmlns:a="http://schemas.openxmlformats.org/drawingml/2006/main" l="0" t="4939" r="28793" b="22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1601" y="902926"/>
            <a:ext cx="9550400" cy="5955074"/>
          </a:xfrm>
          <a:prstGeom xmlns:a="http://schemas.openxmlformats.org/drawingml/2006/main" prst="rect">
            <a:avLst/>
          </a:prstGeom>
        </p:spPr>
      </p:pic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977AEE07-EA63-410B-8A2E-A1397CE414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4c1a961624c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285750"/>
            <a:ext cx="2628900" cy="600075"/>
          </a:xfrm>
          <a:prstGeom xmlns:a="http://schemas.openxmlformats.org/drawingml/2006/main" prst="rect">
            <a:avLst/>
          </a:prstGeom>
        </p:spPr>
      </p:pic>
      <p:sp>
        <p:nvSpPr>
          <p:cNvPr id="8" name="评估协议：先开发选模，再做固定模型测试">
            <a:extLst xmlns:a="http://schemas.openxmlformats.org/drawingml/2006/main">
              <a:ext uri="{FF2B5EF4-FFF2-40B4-BE49-F238E27FC236}">
                <a16:creationId xmlns:a16="http://schemas.microsoft.com/office/drawing/2014/main" id="{7FDCDB31-3EE3-4E6C-914B-B058129F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rPr>
              <a:t>开发选模与统一测试协议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8369A6-79B9-4089-B876-4B5EB545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0"/>
          </a:solidFill>
          <a:ln xmlns:a="http://schemas.openxmlformats.org/drawingml/2006/main" w="0">
            <a:noFill/>
          </a:ln>
        </p:spPr>
      </p:sp>
      <p:sp>
        <p:nvSpPr>
          <p:cNvPr id="10" name="13">
            <a:extLst xmlns:a="http://schemas.openxmlformats.org/drawingml/2006/main">
              <a:ext uri="{FF2B5EF4-FFF2-40B4-BE49-F238E27FC236}">
                <a16:creationId xmlns:a16="http://schemas.microsoft.com/office/drawing/2014/main" id="{52F079DA-74A3-4707-B362-8285498F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674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507792-E634-4303-951B-2A49EE46093F}"/>
              </a:ext>
            </a:extLst>
          </p:cNvPr>
          <p:cNvGraphicFramePr/>
          <p:nvPr/>
        </p:nvGraphicFramePr>
        <p:xfrm>
          <a:off xmlns:a="http://schemas.openxmlformats.org/drawingml/2006/main" x="523875" y="1981200"/>
          <a:ext xmlns:a="http://schemas.openxmlformats.org/drawingml/2006/main" cx="11125200" cy="2914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71675"/>
                <a:gridCol w="5067300"/>
                <a:gridCol w="4086225"/>
              </a:tblGrid>
              <a:tr h="58293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数据用途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开局 / 模型 / 局数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选模与结论范围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</a:tr>
              <a:tr h="58293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DQN 历史诊断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42000–42029，共 30 局；最佳与最后模型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开发复测，检验退化；不并入新测试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GAE 开发选模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111000–111031，共 32 局 / 检查点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 PPO 选 λ=0.98；不按测试换方案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 50 局测试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121000–121049，共 50 局 / 固定模型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随机、DQN、PPO 起点及 λ=0.98 / 0.99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KL 新一轮验证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 131000–131031；测试 141000–141049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对续训，共享起点；与统一测试分开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保持一致的测试条件">
            <a:extLst xmlns:a="http://schemas.openxmlformats.org/drawingml/2006/main">
              <a:ext uri="{FF2B5EF4-FFF2-40B4-BE49-F238E27FC236}">
                <a16:creationId xmlns:a16="http://schemas.microsoft.com/office/drawing/2014/main" id="{C6C48880-CEB1-4B87-B190-9653B756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91125"/>
            <a:ext cx="528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保持一致的测试条件</a:t>
            </a:r>
          </a:p>
        </p:txBody>
      </p:sp>
      <p:sp>
        <p:nvSpPr>
          <p:cNvPr id="13" name="同环境、像素处理、原始奖励与完整游戏；CPU 确定性动作；冻结权重，逐局重置种子。">
            <a:extLst xmlns:a="http://schemas.openxmlformats.org/drawingml/2006/main">
              <a:ext uri="{FF2B5EF4-FFF2-40B4-BE49-F238E27FC236}">
                <a16:creationId xmlns:a16="http://schemas.microsoft.com/office/drawing/2014/main" id="{C19FCA71-8DD3-4D16-AF34-68385D75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91175"/>
            <a:ext cx="5286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同环境、像素处理、原始奖励与完整游戏；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CPU 确定性动作；冻结权重，逐局重置种子。</a:t>
            </a:r>
          </a:p>
        </p:txBody>
      </p:sp>
      <p:sp>
        <p:nvSpPr>
          <p:cNvPr id="14" name="仍未匹配的实验条件">
            <a:extLst xmlns:a="http://schemas.openxmlformats.org/drawingml/2006/main">
              <a:ext uri="{FF2B5EF4-FFF2-40B4-BE49-F238E27FC236}">
                <a16:creationId xmlns:a16="http://schemas.microsoft.com/office/drawing/2014/main" id="{3A1F9D94-D7A6-4978-AB3E-65D19EB1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191125"/>
            <a:ext cx="535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仍未匹配的实验条件</a:t>
            </a:r>
          </a:p>
        </p:txBody>
      </p:sp>
      <p:sp>
        <p:nvSpPr>
          <p:cNvPr id="15" name="DQN 与 PPO 多阶段训练历史和调参预算不同；当前只能比较固定候选，不能声称等预算排名">
            <a:extLst xmlns:a="http://schemas.openxmlformats.org/drawingml/2006/main">
              <a:ext uri="{FF2B5EF4-FFF2-40B4-BE49-F238E27FC236}">
                <a16:creationId xmlns:a16="http://schemas.microsoft.com/office/drawing/2014/main" id="{1D18BACE-8CCA-4447-9038-B4636164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591175"/>
            <a:ext cx="5353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DQN 与 PPO 多阶段训练历史和调参预算不同；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当前只能比较固定候选，不能声称等预算排名。</a:t>
            </a:r>
          </a:p>
        </p:txBody>
      </p:sp>
      <p:sp>
        <p:nvSpPr>
          <p:cNvPr id="16" name="随机基线在同一组开局下均匀采样动作；报告分数来自逐局真实运行；各测试集与对应阶段开发开局分">
            <a:extLst xmlns:a="http://schemas.openxmlformats.org/drawingml/2006/main">
              <a:ext uri="{FF2B5EF4-FFF2-40B4-BE49-F238E27FC236}">
                <a16:creationId xmlns:a16="http://schemas.microsoft.com/office/drawing/2014/main" id="{7F0D582D-9D18-4E90-BDEB-531C5015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67475"/>
            <a:ext cx="1072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rPr>
              <a:t>随机基线在同一组开局下均匀采样动作；报告分数来自逐局真实运行；各测试集与对应阶段开发开局分离。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DFB2DE-13A7-4BBD-BA9D-9CB4DC53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577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8941736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5C780448-06B3-49B7-8596-19093F4539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03ea2fa636f468d">
            <a:alphaModFix amt="1800"/>
          </a:blip>
          <a:srcRect xmlns:a="http://schemas.openxmlformats.org/drawingml/2006/main" l="0" t="4939" r="28793" b="22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1601" y="902926"/>
            <a:ext cx="9550400" cy="5955074"/>
          </a:xfrm>
          <a:prstGeom xmlns:a="http://schemas.openxmlformats.org/drawingml/2006/main" prst="rect">
            <a:avLst/>
          </a:prstGeom>
        </p:spPr>
      </p:pic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C331FE0D-BFC2-48C8-A9EF-763BA16214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318c4bb3a49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285750"/>
            <a:ext cx="2628900" cy="600075"/>
          </a:xfrm>
          <a:prstGeom xmlns:a="http://schemas.openxmlformats.org/drawingml/2006/main" prst="rect">
            <a:avLst/>
          </a:prstGeom>
        </p:spPr>
      </p:pic>
      <p:sp>
        <p:nvSpPr>
          <p:cNvPr id="8" name="统一 50 局测试：DQN 候选均分高于主 PPO">
            <a:extLst xmlns:a="http://schemas.openxmlformats.org/drawingml/2006/main">
              <a:ext uri="{FF2B5EF4-FFF2-40B4-BE49-F238E27FC236}">
                <a16:creationId xmlns:a16="http://schemas.microsoft.com/office/drawing/2014/main" id="{FCDB75D5-7284-42B5-A3EB-27C1B82B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rPr>
              <a:t>同开局 50 局的固定模型比较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E63D7F-4DEF-43C8-BAE8-43F25266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0"/>
          </a:solidFill>
          <a:ln xmlns:a="http://schemas.openxmlformats.org/drawingml/2006/main" w="0">
            <a:noFill/>
          </a:ln>
        </p:spPr>
      </p:sp>
      <p:sp>
        <p:nvSpPr>
          <p:cNvPr id="10" name="14">
            <a:extLst xmlns:a="http://schemas.openxmlformats.org/drawingml/2006/main">
              <a:ext uri="{FF2B5EF4-FFF2-40B4-BE49-F238E27FC236}">
                <a16:creationId xmlns:a16="http://schemas.microsoft.com/office/drawing/2014/main" id="{EDA11905-06CD-4DF5-B3B8-DD0BD32F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674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11" name="同一组测试开局的均分">
            <a:extLst xmlns:a="http://schemas.openxmlformats.org/drawingml/2006/main">
              <a:ext uri="{FF2B5EF4-FFF2-40B4-BE49-F238E27FC236}">
                <a16:creationId xmlns:a16="http://schemas.microsoft.com/office/drawing/2014/main" id="{A5927BA7-F645-4B31-97E7-62863EC4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9775"/>
            <a:ext cx="480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同一组测试开局的均分</a:t>
            </a:r>
          </a:p>
        </p:txBody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AD1E5F31-A0DC-4AA9-ABD1-1DCF5BB34BB1}"/>
              </a:ext>
            </a:extLst>
          </p:cNvPr>
          <p:cNvGraphicFramePr/>
          <p:nvPr/>
        </p:nvGraphicFramePr>
        <p:xfrm>
          <a:off xmlns:a="http://schemas.openxmlformats.org/drawingml/2006/main" x="523875" y="2552700"/>
          <a:ext xmlns:a="http://schemas.openxmlformats.org/drawingml/2006/main" cx="48387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2d69fe96e44006"/>
          </a:graphicData>
        </a:graphic>
      </p:graphicFrame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66353F-1263-4876-AF0F-13DB7A327508}"/>
              </a:ext>
            </a:extLst>
          </p:cNvPr>
          <p:cNvGraphicFramePr/>
          <p:nvPr/>
        </p:nvGraphicFramePr>
        <p:xfrm>
          <a:off xmlns:a="http://schemas.openxmlformats.org/drawingml/2006/main" x="5743575" y="1981200"/>
          <a:ext xmlns:a="http://schemas.openxmlformats.org/drawingml/2006/main" cx="5905500" cy="3067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35365"/>
                <a:gridCol w="1046063"/>
                <a:gridCol w="1084101"/>
                <a:gridCol w="969986"/>
                <a:gridCol w="969985"/>
              </a:tblGrid>
              <a:tr h="511175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固定模型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均分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中位数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&lt;50 分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截断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</a:tr>
              <a:tr h="511175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随机策略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0.88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50/50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0/50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1175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0659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DQN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0659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273.36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266.0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0/50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0/50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3F8FA"/>
                    </a:solidFill>
                  </a:tcPr>
                </a:tc>
              </a:tr>
              <a:tr h="511175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 起点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129.98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84.0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18/50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0/50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1175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287F7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 λ=.98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287F7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196.54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166.5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9/50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5/50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3F8FA"/>
                    </a:solidFill>
                  </a:tcPr>
                </a:tc>
              </a:tr>
              <a:tr h="511175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 λ=.99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203.42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191.5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6/50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3/50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DQN − 主 PPO：+76.82 分">
            <a:extLst xmlns:a="http://schemas.openxmlformats.org/drawingml/2006/main">
              <a:ext uri="{FF2B5EF4-FFF2-40B4-BE49-F238E27FC236}">
                <a16:creationId xmlns:a16="http://schemas.microsoft.com/office/drawing/2014/main" id="{72836F56-72F4-4488-A761-51653BD8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10200"/>
            <a:ext cx="695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DQN − 主 PPO：+76.82 分</a:t>
            </a:r>
          </a:p>
        </p:txBody>
      </p:sp>
      <p:sp>
        <p:nvSpPr>
          <p:cNvPr id="15" name="95% 配对区间 [28.02, 125.24]；31 胜 / 0 平 / 19 负">
            <a:extLst xmlns:a="http://schemas.openxmlformats.org/drawingml/2006/main">
              <a:ext uri="{FF2B5EF4-FFF2-40B4-BE49-F238E27FC236}">
                <a16:creationId xmlns:a16="http://schemas.microsoft.com/office/drawing/2014/main" id="{62BA5078-D63B-4489-A8AE-4B31572A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72175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95% 配对区间 [28.02, 125.24]；31 胜 / 0 平 / 19 负</a:t>
            </a:r>
          </a:p>
        </p:txBody>
      </p:sp>
      <p:sp>
        <p:nvSpPr>
          <p:cNvPr id="16" name="主 PPO 仍为 λ=0.98&#10;λ=0.99 作为补充消融">
            <a:extLst xmlns:a="http://schemas.openxmlformats.org/drawingml/2006/main">
              <a:ext uri="{FF2B5EF4-FFF2-40B4-BE49-F238E27FC236}">
                <a16:creationId xmlns:a16="http://schemas.microsoft.com/office/drawing/2014/main" id="{3BD72AF2-C638-46F9-ADBA-F5F0772A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429250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rPr>
              <a:t>主 PPO 仍为 λ=0.98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rPr>
              <a:t>λ=0.99 作为补充消融</a:t>
            </a:r>
          </a:p>
        </p:txBody>
      </p:sp>
      <p:sp>
        <p:nvSpPr>
          <p:cNvPr id="17" name="测试种子 121000–121049。区间按完整游戏种子对重采样 20000 次，随机数种">
            <a:extLst xmlns:a="http://schemas.openxmlformats.org/drawingml/2006/main">
              <a:ext uri="{FF2B5EF4-FFF2-40B4-BE49-F238E27FC236}">
                <a16:creationId xmlns:a16="http://schemas.microsoft.com/office/drawing/2014/main" id="{2F25F213-EF7A-48A3-BBF9-B4FB35CB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67475"/>
            <a:ext cx="1072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rPr>
              <a:t>测试种子 121000–121049。区间按完整游戏种子对重采样 20000 次，随机数种子 20261022；不覆盖独立训练波动。</a:t>
            </a:r>
          </a:p>
        </p:txBody>
      </p:sp>
    </p:spTree>
    <p:extLst>
      <p:ext uri="{BB962C8B-B14F-4D97-AF65-F5344CB8AC3E}">
        <p14:creationId xmlns:p14="http://schemas.microsoft.com/office/powerpoint/2010/main" val="95307683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5D80A9B8-DEA4-4FA2-82B3-63787A8ACB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193ce4c6a844ea">
            <a:alphaModFix amt="1800"/>
          </a:blip>
          <a:srcRect xmlns:a="http://schemas.openxmlformats.org/drawingml/2006/main" l="0" t="4939" r="28793" b="22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1601" y="902926"/>
            <a:ext cx="9550400" cy="5955074"/>
          </a:xfrm>
          <a:prstGeom xmlns:a="http://schemas.openxmlformats.org/drawingml/2006/main" prst="rect">
            <a:avLst/>
          </a:prstGeom>
        </p:spPr>
      </p:pic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CD8CFD7C-4F51-4486-AAA5-6D33262C3A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53470a6adc44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285750"/>
            <a:ext cx="2628900" cy="600075"/>
          </a:xfrm>
          <a:prstGeom xmlns:a="http://schemas.openxmlformats.org/drawingml/2006/main" prst="rect">
            <a:avLst/>
          </a:prstGeom>
        </p:spPr>
      </p:pic>
      <p:sp>
        <p:nvSpPr>
          <p:cNvPr id="8" name="得分分布：平均领先仍伴随局部失败与截断">
            <a:extLst xmlns:a="http://schemas.openxmlformats.org/drawingml/2006/main">
              <a:ext uri="{FF2B5EF4-FFF2-40B4-BE49-F238E27FC236}">
                <a16:creationId xmlns:a16="http://schemas.microsoft.com/office/drawing/2014/main" id="{4551AF98-F1C9-492D-851C-1F0AFFC5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rPr>
              <a:t>低分尾部、配对差与时间截断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38043-051E-4871-BEAB-EBF8FC1B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0"/>
          </a:solidFill>
          <a:ln xmlns:a="http://schemas.openxmlformats.org/drawingml/2006/main" w="0">
            <a:noFill/>
          </a:ln>
        </p:spPr>
      </p:sp>
      <p:sp>
        <p:nvSpPr>
          <p:cNvPr id="10" name="15">
            <a:extLst xmlns:a="http://schemas.openxmlformats.org/drawingml/2006/main">
              <a:ext uri="{FF2B5EF4-FFF2-40B4-BE49-F238E27FC236}">
                <a16:creationId xmlns:a16="http://schemas.microsoft.com/office/drawing/2014/main" id="{52EDFE9B-7F4F-4C18-ABA3-631021ED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674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11" name="DQN − 主 PPO 的逐局差（由小到大）">
            <a:extLst xmlns:a="http://schemas.openxmlformats.org/drawingml/2006/main">
              <a:ext uri="{FF2B5EF4-FFF2-40B4-BE49-F238E27FC236}">
                <a16:creationId xmlns:a16="http://schemas.microsoft.com/office/drawing/2014/main" id="{BDCF0A83-2013-4FCD-AA7D-E774D4B1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9775"/>
            <a:ext cx="6200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DQN − 主 PPO 的逐局差（由小到大）</a:t>
            </a:r>
          </a:p>
        </p:txBody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D1DCDC3C-521F-4442-B7F2-97F60703A06F}"/>
              </a:ext>
            </a:extLst>
          </p:cNvPr>
          <p:cNvGraphicFramePr/>
          <p:nvPr/>
        </p:nvGraphicFramePr>
        <p:xfrm>
          <a:off xmlns:a="http://schemas.openxmlformats.org/drawingml/2006/main" x="523875" y="2571750"/>
          <a:ext xmlns:a="http://schemas.openxmlformats.org/drawingml/2006/main" cx="6200775" cy="2800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213ac3dc23641c9"/>
          </a:graphicData>
        </a:graphic>
      </p:graphicFrame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B5ECE-67F2-4B6C-851A-D0CD65233BAD}"/>
              </a:ext>
            </a:extLst>
          </p:cNvPr>
          <p:cNvGraphicFramePr/>
          <p:nvPr/>
        </p:nvGraphicFramePr>
        <p:xfrm>
          <a:off xmlns:a="http://schemas.openxmlformats.org/drawingml/2006/main" x="7181850" y="1981200"/>
          <a:ext xmlns:a="http://schemas.openxmlformats.org/drawingml/2006/main" cx="4467225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29060"/>
                <a:gridCol w="1169082"/>
                <a:gridCol w="1169083"/>
              </a:tblGrid>
              <a:tr h="52070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尾部与完成情况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DQN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 PPO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</a:tr>
              <a:tr h="52070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25 百分位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235.50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80.00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低于 50 分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0/50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9/50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最高分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497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436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时间截断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0/50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5/50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864 分完整通关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0/50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0/50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19 个开局仍由 PPO 得分更高">
            <a:extLst xmlns:a="http://schemas.openxmlformats.org/drawingml/2006/main">
              <a:ext uri="{FF2B5EF4-FFF2-40B4-BE49-F238E27FC236}">
                <a16:creationId xmlns:a16="http://schemas.microsoft.com/office/drawing/2014/main" id="{5CAE63E4-171E-4B8C-AB9E-10F8E653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67375"/>
            <a:ext cx="6200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19 个开局仍由 PPO 得分更高</a:t>
            </a:r>
          </a:p>
        </p:txBody>
      </p:sp>
      <p:sp>
        <p:nvSpPr>
          <p:cNvPr id="15" name="均值领先不代表逐局占优；游戏种子配对保留了开局差异。">
            <a:extLst xmlns:a="http://schemas.openxmlformats.org/drawingml/2006/main">
              <a:ext uri="{FF2B5EF4-FFF2-40B4-BE49-F238E27FC236}">
                <a16:creationId xmlns:a16="http://schemas.microsoft.com/office/drawing/2014/main" id="{62A5A9A5-5A17-4703-8CDC-77F17D93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67425"/>
            <a:ext cx="6200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均值领先不代表逐局占优；游戏种子配对保留了开局差异。</a:t>
            </a:r>
          </a:p>
        </p:txBody>
      </p:sp>
      <p:sp>
        <p:nvSpPr>
          <p:cNvPr id="16" name="截断 ≠ 通关；局长 ≠ 得分效率">
            <a:extLst xmlns:a="http://schemas.openxmlformats.org/drawingml/2006/main">
              <a:ext uri="{FF2B5EF4-FFF2-40B4-BE49-F238E27FC236}">
                <a16:creationId xmlns:a16="http://schemas.microsoft.com/office/drawing/2014/main" id="{D0E61DA9-8088-4CF7-93E4-3271644A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43550"/>
            <a:ext cx="4467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截断 ≠ 通关；局长 ≠ 得分效率</a:t>
            </a:r>
          </a:p>
        </p:txBody>
      </p:sp>
      <p:sp>
        <p:nvSpPr>
          <p:cNvPr id="17" name="PPO λ=.99 另有 3/50 局截断。&#10;所有候选均未实现完整通关。">
            <a:extLst xmlns:a="http://schemas.openxmlformats.org/drawingml/2006/main">
              <a:ext uri="{FF2B5EF4-FFF2-40B4-BE49-F238E27FC236}">
                <a16:creationId xmlns:a16="http://schemas.microsoft.com/office/drawing/2014/main" id="{3DED9661-EA72-4763-B649-D226E3B6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953125"/>
            <a:ext cx="44672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7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7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7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7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7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7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7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7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7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PPO λ=.99 另有 3/50 局截断。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所有候选均未实现完整通关。</a:t>
            </a:r>
          </a:p>
        </p:txBody>
      </p:sp>
      <p:sp>
        <p:nvSpPr>
          <p:cNvPr id="18" name="同一 50 局测试；图中一列对应一个完整开局对。固定模型的回合统计不能代替多个独立训练种子">
            <a:extLst xmlns:a="http://schemas.openxmlformats.org/drawingml/2006/main">
              <a:ext uri="{FF2B5EF4-FFF2-40B4-BE49-F238E27FC236}">
                <a16:creationId xmlns:a16="http://schemas.microsoft.com/office/drawing/2014/main" id="{1DF0EF4C-1F80-4EF2-B772-11F1126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67475"/>
            <a:ext cx="1072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rPr>
              <a:t>同一 50 局测试；图中一列对应一个完整开局对。固定模型的回合统计不能代替多个独立训练种子的验证。</a:t>
            </a:r>
          </a:p>
        </p:txBody>
      </p:sp>
    </p:spTree>
    <p:extLst>
      <p:ext uri="{BB962C8B-B14F-4D97-AF65-F5344CB8AC3E}">
        <p14:creationId xmlns:p14="http://schemas.microsoft.com/office/powerpoint/2010/main" val="156054096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D8FC8DD5-57BE-4F85-915B-0CD09BF77D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9a5d1341d524b70">
            <a:alphaModFix amt="1800"/>
          </a:blip>
          <a:srcRect xmlns:a="http://schemas.openxmlformats.org/drawingml/2006/main" l="0" t="4939" r="28793" b="22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1601" y="902926"/>
            <a:ext cx="9550400" cy="5955074"/>
          </a:xfrm>
          <a:prstGeom xmlns:a="http://schemas.openxmlformats.org/drawingml/2006/main" prst="rect">
            <a:avLst/>
          </a:prstGeom>
        </p:spPr>
      </p:pic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6769A769-6FE5-4093-B92A-329223EE98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a07961a8b45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285750"/>
            <a:ext cx="2628900" cy="600075"/>
          </a:xfrm>
          <a:prstGeom xmlns:a="http://schemas.openxmlformats.org/drawingml/2006/main" prst="rect">
            <a:avLst/>
          </a:prstGeom>
        </p:spPr>
      </p:pic>
      <p:sp>
        <p:nvSpPr>
          <p:cNvPr id="8" name="行为观察：成功接球与右侧漏接同时存在">
            <a:extLst xmlns:a="http://schemas.openxmlformats.org/drawingml/2006/main">
              <a:ext uri="{FF2B5EF4-FFF2-40B4-BE49-F238E27FC236}">
                <a16:creationId xmlns:a16="http://schemas.microsoft.com/office/drawing/2014/main" id="{67F16855-8D49-415F-8667-C6BEA86F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rPr>
              <a:t>DQN 真实轨迹：接球与漏接</a:t>
            </a:r>
            <a:endParaRPr sz="2700" b="1">
              <a:solidFill>
                <a:srgbClr val="244B6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81DAF77-294F-4A77-A54D-7BFB6055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0"/>
          </a:solidFill>
          <a:ln xmlns:a="http://schemas.openxmlformats.org/drawingml/2006/main" w="0">
            <a:noFill/>
          </a:ln>
        </p:spPr>
      </p:sp>
      <p:sp>
        <p:nvSpPr>
          <p:cNvPr id="10" name="16">
            <a:extLst xmlns:a="http://schemas.openxmlformats.org/drawingml/2006/main">
              <a:ext uri="{FF2B5EF4-FFF2-40B4-BE49-F238E27FC236}">
                <a16:creationId xmlns:a16="http://schemas.microsoft.com/office/drawing/2014/main" id="{576CE8FF-6B29-4DC9-AD16-2D66E5DA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674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16</a:t>
            </a:r>
            <a:endParaRPr sz="1200" b="0">
              <a:solidFill>
                <a:srgbClr val="06598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接球 1/4">
            <a:extLst xmlns:a="http://schemas.openxmlformats.org/drawingml/2006/main">
              <a:ext uri="{FF2B5EF4-FFF2-40B4-BE49-F238E27FC236}">
                <a16:creationId xmlns:a16="http://schemas.microsoft.com/office/drawing/2014/main" id="{9A4C16EA-6DB5-42C6-A4D8-F8232218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接球 1/4</a:t>
            </a:r>
            <a:endParaRPr sz="1725" b="1">
              <a:solidFill>
                <a:srgbClr val="287F7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1.95s   帧 117">
            <a:extLst xmlns:a="http://schemas.openxmlformats.org/drawingml/2006/main">
              <a:ext uri="{FF2B5EF4-FFF2-40B4-BE49-F238E27FC236}">
                <a16:creationId xmlns:a16="http://schemas.microsoft.com/office/drawing/2014/main" id="{63BEDAB8-3F59-447D-8EFC-0BB944F0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00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1.95s   帧 117</a:t>
            </a:r>
            <a:endParaRPr sz="1500" b="0">
              <a:solidFill>
                <a:srgbClr val="287F77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" name="图片 12">
            <a:extLst xmlns:a="http://schemas.openxmlformats.org/drawingml/2006/main">
              <a:ext uri="{FF2B5EF4-FFF2-40B4-BE49-F238E27FC236}">
                <a16:creationId xmlns:a16="http://schemas.microsoft.com/office/drawing/2014/main" id="{1F31D3D6-CB7A-44C7-AA0A-17166C5882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761fab8c1241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2686050"/>
            <a:ext cx="2000250" cy="937617"/>
          </a:xfrm>
          <a:prstGeom xmlns:a="http://schemas.openxmlformats.org/drawingml/2006/main" prst="rect">
            <a:avLst/>
          </a:prstGeom>
        </p:spPr>
      </p:pic>
      <p:sp>
        <p:nvSpPr>
          <p:cNvPr id="14" name="1 分   5 条生命">
            <a:extLst xmlns:a="http://schemas.openxmlformats.org/drawingml/2006/main">
              <a:ext uri="{FF2B5EF4-FFF2-40B4-BE49-F238E27FC236}">
                <a16:creationId xmlns:a16="http://schemas.microsoft.com/office/drawing/2014/main" id="{2C059FDC-6319-48B3-951B-A4A173A3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766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1 分   5 条生命</a:t>
            </a:r>
            <a:endParaRPr sz="1500" b="0">
              <a:solidFill>
                <a:srgbClr val="287F7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91A54F03-1EC5-4864-A230-176A6485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052" y="2692032"/>
            <a:ext cx="152400" cy="152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1C857"/>
            </a:solidFill>
          </a:ln>
        </p:spPr>
      </p:sp>
      <p:sp>
        <p:nvSpPr>
          <p:cNvPr id="16" name="接球 2/4">
            <a:extLst xmlns:a="http://schemas.openxmlformats.org/drawingml/2006/main">
              <a:ext uri="{FF2B5EF4-FFF2-40B4-BE49-F238E27FC236}">
                <a16:creationId xmlns:a16="http://schemas.microsoft.com/office/drawing/2014/main" id="{EA68CE3B-7BFA-43D5-B218-1563AB54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95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接球 2/4</a:t>
            </a:r>
            <a:endParaRPr sz="1725" b="1">
              <a:solidFill>
                <a:srgbClr val="287F7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2.15s   帧 129">
            <a:extLst xmlns:a="http://schemas.openxmlformats.org/drawingml/2006/main">
              <a:ext uri="{FF2B5EF4-FFF2-40B4-BE49-F238E27FC236}">
                <a16:creationId xmlns:a16="http://schemas.microsoft.com/office/drawing/2014/main" id="{C758E954-9445-4DF6-96F6-2F37E5D9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00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2.15s   帧 129</a:t>
            </a:r>
            <a:endParaRPr sz="1500" b="0">
              <a:solidFill>
                <a:srgbClr val="287F77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" name="图片 17">
            <a:extLst xmlns:a="http://schemas.openxmlformats.org/drawingml/2006/main">
              <a:ext uri="{FF2B5EF4-FFF2-40B4-BE49-F238E27FC236}">
                <a16:creationId xmlns:a16="http://schemas.microsoft.com/office/drawing/2014/main" id="{D985C92C-CA83-468A-9E93-3B0DDE6F32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98420884d49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05100" y="2686050"/>
            <a:ext cx="2000250" cy="937617"/>
          </a:xfrm>
          <a:prstGeom xmlns:a="http://schemas.openxmlformats.org/drawingml/2006/main" prst="rect">
            <a:avLst/>
          </a:prstGeom>
        </p:spPr>
      </p:pic>
      <p:sp>
        <p:nvSpPr>
          <p:cNvPr id="19" name="1 分   5 条生命">
            <a:extLst xmlns:a="http://schemas.openxmlformats.org/drawingml/2006/main">
              <a:ext uri="{FF2B5EF4-FFF2-40B4-BE49-F238E27FC236}">
                <a16:creationId xmlns:a16="http://schemas.microsoft.com/office/drawing/2014/main" id="{163E222B-AB3F-474F-8DE9-AA837A1A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766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1 分   5 条生命</a:t>
            </a:r>
            <a:endParaRPr sz="1500" b="0">
              <a:solidFill>
                <a:srgbClr val="287F7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椭圆 19">
            <a:extLst xmlns:a="http://schemas.openxmlformats.org/drawingml/2006/main">
              <a:ext uri="{FF2B5EF4-FFF2-40B4-BE49-F238E27FC236}">
                <a16:creationId xmlns:a16="http://schemas.microsoft.com/office/drawing/2014/main" id="{516EEBDD-F045-4615-883E-81BF8C06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378" y="2987511"/>
            <a:ext cx="152400" cy="152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1C857"/>
            </a:solidFill>
          </a:ln>
        </p:spPr>
      </p:sp>
      <p:sp>
        <p:nvSpPr>
          <p:cNvPr id="21" name="接球 3/4">
            <a:extLst xmlns:a="http://schemas.openxmlformats.org/drawingml/2006/main">
              <a:ext uri="{FF2B5EF4-FFF2-40B4-BE49-F238E27FC236}">
                <a16:creationId xmlns:a16="http://schemas.microsoft.com/office/drawing/2014/main" id="{4D135689-F04C-40FC-AB62-6EB99025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095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接球 3/4</a:t>
            </a:r>
            <a:endParaRPr sz="1725" b="1">
              <a:solidFill>
                <a:srgbClr val="287F7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2.35s   帧 141">
            <a:extLst xmlns:a="http://schemas.openxmlformats.org/drawingml/2006/main">
              <a:ext uri="{FF2B5EF4-FFF2-40B4-BE49-F238E27FC236}">
                <a16:creationId xmlns:a16="http://schemas.microsoft.com/office/drawing/2014/main" id="{B93A92BC-A3E9-4D64-95CE-BCB47834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400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2.35s   帧 141</a:t>
            </a:r>
            <a:endParaRPr sz="1500" b="0">
              <a:solidFill>
                <a:srgbClr val="287F77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3" name="图片 22">
            <a:extLst xmlns:a="http://schemas.openxmlformats.org/drawingml/2006/main">
              <a:ext uri="{FF2B5EF4-FFF2-40B4-BE49-F238E27FC236}">
                <a16:creationId xmlns:a16="http://schemas.microsoft.com/office/drawing/2014/main" id="{ED3A46A0-1C4A-4809-B443-B161AE17B0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0f6bf8dd94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6325" y="2686050"/>
            <a:ext cx="2000250" cy="937617"/>
          </a:xfrm>
          <a:prstGeom xmlns:a="http://schemas.openxmlformats.org/drawingml/2006/main" prst="rect">
            <a:avLst/>
          </a:prstGeom>
        </p:spPr>
      </p:pic>
      <p:sp>
        <p:nvSpPr>
          <p:cNvPr id="24" name="1 分   5 条生命">
            <a:extLst xmlns:a="http://schemas.openxmlformats.org/drawingml/2006/main">
              <a:ext uri="{FF2B5EF4-FFF2-40B4-BE49-F238E27FC236}">
                <a16:creationId xmlns:a16="http://schemas.microsoft.com/office/drawing/2014/main" id="{0CEF7C5D-5116-46AC-AD8B-D2C8D0DE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6766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1 分   5 条生命</a:t>
            </a:r>
            <a:endParaRPr sz="1500" b="0">
              <a:solidFill>
                <a:srgbClr val="287F7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椭圆 24">
            <a:extLst xmlns:a="http://schemas.openxmlformats.org/drawingml/2006/main">
              <a:ext uri="{FF2B5EF4-FFF2-40B4-BE49-F238E27FC236}">
                <a16:creationId xmlns:a16="http://schemas.microsoft.com/office/drawing/2014/main" id="{AC7B2FC3-4BC8-4B12-9C92-176CB217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704" y="3261875"/>
            <a:ext cx="152400" cy="152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1C857"/>
            </a:solidFill>
          </a:ln>
        </p:spPr>
      </p:sp>
      <p:sp>
        <p:nvSpPr>
          <p:cNvPr id="26" name="接球 4/4">
            <a:extLst xmlns:a="http://schemas.openxmlformats.org/drawingml/2006/main">
              <a:ext uri="{FF2B5EF4-FFF2-40B4-BE49-F238E27FC236}">
                <a16:creationId xmlns:a16="http://schemas.microsoft.com/office/drawing/2014/main" id="{6ED313F2-7191-412E-AACD-BF247398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95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725" b="1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接球 4/4</a:t>
            </a:r>
            <a:endParaRPr sz="1725" b="1">
              <a:solidFill>
                <a:srgbClr val="287F7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2.55s   帧 153">
            <a:extLst xmlns:a="http://schemas.openxmlformats.org/drawingml/2006/main">
              <a:ext uri="{FF2B5EF4-FFF2-40B4-BE49-F238E27FC236}">
                <a16:creationId xmlns:a16="http://schemas.microsoft.com/office/drawing/2014/main" id="{976D00A2-4B4A-4641-A092-90F75C39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00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2.55s   帧 153</a:t>
            </a:r>
            <a:endParaRPr sz="1500" b="0">
              <a:solidFill>
                <a:srgbClr val="287F77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8" name="图片 27">
            <a:extLst xmlns:a="http://schemas.openxmlformats.org/drawingml/2006/main">
              <a:ext uri="{FF2B5EF4-FFF2-40B4-BE49-F238E27FC236}">
                <a16:creationId xmlns:a16="http://schemas.microsoft.com/office/drawing/2014/main" id="{9959B706-A16E-4A56-8B56-C58877CCFF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5a55898704b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7550" y="2686050"/>
            <a:ext cx="2000250" cy="937617"/>
          </a:xfrm>
          <a:prstGeom xmlns:a="http://schemas.openxmlformats.org/drawingml/2006/main" prst="rect">
            <a:avLst/>
          </a:prstGeom>
        </p:spPr>
      </p:pic>
      <p:sp>
        <p:nvSpPr>
          <p:cNvPr id="29" name="1 分   5 条生命">
            <a:extLst xmlns:a="http://schemas.openxmlformats.org/drawingml/2006/main">
              <a:ext uri="{FF2B5EF4-FFF2-40B4-BE49-F238E27FC236}">
                <a16:creationId xmlns:a16="http://schemas.microsoft.com/office/drawing/2014/main" id="{942145AF-0722-4D51-9405-9CBC0DC6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766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500" b="0">
                <a:solidFill>
                  <a:srgbClr val="287F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1 分   5 条生命</a:t>
            </a:r>
            <a:endParaRPr sz="1500" b="0">
              <a:solidFill>
                <a:srgbClr val="287F7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8387B824-A3FB-4AC1-BB3E-4027606B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030" y="2966396"/>
            <a:ext cx="152400" cy="152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1C857"/>
            </a:solidFill>
          </a:ln>
        </p:spPr>
      </p:sp>
      <p:sp>
        <p:nvSpPr>
          <p:cNvPr id="31" name="失球 1/4">
            <a:extLst xmlns:a="http://schemas.openxmlformats.org/drawingml/2006/main">
              <a:ext uri="{FF2B5EF4-FFF2-40B4-BE49-F238E27FC236}">
                <a16:creationId xmlns:a16="http://schemas.microsoft.com/office/drawing/2014/main" id="{47A3BB6E-C4BA-4344-8BD3-CFD39ED2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rPr>
              <a:t>失球 1/4</a:t>
            </a:r>
            <a:endParaRPr sz="1725" b="1">
              <a:solidFill>
                <a:srgbClr val="AF584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26.80s   帧 1608">
            <a:extLst xmlns:a="http://schemas.openxmlformats.org/drawingml/2006/main">
              <a:ext uri="{FF2B5EF4-FFF2-40B4-BE49-F238E27FC236}">
                <a16:creationId xmlns:a16="http://schemas.microsoft.com/office/drawing/2014/main" id="{CEC90906-EB10-489F-B084-25F74DD2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05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26.80s   帧 1608</a:t>
            </a:r>
            <a:endParaRPr sz="1500" b="0">
              <a:solidFill>
                <a:srgbClr val="AF5845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3" name="图片 32">
            <a:extLst xmlns:a="http://schemas.openxmlformats.org/drawingml/2006/main">
              <a:ext uri="{FF2B5EF4-FFF2-40B4-BE49-F238E27FC236}">
                <a16:creationId xmlns:a16="http://schemas.microsoft.com/office/drawing/2014/main" id="{8D2A5257-D250-4E15-B13C-9FC05BB3B8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a2e25f08548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4591050"/>
            <a:ext cx="2000250" cy="937617"/>
          </a:xfrm>
          <a:prstGeom xmlns:a="http://schemas.openxmlformats.org/drawingml/2006/main" prst="rect">
            <a:avLst/>
          </a:prstGeom>
        </p:spPr>
      </p:pic>
      <p:sp>
        <p:nvSpPr>
          <p:cNvPr id="34" name="20 分   5 条生命">
            <a:extLst xmlns:a="http://schemas.openxmlformats.org/drawingml/2006/main">
              <a:ext uri="{FF2B5EF4-FFF2-40B4-BE49-F238E27FC236}">
                <a16:creationId xmlns:a16="http://schemas.microsoft.com/office/drawing/2014/main" id="{4CF01056-7C0A-40D7-A12C-90951F15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816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20 分   5 条生命</a:t>
            </a:r>
            <a:endParaRPr sz="1500" b="0">
              <a:solidFill>
                <a:srgbClr val="AF584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FB4BAFBC-0A55-4A4B-8A8F-8B2DD50A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512" y="5017368"/>
            <a:ext cx="152400" cy="152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1C857"/>
            </a:solidFill>
          </a:ln>
        </p:spPr>
      </p:sp>
      <p:sp>
        <p:nvSpPr>
          <p:cNvPr id="36" name="失球 2/4">
            <a:extLst xmlns:a="http://schemas.openxmlformats.org/drawingml/2006/main">
              <a:ext uri="{FF2B5EF4-FFF2-40B4-BE49-F238E27FC236}">
                <a16:creationId xmlns:a16="http://schemas.microsoft.com/office/drawing/2014/main" id="{88350D66-ACBC-402A-A760-89A0016A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rPr>
              <a:t>失球 2/4</a:t>
            </a:r>
            <a:endParaRPr sz="1725" b="1">
              <a:solidFill>
                <a:srgbClr val="AF584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" name="27.00s   帧 1620">
            <a:extLst xmlns:a="http://schemas.openxmlformats.org/drawingml/2006/main">
              <a:ext uri="{FF2B5EF4-FFF2-40B4-BE49-F238E27FC236}">
                <a16:creationId xmlns:a16="http://schemas.microsoft.com/office/drawing/2014/main" id="{1E69BEC5-7640-45EB-A6FA-14D7A8D6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305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27.00s   帧 1620</a:t>
            </a:r>
            <a:endParaRPr sz="1500" b="0">
              <a:solidFill>
                <a:srgbClr val="AF5845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8" name="图片 37">
            <a:extLst xmlns:a="http://schemas.openxmlformats.org/drawingml/2006/main">
              <a:ext uri="{FF2B5EF4-FFF2-40B4-BE49-F238E27FC236}">
                <a16:creationId xmlns:a16="http://schemas.microsoft.com/office/drawing/2014/main" id="{DD47FA0E-5E5F-41D3-A8DC-CB931E690A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9949b25ac4b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05100" y="4591050"/>
            <a:ext cx="2000250" cy="937617"/>
          </a:xfrm>
          <a:prstGeom xmlns:a="http://schemas.openxmlformats.org/drawingml/2006/main" prst="rect">
            <a:avLst/>
          </a:prstGeom>
        </p:spPr>
      </p:pic>
      <p:sp>
        <p:nvSpPr>
          <p:cNvPr id="39" name="20 分   5 条生命">
            <a:extLst xmlns:a="http://schemas.openxmlformats.org/drawingml/2006/main">
              <a:ext uri="{FF2B5EF4-FFF2-40B4-BE49-F238E27FC236}">
                <a16:creationId xmlns:a16="http://schemas.microsoft.com/office/drawing/2014/main" id="{C4D7D6AE-C6D3-4454-A191-68F3C668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5816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20 分   5 条生命</a:t>
            </a:r>
            <a:endParaRPr sz="1500" b="0">
              <a:solidFill>
                <a:srgbClr val="AF584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" name="椭圆 39">
            <a:extLst xmlns:a="http://schemas.openxmlformats.org/drawingml/2006/main">
              <a:ext uri="{FF2B5EF4-FFF2-40B4-BE49-F238E27FC236}">
                <a16:creationId xmlns:a16="http://schemas.microsoft.com/office/drawing/2014/main" id="{BF424992-909E-4AF1-BF46-1E5B0930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77" y="5167387"/>
            <a:ext cx="152400" cy="152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1C857"/>
            </a:solidFill>
          </a:ln>
        </p:spPr>
      </p:sp>
      <p:sp>
        <p:nvSpPr>
          <p:cNvPr id="41" name="失球 3/4">
            <a:extLst xmlns:a="http://schemas.openxmlformats.org/drawingml/2006/main">
              <a:ext uri="{FF2B5EF4-FFF2-40B4-BE49-F238E27FC236}">
                <a16:creationId xmlns:a16="http://schemas.microsoft.com/office/drawing/2014/main" id="{916F22B1-1FC5-44B0-AB42-E5796510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rPr>
              <a:t>失球 3/4</a:t>
            </a:r>
            <a:endParaRPr sz="1725" b="1">
              <a:solidFill>
                <a:srgbClr val="AF584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" name="27.20s   帧 1632">
            <a:extLst xmlns:a="http://schemas.openxmlformats.org/drawingml/2006/main">
              <a:ext uri="{FF2B5EF4-FFF2-40B4-BE49-F238E27FC236}">
                <a16:creationId xmlns:a16="http://schemas.microsoft.com/office/drawing/2014/main" id="{12F62953-FEE6-4EBA-94C2-1A886CC0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305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27.20s   帧 1632</a:t>
            </a:r>
            <a:endParaRPr sz="1500" b="0">
              <a:solidFill>
                <a:srgbClr val="AF5845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3" name="图片 42">
            <a:extLst xmlns:a="http://schemas.openxmlformats.org/drawingml/2006/main">
              <a:ext uri="{FF2B5EF4-FFF2-40B4-BE49-F238E27FC236}">
                <a16:creationId xmlns:a16="http://schemas.microsoft.com/office/drawing/2014/main" id="{D0BD3754-A605-49FA-9708-21F8F78091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ed39c07114d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6325" y="4591050"/>
            <a:ext cx="2000250" cy="937617"/>
          </a:xfrm>
          <a:prstGeom xmlns:a="http://schemas.openxmlformats.org/drawingml/2006/main" prst="rect">
            <a:avLst/>
          </a:prstGeom>
        </p:spPr>
      </p:pic>
      <p:sp>
        <p:nvSpPr>
          <p:cNvPr id="44" name="20 分   5 条生命">
            <a:extLst xmlns:a="http://schemas.openxmlformats.org/drawingml/2006/main">
              <a:ext uri="{FF2B5EF4-FFF2-40B4-BE49-F238E27FC236}">
                <a16:creationId xmlns:a16="http://schemas.microsoft.com/office/drawing/2014/main" id="{48D47A04-D81A-4A59-8521-418D5310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5816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20 分   5 条生命</a:t>
            </a:r>
            <a:endParaRPr sz="1500" b="0">
              <a:solidFill>
                <a:srgbClr val="AF584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" name="椭圆 44">
            <a:extLst xmlns:a="http://schemas.openxmlformats.org/drawingml/2006/main">
              <a:ext uri="{FF2B5EF4-FFF2-40B4-BE49-F238E27FC236}">
                <a16:creationId xmlns:a16="http://schemas.microsoft.com/office/drawing/2014/main" id="{B14C1648-2203-4775-B68C-43237BB5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4079" y="5317405"/>
            <a:ext cx="152400" cy="152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1C857"/>
            </a:solidFill>
          </a:ln>
        </p:spPr>
      </p:sp>
      <p:sp>
        <p:nvSpPr>
          <p:cNvPr id="46" name="失球 4/4">
            <a:extLst xmlns:a="http://schemas.openxmlformats.org/drawingml/2006/main">
              <a:ext uri="{FF2B5EF4-FFF2-40B4-BE49-F238E27FC236}">
                <a16:creationId xmlns:a16="http://schemas.microsoft.com/office/drawing/2014/main" id="{83EC481B-8849-4A2C-BF74-8FC7B3F9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72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rPr>
              <a:t>失球 4/4</a:t>
            </a:r>
            <a:endParaRPr sz="1725" b="1">
              <a:solidFill>
                <a:srgbClr val="AF584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7" name="27.40s   帧 1644">
            <a:extLst xmlns:a="http://schemas.openxmlformats.org/drawingml/2006/main">
              <a:ext uri="{FF2B5EF4-FFF2-40B4-BE49-F238E27FC236}">
                <a16:creationId xmlns:a16="http://schemas.microsoft.com/office/drawing/2014/main" id="{53DC4DBA-72AD-43A4-9186-11264353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05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27.40s   帧 1644</a:t>
            </a:r>
            <a:endParaRPr sz="1500" b="0">
              <a:solidFill>
                <a:srgbClr val="AF5845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8" name="图片 47">
            <a:extLst xmlns:a="http://schemas.openxmlformats.org/drawingml/2006/main">
              <a:ext uri="{FF2B5EF4-FFF2-40B4-BE49-F238E27FC236}">
                <a16:creationId xmlns:a16="http://schemas.microsoft.com/office/drawing/2014/main" id="{033FBDA7-7348-4D1D-8622-BB73BD9C0D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5a711ad4546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7550" y="4591050"/>
            <a:ext cx="2000250" cy="937617"/>
          </a:xfrm>
          <a:prstGeom xmlns:a="http://schemas.openxmlformats.org/drawingml/2006/main" prst="rect">
            <a:avLst/>
          </a:prstGeom>
        </p:spPr>
      </p:pic>
      <p:sp>
        <p:nvSpPr>
          <p:cNvPr id="49" name="20 分   4 条生命">
            <a:extLst xmlns:a="http://schemas.openxmlformats.org/drawingml/2006/main">
              <a:ext uri="{FF2B5EF4-FFF2-40B4-BE49-F238E27FC236}">
                <a16:creationId xmlns:a16="http://schemas.microsoft.com/office/drawing/2014/main" id="{16F06F8B-583C-4A14-855B-1DEB3F48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5816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1500" b="0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20 分   4 条生命</a:t>
            </a:r>
            <a:endParaRPr sz="1500" b="0">
              <a:solidFill>
                <a:srgbClr val="AF584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接球片段">
            <a:extLst xmlns:a="http://schemas.openxmlformats.org/drawingml/2006/main">
              <a:ext uri="{FF2B5EF4-FFF2-40B4-BE49-F238E27FC236}">
                <a16:creationId xmlns:a16="http://schemas.microsoft.com/office/drawing/2014/main" id="{C1F70724-C3B4-4FC3-92E1-BC17D2CD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66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接球片段</a:t>
            </a:r>
            <a:endParaRPr sz="1950" b="1">
              <a:solidFill>
                <a:srgbClr val="06598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" name="挡板移到接触位置，随后小球向上反弹。">
            <a:extLst xmlns:a="http://schemas.openxmlformats.org/drawingml/2006/main">
              <a:ext uri="{FF2B5EF4-FFF2-40B4-BE49-F238E27FC236}">
                <a16:creationId xmlns:a16="http://schemas.microsoft.com/office/drawing/2014/main" id="{BF5761F9-2167-4F56-A83A-9FA074F5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67000"/>
            <a:ext cx="2266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挡板移到接触位置，随后小球向上反弹。</a:t>
            </a:r>
            <a:endParaRPr sz="1650" b="0">
              <a:solidFill>
                <a:srgbClr val="1B293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失球片段">
            <a:extLst xmlns:a="http://schemas.openxmlformats.org/drawingml/2006/main">
              <a:ext uri="{FF2B5EF4-FFF2-40B4-BE49-F238E27FC236}">
                <a16:creationId xmlns:a16="http://schemas.microsoft.com/office/drawing/2014/main" id="{3D927B58-EC46-4B41-BD7F-2ED8E99A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481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失球片段</a:t>
            </a:r>
            <a:endParaRPr sz="1950" b="1">
              <a:solidFill>
                <a:srgbClr val="06598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小球靠近右侧时超出挡板覆盖范围，生命由 5 减至 4。">
            <a:extLst xmlns:a="http://schemas.openxmlformats.org/drawingml/2006/main">
              <a:ext uri="{FF2B5EF4-FFF2-40B4-BE49-F238E27FC236}">
                <a16:creationId xmlns:a16="http://schemas.microsoft.com/office/drawing/2014/main" id="{B357CB36-370D-4FD6-B056-0F4500A7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57675"/>
            <a:ext cx="2266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小球靠近右侧时超出</a:t>
            </a:r>
            <a:endParaRPr sz="1650" b="0">
              <a:solidFill>
                <a:srgbClr val="1B2938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挡板覆盖范围，生命</a:t>
            </a:r>
            <a:endParaRPr sz="1650" b="0">
              <a:solidFill>
                <a:srgbClr val="1B2938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由 5 减至 4。</a:t>
            </a:r>
            <a:endParaRPr sz="1650" b="0">
              <a:solidFill>
                <a:srgbClr val="1B293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单个片段不足以证明&#10;精确落点预测能力。">
            <a:extLst xmlns:a="http://schemas.openxmlformats.org/drawingml/2006/main">
              <a:ext uri="{FF2B5EF4-FFF2-40B4-BE49-F238E27FC236}">
                <a16:creationId xmlns:a16="http://schemas.microsoft.com/office/drawing/2014/main" id="{3A7A58F9-F74B-478F-9BA7-79C5FFB2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600700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1">
                <a:solidFill>
                  <a:srgbClr val="AF58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rPr>
              <a:t>单个片段不足以证明</a:t>
            </a:r>
            <a:endParaRPr sz="1650" b="1">
              <a:solidFill>
                <a:srgbClr val="AF5845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500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rPr>
              <a:t>精确落点预测能力。</a:t>
            </a:r>
            <a:endParaRPr sz="1650" b="1">
              <a:solidFill>
                <a:srgbClr val="AF584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5" name="真实运行：推荐模型，种子 42000，同一局游戏；相邻采样间隔 12 个物理帧（0.2 秒">
            <a:extLst xmlns:a="http://schemas.openxmlformats.org/drawingml/2006/main">
              <a:ext uri="{FF2B5EF4-FFF2-40B4-BE49-F238E27FC236}">
                <a16:creationId xmlns:a16="http://schemas.microsoft.com/office/drawing/2014/main" id="{9D6692C6-B94E-469F-A647-D303C09C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67475"/>
            <a:ext cx="1072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rPr>
              <a:t>真实运行：DQN 推荐模型，种子 42000，同一局游戏；相邻采样间隔 12 个物理帧（0.2 秒）。此页不代表 PPO 行为。</a:t>
            </a:r>
            <a:endParaRPr sz="1200" b="0">
              <a:solidFill>
                <a:srgbClr val="5D6975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8463114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6648EEC6-7C68-4648-BAF8-7F4DAB36A1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464ce7bc36f4f37">
            <a:alphaModFix amt="1800"/>
          </a:blip>
          <a:srcRect xmlns:a="http://schemas.openxmlformats.org/drawingml/2006/main" l="0" t="4939" r="28793" b="22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1601" y="902926"/>
            <a:ext cx="9550400" cy="5955074"/>
          </a:xfrm>
          <a:prstGeom xmlns:a="http://schemas.openxmlformats.org/drawingml/2006/main" prst="rect">
            <a:avLst/>
          </a:prstGeom>
        </p:spPr>
      </p:pic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A3F33D5B-8001-4B0C-9EB1-3201552A71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bfd437f5764b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285750"/>
            <a:ext cx="2628900" cy="600075"/>
          </a:xfrm>
          <a:prstGeom xmlns:a="http://schemas.openxmlformats.org/drawingml/2006/main" prst="rect">
            <a:avLst/>
          </a:prstGeom>
        </p:spPr>
      </p:pic>
      <p:sp>
        <p:nvSpPr>
          <p:cNvPr id="8" name="结论：固定模型表现、训练稳定性与证据边界">
            <a:extLst xmlns:a="http://schemas.openxmlformats.org/drawingml/2006/main">
              <a:ext uri="{FF2B5EF4-FFF2-40B4-BE49-F238E27FC236}">
                <a16:creationId xmlns:a16="http://schemas.microsoft.com/office/drawing/2014/main" id="{74898A5C-C5DB-4089-812F-5B6DA8AE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rPr>
              <a:t>实验结论与后续验证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E6101-E706-4835-A6EB-B03EE5CE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0"/>
          </a:solidFill>
          <a:ln xmlns:a="http://schemas.openxmlformats.org/drawingml/2006/main" w="0">
            <a:noFill/>
          </a:ln>
        </p:spPr>
      </p:sp>
      <p:sp>
        <p:nvSpPr>
          <p:cNvPr id="10" name="17">
            <a:extLst xmlns:a="http://schemas.openxmlformats.org/drawingml/2006/main">
              <a:ext uri="{FF2B5EF4-FFF2-40B4-BE49-F238E27FC236}">
                <a16:creationId xmlns:a16="http://schemas.microsoft.com/office/drawing/2014/main" id="{0572C2CD-D1A5-472A-9A6F-3B86379C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674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FF5C00-A413-4EA1-9A30-013B2527BC6F}"/>
              </a:ext>
            </a:extLst>
          </p:cNvPr>
          <p:cNvGraphicFramePr/>
          <p:nvPr/>
        </p:nvGraphicFramePr>
        <p:xfrm>
          <a:off xmlns:a="http://schemas.openxmlformats.org/drawingml/2006/main" x="523875" y="1981200"/>
          <a:ext xmlns:a="http://schemas.openxmlformats.org/drawingml/2006/main" cx="111252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57725"/>
                <a:gridCol w="4657725"/>
              </a:tblGrid>
              <a:tr h="72390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本项目结果支持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结论边界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</a:tr>
              <a:tr h="72390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固定模型表现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 50 局：DQN 273.36，主 PPO 196.54</a:t>
                      </a:r>
                    </a:p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两者均高于随机策略 0.88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训练历史、调参预算不同</a:t>
                      </a:r>
                    </a:p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不能据此断言算法普遍优劣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训练稳定性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DQN 中期优于终点；恢复未超过起点</a:t>
                      </a:r>
                    </a:p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 多项改动未确认稳定额外收益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损失下降、KL 增大都不保证回报提高</a:t>
                      </a:r>
                    </a:p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组合改动不作单一机制归因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重复与评估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补齐同开局随机对照、独立测试</a:t>
                      </a:r>
                    </a:p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KL 完成 3 次配对续训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共享冻结起点；重复数量仍少</a:t>
                      </a:r>
                    </a:p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缺两算法等预算、多次从零训练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下一步验证">
            <a:extLst xmlns:a="http://schemas.openxmlformats.org/drawingml/2006/main">
              <a:ext uri="{FF2B5EF4-FFF2-40B4-BE49-F238E27FC236}">
                <a16:creationId xmlns:a16="http://schemas.microsoft.com/office/drawing/2014/main" id="{7BA694EC-F188-46E1-A90E-727E6295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4827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下一步验证</a:t>
            </a:r>
          </a:p>
        </p:txBody>
      </p:sp>
      <p:sp>
        <p:nvSpPr>
          <p:cNvPr id="13" name="统一交互与调参预算，分别重复从零训练，再用全新开局测试。&#10;针对低效循环、失球与截断统计轨迹">
            <a:extLst xmlns:a="http://schemas.openxmlformats.org/drawingml/2006/main">
              <a:ext uri="{FF2B5EF4-FFF2-40B4-BE49-F238E27FC236}">
                <a16:creationId xmlns:a16="http://schemas.microsoft.com/office/drawing/2014/main" id="{5BD05001-1457-442D-BF1F-646988E2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95950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统一交互与调参预算，分别重复从零训练，再用全新开局测试。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针对低效循环、失球与截断统计轨迹；单独研究 KL 目标调度和倍率边界。</a:t>
            </a:r>
          </a:p>
        </p:txBody>
      </p:sp>
      <p:sp>
        <p:nvSpPr>
          <p:cNvPr id="14" name="结论限定于本项目固定物理环境与已有训练配置；保留负结果、开发选模和起点模型，是两种方法共同">
            <a:extLst xmlns:a="http://schemas.openxmlformats.org/drawingml/2006/main">
              <a:ext uri="{FF2B5EF4-FFF2-40B4-BE49-F238E27FC236}">
                <a16:creationId xmlns:a16="http://schemas.microsoft.com/office/drawing/2014/main" id="{392F9FAA-A62C-43CD-8B63-9A88A60B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67475"/>
            <a:ext cx="1072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rPr>
              <a:t>结论限定于本项目固定物理环境与已有训练配置；保留负结果、开发选模和起点模型，是两种方法共同需要的实验管理。</a:t>
            </a:r>
          </a:p>
        </p:txBody>
      </p:sp>
    </p:spTree>
    <p:extLst>
      <p:ext uri="{BB962C8B-B14F-4D97-AF65-F5344CB8AC3E}">
        <p14:creationId xmlns:p14="http://schemas.microsoft.com/office/powerpoint/2010/main" val="86768908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B2BEA5A-A13C-4BD2-941B-B3CCEADC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399" y="0"/>
            <a:ext cx="12344400" cy="6857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3" name="图片 12">
            <a:extLst xmlns:a="http://schemas.openxmlformats.org/drawingml/2006/main">
              <a:ext uri="{FF2B5EF4-FFF2-40B4-BE49-F238E27FC236}">
                <a16:creationId xmlns:a16="http://schemas.microsoft.com/office/drawing/2014/main" id="{6652D024-C726-4575-9DD0-EC440C1E10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7600a53f7a4e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52400" y="238760"/>
            <a:ext cx="12382500" cy="661924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D2BE7F3F-9202-4AA9-A9CB-B2BCF2AC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8585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5400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buNone/>
              <a:defRPr sz="4275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buNone/>
              <a:defRPr sz="4275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buNone/>
              <a:defRPr sz="4275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buNone/>
              <a:defRPr sz="4275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buNone/>
              <a:defRPr sz="4275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buNone/>
              <a:defRPr sz="4275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buNone/>
              <a:defRPr sz="4275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buNone/>
              <a:defRPr sz="4275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buNone/>
              <a:defRPr sz="4275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buNone/>
              <a:defRPr sz="5400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pPr>
            <a:r>
              <a:rPr sz="5400" b="1">
                <a:solidFill>
                  <a:srgbClr val="244B61"/>
                </a:solidFill>
                <a:latin typeface="微软雅黑"/>
                <a:ea typeface="微软雅黑"/>
                <a:cs typeface="微软雅黑"/>
              </a:rPr>
              <a:t>感谢聆听</a:t>
            </a:r>
            <a:endParaRPr sz="7200" b="1">
              <a:solidFill>
                <a:srgbClr val="244B6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2" name="图片 11">
            <a:extLst xmlns:a="http://schemas.openxmlformats.org/drawingml/2006/main">
              <a:ext uri="{FF2B5EF4-FFF2-40B4-BE49-F238E27FC236}">
                <a16:creationId xmlns:a16="http://schemas.microsoft.com/office/drawing/2014/main" id="{7EA0BEB7-3D6A-44DB-AF88-7B419E52F9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23a2318fe44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55200" y="382362"/>
            <a:ext cx="1964267" cy="618074"/>
          </a:xfrm>
          <a:prstGeom xmlns:a="http://schemas.openxmlformats.org/drawingml/2006/main" prst="rect">
            <a:avLst/>
          </a:prstGeom>
        </p:spPr>
      </p:pic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3EA8DE8F-6D26-403C-AEB5-6A9B749A63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06cf5e3284a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4170" y="333375"/>
            <a:ext cx="2924175" cy="66675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2332DDB2-25E1-46E6-9084-96D4A87D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198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强化学习课程终期汇报    2026年10月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0DF8A93-8828-4172-B2CE-D87DD5CB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8667"/>
            <a:ext cx="12192000" cy="169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98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设计方法、训练过程与实验结论">
            <a:extLst xmlns:a="http://schemas.openxmlformats.org/drawingml/2006/main">
              <a:ext uri="{FF2B5EF4-FFF2-40B4-BE49-F238E27FC236}">
                <a16:creationId xmlns:a16="http://schemas.microsoft.com/office/drawing/2014/main" id="{F243A45B-F8B2-443C-AAA9-380C6C15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62275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buNone/>
              <a:defRPr sz="2550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buNone/>
              <a:defRPr sz="2550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buNone/>
              <a:defRPr sz="2550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buNone/>
              <a:defRPr sz="2550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buNone/>
              <a:defRPr sz="2550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buNone/>
              <a:defRPr sz="2550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buNone/>
              <a:defRPr sz="2550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buNone/>
              <a:defRPr sz="2550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buNone/>
              <a:defRPr sz="2550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buNone/>
              <a:defRPr sz="2550" b="1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244B61"/>
                </a:solidFill>
                <a:latin typeface="微软雅黑"/>
                <a:ea typeface="微软雅黑"/>
                <a:cs typeface="微软雅黑"/>
              </a:rPr>
              <a:t>欢迎老师和同学批评指正</a:t>
            </a:r>
            <a:endParaRPr sz="2550" b="1">
              <a:solidFill>
                <a:srgbClr val="244B6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赵恒升   硕2605班   M202674292     指导教师：何琨">
            <a:extLst xmlns:a="http://schemas.openxmlformats.org/drawingml/2006/main">
              <a:ext uri="{FF2B5EF4-FFF2-40B4-BE49-F238E27FC236}">
                <a16:creationId xmlns:a16="http://schemas.microsoft.com/office/drawing/2014/main" id="{241F1459-88F9-4048-9C90-8EAE6C3B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958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buNone/>
              <a:defRPr sz="1800" b="0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buNone/>
              <a:defRPr sz="1800" b="0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buNone/>
              <a:defRPr sz="1800" b="0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buNone/>
              <a:defRPr sz="1800" b="0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buNone/>
              <a:defRPr sz="1800" b="0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buNone/>
              <a:defRPr sz="1800" b="0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buNone/>
              <a:defRPr sz="1800" b="0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buNone/>
              <a:defRPr sz="1800" b="0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buNone/>
              <a:defRPr sz="1800" b="0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赵恒升   硕2605班  </a:t>
            </a:r>
            <a:endParaRPr sz="1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800" b="0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刘柯佟</a:t>
            </a:r>
            <a:r>
              <a:rPr sz="1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  </a:t>
            </a:r>
            <a:r>
              <a:rPr sz="1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硕</a:t>
            </a:r>
            <a:r>
              <a:rPr sz="1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2605</a:t>
            </a:r>
            <a:r>
              <a:rPr sz="1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班</a:t>
            </a:r>
            <a:endParaRPr sz="1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800" b="0">
                <a:solidFill>
                  <a:srgbClr val="244B61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刘俊铖</a:t>
            </a:r>
            <a:r>
              <a:rPr sz="1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  </a:t>
            </a:r>
            <a:r>
              <a:rPr sz="1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硕</a:t>
            </a:r>
            <a:r>
              <a:rPr sz="1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2605</a:t>
            </a:r>
            <a:r>
              <a:rPr sz="1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班</a:t>
            </a:r>
            <a:endParaRPr sz="1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10694517"/>
      </p:ext>
    </p:extLst>
  </p:cSld>
</p:sld>
</file>

<file path=ppt/slides/slide1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37BC9EA4-F6C9-4323-A35E-4589BD807A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4932be3de014165">
            <a:alphaModFix amt="1800"/>
          </a:blip>
          <a:srcRect xmlns:a="http://schemas.openxmlformats.org/drawingml/2006/main" l="0" t="4939" r="28793" b="22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1601" y="902926"/>
            <a:ext cx="9550400" cy="5955074"/>
          </a:xfrm>
          <a:prstGeom xmlns:a="http://schemas.openxmlformats.org/drawingml/2006/main" prst="rect">
            <a:avLst/>
          </a:prstGeom>
        </p:spPr>
      </p:pic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B335729D-AA4A-4462-8B48-0396FF432B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cd69583b648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285750"/>
            <a:ext cx="2628900" cy="600075"/>
          </a:xfrm>
          <a:prstGeom xmlns:a="http://schemas.openxmlformats.org/drawingml/2006/main" prst="rect">
            <a:avLst/>
          </a:prstGeom>
        </p:spPr>
      </p:pic>
      <p:sp>
        <p:nvSpPr>
          <p:cNvPr id="8" name="备用：目标函数与终止处理">
            <a:extLst xmlns:a="http://schemas.openxmlformats.org/drawingml/2006/main">
              <a:ext uri="{FF2B5EF4-FFF2-40B4-BE49-F238E27FC236}">
                <a16:creationId xmlns:a16="http://schemas.microsoft.com/office/drawing/2014/main" id="{3E37CD27-2077-42B6-A742-A0554698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rPr>
              <a:t>备用：目标函数与终止处理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B56EF-9632-4F37-BB96-F2F474AF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0"/>
          </a:solidFill>
          <a:ln xmlns:a="http://schemas.openxmlformats.org/drawingml/2006/main" w="0">
            <a:noFill/>
          </a:ln>
        </p:spPr>
      </p:sp>
      <p:sp>
        <p:nvSpPr>
          <p:cNvPr id="10" name="19">
            <a:extLst xmlns:a="http://schemas.openxmlformats.org/drawingml/2006/main">
              <a:ext uri="{FF2B5EF4-FFF2-40B4-BE49-F238E27FC236}">
                <a16:creationId xmlns:a16="http://schemas.microsoft.com/office/drawing/2014/main" id="{C95F5B84-2079-4C1A-99C8-0251FCC6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674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94144-E71A-4592-ACF2-58216384D9A0}"/>
              </a:ext>
            </a:extLst>
          </p:cNvPr>
          <p:cNvGraphicFramePr/>
          <p:nvPr/>
        </p:nvGraphicFramePr>
        <p:xfrm>
          <a:off xmlns:a="http://schemas.openxmlformats.org/drawingml/2006/main" x="523875" y="4333875"/>
          <a:ext xmlns:a="http://schemas.openxmlformats.org/drawingml/2006/main" cx="11125200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57575"/>
                <a:gridCol w="7667625"/>
              </a:tblGrid>
              <a:tr h="38100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环境事件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DQN / PPO 处理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</a:tr>
              <a:tr h="38100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生命耗尽或通关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真正终止，未来价值取消自举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仅失去一条生命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保持同一完整回合，由包装器准备下一球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达到 108000 物理帧上限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时间截断，使用实际最终观测处理自举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rollout 边界或环境重置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GAE 在有效轨迹边界停止累加，不跨局传播优势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Q⁻ 为目标网络；d 表示真正终止。三步目标式展示中间未终止的情况；PPO 价值损失为 2">
            <a:extLst xmlns:a="http://schemas.openxmlformats.org/drawingml/2006/main">
              <a:ext uri="{FF2B5EF4-FFF2-40B4-BE49-F238E27FC236}">
                <a16:creationId xmlns:a16="http://schemas.microsoft.com/office/drawing/2014/main" id="{48BE39FB-74AB-4BAF-A2FB-669DFFF8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67475"/>
            <a:ext cx="1072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rPr>
              <a:t>Q⁻ 为目标网络；d 表示真正终止。三步目标式展示中间未终止的情况；PPO 价值损失为 2×Huber(δ=10)。</a:t>
            </a:r>
          </a:p>
        </p:txBody>
      </p:sp>
      <p:sp>
        <p:nvSpPr>
          <p:cNvPr id="17" name="DQN：一步与三步目标">
            <a:extLst xmlns:a="http://schemas.openxmlformats.org/drawingml/2006/main">
              <a:ext uri="{FF2B5EF4-FFF2-40B4-BE49-F238E27FC236}">
                <a16:creationId xmlns:a16="http://schemas.microsoft.com/office/drawing/2014/main" id="{D6D68281-D318-4B17-B8BF-A832C198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02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DQN：一步与三步目标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MATH:dqn">
                <a:extLst xmlns:a="http://schemas.openxmlformats.org/drawingml/2006/main">
                  <a:ext uri="{FF2B5EF4-FFF2-40B4-BE49-F238E27FC236}">
                    <a16:creationId xmlns:a16="http://schemas.microsoft.com/office/drawing/2014/main" id="{6D473D5B-88F8-4D17-98DF-2B6BFA065F6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3875" y="2438400"/>
                <a:ext cx="5905500" cy="5905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 xmlns:a="http://schemas.openxmlformats.org/drawingml/2006/main">
                <a:pPr algn="l">
                  <a:defRPr sz="1875"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ml="http://www.w3.org/1998/Math/MathML">
                      <m:sSub>
                        <m:e>
                          <m:r>
                            <a:rPr lang="en-US" sz="1875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a:rPr lang="en-US" sz="1594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a:rPr lang="en-US" sz="1875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en-US" sz="1875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1594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a:rPr lang="en-US" sz="1875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+γ</m:t>
                      </m:r>
                      <m:r>
                        <a:rPr lang="en-US" sz="1875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(1−</m:t>
                      </m:r>
                      <m:sSub>
                        <m:e>
                          <m:r>
                            <a:rPr lang="en-US" sz="1875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a:rPr lang="en-US" sz="1594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a:rPr lang="en-US" sz="1875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a:rPr lang="en-US" sz="1875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max </m:t>
                          </m:r>
                        </m:e>
                        <m:lim>
                          <m:sSup>
                            <m:e>
                              <m:r>
                                <a:rPr lang="en-US" sz="1594">
                                  <a:solidFill>
                                    <a:srgbClr val="244B6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1355">
                                  <a:solidFill>
                                    <a:srgbClr val="244B6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′</m:t>
                              </m:r>
                            </m:sup>
                          </m:sSup>
                        </m:lim>
                      </m:limLow>
                      <m:sSub>
                        <m:e>
                          <m:r>
                            <a:rPr lang="en-US" sz="1875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  <m:sub>
                          <m:sSup>
                            <m:e>
                              <m:r>
                                <a:rPr lang="en-US" sz="1594">
                                  <a:solidFill>
                                    <a:srgbClr val="244B6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  <m:sup>
                              <m:r>
                                <a:rPr lang="en-US" sz="1355">
                                  <a:solidFill>
                                    <a:srgbClr val="244B6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</m:sup>
                          </m:sSup>
                        </m:sub>
                      </m:sSub>
                      <m:r>
                        <a:rPr lang="en-US" sz="1875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1875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1594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t+1</m:t>
                          </m:r>
                        </m:sub>
                      </m:sSub>
                      <m:r>
                        <a:rPr lang="en-US" sz="1875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sSup>
                        <m:e>
                          <m:r>
                            <a:rPr lang="en-US" sz="1875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en-US" sz="1594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1875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0018" name="MATH:dqn">
                <a:extLst xmlns:a="http://schemas.openxmlformats.org/drawingml/2006/main">
                  <a:ext uri="{FF2B5EF4-FFF2-40B4-BE49-F238E27FC236}">
                    <a16:creationId xmlns:a16="http://schemas.microsoft.com/office/drawing/2014/main" id="{6D473D5B-88F8-4D17-98DF-2B6BFA065F6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3875" y="2438400"/>
                <a:ext cx="5905500" cy="5905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 xmlns:a="http://schemas.openxmlformats.org/drawingml/2006/main">
                <a:pPr algn="l">
                  <a:def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87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rPr>
                  <a:t>yₜ = rₜ + γ(1−dₜ) max Qθ⁻(sₜ₊₁,a′)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MATH:nstep">
                <a:extLst xmlns:a="http://schemas.openxmlformats.org/drawingml/2006/main">
                  <a:ext uri="{FF2B5EF4-FFF2-40B4-BE49-F238E27FC236}">
                    <a16:creationId xmlns:a16="http://schemas.microsoft.com/office/drawing/2014/main" id="{0D7D9E80-71DE-4F70-B556-0963F52FE62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3875" y="3162300"/>
                <a:ext cx="5905500" cy="8001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18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18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18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18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18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18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18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18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18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18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 xmlns:a="http://schemas.openxmlformats.org/drawingml/2006/main">
                <a:pPr algn="l">
                  <a:defRPr sz="1800"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ml="http://www.w3.org/1998/Math/MathML">
                      <m:sSubSup>
                        <m:e>
                          <m:r>
                            <a:rPr lang="en-US" sz="180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a:rPr lang="en-US" sz="153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  <m:sup>
                          <m:r>
                            <a:rPr lang="en-US" sz="153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(3)</m:t>
                          </m:r>
                        </m:sup>
                      </m:sSubSup>
                      <m:r>
                        <a:rPr lang="en-US" sz="180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1"/>
                          <m:subHide m:val="off"/>
                          <m:supHide m:val="off"/>
                        </m:naryPr>
                        <m:sub>
                          <m:r>
                            <a:rPr lang="en-US" sz="153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i=0</m:t>
                          </m:r>
                        </m:sub>
                        <m:sup>
                          <m:r>
                            <a:rPr lang="en-US" sz="153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  <m:e/>
                      </m:nary>
                      <m:sSup>
                        <m:e>
                          <m:r>
                            <a:rPr lang="en-US" sz="180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p>
                          <m:r>
                            <a:rPr lang="en-US" sz="153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p>
                      </m:sSup>
                      <m:sSub>
                        <m:e>
                          <m:r>
                            <a:rPr lang="en-US" sz="180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153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t+i</m:t>
                          </m:r>
                        </m:sub>
                      </m:sSub>
                      <m:r>
                        <a:rPr lang="en-US" sz="180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p>
                        <m:e>
                          <m:r>
                            <a:rPr lang="en-US" sz="180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</m:e>
                        <m:sup>
                          <m:r>
                            <a:rPr lang="en-US" sz="153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p>
                      </m:sSup>
                      <m:limLow>
                        <m: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max </m:t>
                          </m:r>
                        </m:e>
                        <m:lim>
                          <m:sSup>
                            <m:e>
                              <m:r>
                                <a:rPr lang="en-US" sz="1530">
                                  <a:solidFill>
                                    <a:srgbClr val="244B6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1300">
                                  <a:solidFill>
                                    <a:srgbClr val="244B6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′</m:t>
                              </m:r>
                            </m:sup>
                          </m:sSup>
                        </m:lim>
                      </m:limLow>
                      <m:sSub>
                        <m:e>
                          <m:r>
                            <a:rPr lang="en-US" sz="180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  <m:sub>
                          <m:sSup>
                            <m:e>
                              <m:r>
                                <a:rPr lang="en-US" sz="1530">
                                  <a:solidFill>
                                    <a:srgbClr val="244B6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  <m:sup>
                              <m:r>
                                <a:rPr lang="en-US" sz="1300">
                                  <a:solidFill>
                                    <a:srgbClr val="244B6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</m:sup>
                          </m:sSup>
                        </m:sub>
                      </m:sSub>
                      <m:r>
                        <a:rPr lang="en-US" sz="180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180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153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t+3</m:t>
                          </m:r>
                        </m:sub>
                      </m:sSub>
                      <m:r>
                        <a:rPr lang="en-US" sz="180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sSup>
                        <m:e>
                          <m:r>
                            <a:rPr lang="en-US" sz="180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en-US" sz="153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180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0019" name="MATH:nstep">
                <a:extLst xmlns:a="http://schemas.openxmlformats.org/drawingml/2006/main">
                  <a:ext uri="{FF2B5EF4-FFF2-40B4-BE49-F238E27FC236}">
                    <a16:creationId xmlns:a16="http://schemas.microsoft.com/office/drawing/2014/main" id="{0D7D9E80-71DE-4F70-B556-0963F52FE62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3875" y="3162300"/>
                <a:ext cx="5905500" cy="8001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 algn="l">
                  <a:defRPr sz="18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18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18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18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18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18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18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18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18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18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 xmlns:a="http://schemas.openxmlformats.org/drawingml/2006/main">
                <a:pPr algn="l">
                  <a:defRPr sz="18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80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rPr>
                  <a:t>yₜ⁽³⁾ = Σ γⁱrₜ₊ᵢ + γ³ max Qθ⁻(sₜ₊₃,a′)</a:t>
                </a:r>
              </a:p>
            </p:txBody>
          </p:sp>
        </mc:Fallback>
      </mc:AlternateContent>
      <p:sp>
        <p:nvSpPr>
          <p:cNvPr id="20" name="PPO：稳健价值回归">
            <a:extLst xmlns:a="http://schemas.openxmlformats.org/drawingml/2006/main">
              <a:ext uri="{FF2B5EF4-FFF2-40B4-BE49-F238E27FC236}">
                <a16:creationId xmlns:a16="http://schemas.microsoft.com/office/drawing/2014/main" id="{AF0B6083-CFE6-4B0A-B451-E909D895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4791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PPO：稳健价值回归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MATH:huber">
                <a:extLst xmlns:a="http://schemas.openxmlformats.org/drawingml/2006/main">
                  <a:ext uri="{FF2B5EF4-FFF2-40B4-BE49-F238E27FC236}">
                    <a16:creationId xmlns:a16="http://schemas.microsoft.com/office/drawing/2014/main" id="{37640CCE-2EF8-45D7-9BAC-CE4A913373D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58000" y="2486025"/>
                <a:ext cx="4791075" cy="10572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 xmlns:a="http://schemas.openxmlformats.org/drawingml/2006/main">
                <a:pPr algn="l">
                  <a:defRPr sz="2025"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ml="http://www.w3.org/1998/Math/MathML">
                      <m:sSub>
                        <m:e>
                          <m:r>
                            <a:rPr lang="en-US" sz="2025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en-US" sz="1721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sub>
                      </m:sSub>
                      <m:r>
                        <a:rPr lang="en-US" sz="2025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(e)</m:t>
                      </m:r>
                      <m:r>
                        <a:rPr lang="en-US" sz="2025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,"/>
                          <m:endChr m:val=""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sSup>
                                  <m:e>
                                    <m:r>
                                      <a:rPr lang="en-US" sz="2025">
                                        <a:solidFill>
                                          <a:srgbClr val="244B6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a:rPr lang="en-US" sz="1721">
                                        <a:solidFill>
                                          <a:srgbClr val="244B6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sz="2025">
                                    <a:solidFill>
                                      <a:srgbClr val="244B6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|e|≤10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25">
                                    <a:solidFill>
                                      <a:srgbClr val="244B6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20|e|−100</m:t>
                                </m:r>
                              </m:e>
                              <m:e>
                                <m:r>
                                  <a:rPr lang="en-US" sz="2025">
                                    <a:solidFill>
                                      <a:srgbClr val="244B6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|e|&gt;10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10021" name="MATH:huber">
                <a:extLst xmlns:a="http://schemas.openxmlformats.org/drawingml/2006/main">
                  <a:ext uri="{FF2B5EF4-FFF2-40B4-BE49-F238E27FC236}">
                    <a16:creationId xmlns:a16="http://schemas.microsoft.com/office/drawing/2014/main" id="{37640CCE-2EF8-45D7-9BAC-CE4A913373D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58000" y="2486025"/>
                <a:ext cx="4791075" cy="10572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 xmlns:a="http://schemas.openxmlformats.org/drawingml/2006/main">
                <a:pPr algn="l">
                  <a:def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2025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rPr>
                  <a:t>LV(e) = { e², |e|≤10 ; 20|e|−100, |e|&gt;10 }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MATH:valueerror">
                <a:extLst xmlns:a="http://schemas.openxmlformats.org/drawingml/2006/main">
                  <a:ext uri="{FF2B5EF4-FFF2-40B4-BE49-F238E27FC236}">
                    <a16:creationId xmlns:a16="http://schemas.microsoft.com/office/drawing/2014/main" id="{5DD2E96D-E9D9-4CA1-858E-6B7186F86C8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58000" y="3676650"/>
                <a:ext cx="4791075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 xmlns:a="http://schemas.openxmlformats.org/drawingml/2006/main">
                <a:pPr algn="l">
                  <a:defRPr sz="1950">
                    <a:latin typeface="Cambria Math"/>
                    <a:ea typeface="Cambria Math"/>
                    <a:cs typeface="Cambria Math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ml="http://www.w3.org/1998/Math/MathML">
                      <m:r>
                        <a:rPr lang="en-US" sz="195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e=</m:t>
                      </m:r>
                      <m:sSub>
                        <m:e>
                          <m:r>
                            <a:rPr lang="en-US" sz="195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658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sub>
                      </m:sSub>
                      <m:r>
                        <a:rPr lang="en-US" sz="195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b>
                        <m:e>
                          <m:r>
                            <a:rPr lang="en-US" sz="1950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1658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r>
                        <a:rPr lang="en-US" sz="195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  <m:r>
                        <a:rPr lang="en-US" sz="1950">
                          <a:solidFill>
                            <a:srgbClr val="244B6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1950">
                                  <a:solidFill>
                                    <a:srgbClr val="244B6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</m:acc>
                        </m:e>
                        <m:sub>
                          <m:r>
                            <a:rPr lang="en-US" sz="1658">
                              <a:solidFill>
                                <a:srgbClr val="244B6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0022" name="MATH:valueerror">
                <a:extLst xmlns:a="http://schemas.openxmlformats.org/drawingml/2006/main">
                  <a:ext uri="{FF2B5EF4-FFF2-40B4-BE49-F238E27FC236}">
                    <a16:creationId xmlns:a16="http://schemas.microsoft.com/office/drawing/2014/main" id="{5DD2E96D-E9D9-4CA1-858E-6B7186F86C8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58000" y="3676650"/>
                <a:ext cx="4791075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t">
                <a:noAutofit/>
              </a:bodyPr>
              <a:lstStyle xmlns:a="http://schemas.openxmlformats.org/drawingml/2006/main">
                <a:def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defPPr>
                <a:lvl1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1pPr>
                <a:lvl2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2pPr>
                <a:lvl3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3pPr>
                <a:lvl4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4pPr>
                <a:lvl5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5pPr>
                <a:lvl6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6pPr>
                <a:lvl7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7pPr>
                <a:lvl8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8pPr>
                <a:lvl9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lvl9pPr>
              </a:lstStyle>
              <a:p xmlns:a="http://schemas.openxmlformats.org/drawingml/2006/main">
                <a:pPr algn="l">
                  <a:def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sz="1950" b="0">
                    <a:solidFill>
                      <a:srgbClr val="244B61"/>
                    </a:solidFill>
                    <a:latin typeface="Microsoft YaHei"/>
                    <a:ea typeface="Microsoft YaHei"/>
                    <a:cs typeface="Microsoft YaHei"/>
                  </a:rPr>
                  <a:t>e = Vθ(sₜ) − R̂ₜ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1099950"/>
      </p:ext>
    </p:extLst>
  </p:cSld>
</p:sld>
</file>

<file path=ppt/slides/slide20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DEEFF5C7-C7FF-42BC-9A96-31E2C52FA4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e4e120844464959">
            <a:alphaModFix amt="1800"/>
          </a:blip>
          <a:srcRect xmlns:a="http://schemas.openxmlformats.org/drawingml/2006/main" l="0" t="4939" r="28793" b="22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1601" y="902926"/>
            <a:ext cx="9550400" cy="5955074"/>
          </a:xfrm>
          <a:prstGeom xmlns:a="http://schemas.openxmlformats.org/drawingml/2006/main" prst="rect">
            <a:avLst/>
          </a:prstGeom>
        </p:spPr>
      </p:pic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6A72E07B-F486-4FF9-B0E0-37304DB6D6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2447dcc5e44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285750"/>
            <a:ext cx="2628900" cy="600075"/>
          </a:xfrm>
          <a:prstGeom xmlns:a="http://schemas.openxmlformats.org/drawingml/2006/main" prst="rect">
            <a:avLst/>
          </a:prstGeom>
        </p:spPr>
      </p:pic>
      <p:sp>
        <p:nvSpPr>
          <p:cNvPr id="8" name="备用：实验索引与复现口径">
            <a:extLst xmlns:a="http://schemas.openxmlformats.org/drawingml/2006/main">
              <a:ext uri="{FF2B5EF4-FFF2-40B4-BE49-F238E27FC236}">
                <a16:creationId xmlns:a16="http://schemas.microsoft.com/office/drawing/2014/main" id="{014D359F-48E3-4DB6-8970-73F8D693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rPr>
              <a:t>备用：复现实验索引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33EAC-FF09-467A-B078-690D6B58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0"/>
          </a:solidFill>
          <a:ln xmlns:a="http://schemas.openxmlformats.org/drawingml/2006/main" w="0">
            <a:noFill/>
          </a:ln>
        </p:spPr>
      </p:sp>
      <p:sp>
        <p:nvSpPr>
          <p:cNvPr id="10" name="20">
            <a:extLst xmlns:a="http://schemas.openxmlformats.org/drawingml/2006/main">
              <a:ext uri="{FF2B5EF4-FFF2-40B4-BE49-F238E27FC236}">
                <a16:creationId xmlns:a16="http://schemas.microsoft.com/office/drawing/2014/main" id="{6EC381F1-C2EA-4AD8-9708-F1A6C137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674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0CC9E-F635-4307-A2FE-066066E241DE}"/>
              </a:ext>
            </a:extLst>
          </p:cNvPr>
          <p:cNvGraphicFramePr/>
          <p:nvPr/>
        </p:nvGraphicFramePr>
        <p:xfrm>
          <a:off xmlns:a="http://schemas.openxmlformats.org/drawingml/2006/main" x="523875" y="1981200"/>
          <a:ext xmlns:a="http://schemas.openxmlformats.org/drawingml/2006/main" cx="11125200" cy="3248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791450"/>
              </a:tblGrid>
              <a:tr h="464004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 / 样本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244B6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关键文件（相对 atari_breakout_rl）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6D8E2"/>
                      </a:solidFill>
                    </a:lnB>
                    <a:solidFill>
                      <a:srgbClr val="EAF2F6"/>
                    </a:solidFill>
                  </a:tcPr>
                </a:tc>
              </a:tr>
              <a:tr h="464004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 50 局逐局数据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report/data/dqn_ppo_paired_scores.csv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4004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模型散列 / 配对区间 / 协议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report/data/ppo_report_summary.json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4004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 开发曲线与实验过程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report/data/ppo_training_sources.json；PPO.md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4004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消融 / KL 诊断 / 多次续训快照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report/data/ppo_analysis/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4004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KL 冻结配置和比较汇总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results/evaluation/ppo_custom_fixed_angle_kl_study_20261022/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4001"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历史参数 / 候选选择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 anchor="ctr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5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logs/&lt;run&gt;/config.json；selected_model.json；eval/</a:t>
                      </a:r>
                    </a:p>
                  </a:txBody>
                  <a:tcPr marL="114300" marR="85725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EE7E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复核顺序：历史配置、选模记录、逐局 CSV、统计汇总及模型 SHA256。">
            <a:extLst xmlns:a="http://schemas.openxmlformats.org/drawingml/2006/main">
              <a:ext uri="{FF2B5EF4-FFF2-40B4-BE49-F238E27FC236}">
                <a16:creationId xmlns:a16="http://schemas.microsoft.com/office/drawing/2014/main" id="{F05E7694-0120-40DE-AF49-B2BDE282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435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复核顺序：历史配置、选模记录、逐局 CSV、统计汇总及模型 SHA256。</a:t>
            </a:r>
          </a:p>
        </p:txBody>
      </p:sp>
      <p:sp>
        <p:nvSpPr>
          <p:cNvPr id="13" name="统一测试用 121000–121049；KL 用 141000–141049；DQN 历史">
            <a:extLst xmlns:a="http://schemas.openxmlformats.org/drawingml/2006/main">
              <a:ext uri="{FF2B5EF4-FFF2-40B4-BE49-F238E27FC236}">
                <a16:creationId xmlns:a16="http://schemas.microsoft.com/office/drawing/2014/main" id="{6F9E3194-9B47-4333-AECD-6A23E086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91225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统一测试用 121000–121049；KL 用 141000–141049；DQN 历史 30 局仍单独报告。</a:t>
            </a:r>
          </a:p>
        </p:txBody>
      </p:sp>
      <p:sp>
        <p:nvSpPr>
          <p:cNvPr id="14" name="代码基于 full 分支 e7b19f9；PPO 原始训练记录日期 2026-10-22。">
            <a:extLst xmlns:a="http://schemas.openxmlformats.org/drawingml/2006/main">
              <a:ext uri="{FF2B5EF4-FFF2-40B4-BE49-F238E27FC236}">
                <a16:creationId xmlns:a16="http://schemas.microsoft.com/office/drawing/2014/main" id="{366C3013-B134-4CB7-B394-DD80F75A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67475"/>
            <a:ext cx="1072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rPr>
              <a:t>代码基于 full 分支 e7b19f9；PPO 原始训练记录日期 2026-10-22。当前默认 YAML 不代替历史实际参数。</a:t>
            </a:r>
          </a:p>
        </p:txBody>
      </p:sp>
    </p:spTree>
    <p:extLst>
      <p:ext uri="{BB962C8B-B14F-4D97-AF65-F5344CB8AC3E}">
        <p14:creationId xmlns:p14="http://schemas.microsoft.com/office/powerpoint/2010/main" val="806988711"/>
      </p:ext>
    </p:extLst>
  </p:cSld>
</p:sld>
</file>

<file path=ppt/slides/slide2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A2817B73-0436-4009-A96D-86AB844DD1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65b51bb7fa0476f">
            <a:alphaModFix amt="1800"/>
          </a:blip>
          <a:srcRect xmlns:a="http://schemas.openxmlformats.org/drawingml/2006/main" l="0" t="4939" r="28793" b="22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41601" y="902926"/>
            <a:ext cx="9550400" cy="5955074"/>
          </a:xfrm>
          <a:prstGeom xmlns:a="http://schemas.openxmlformats.org/drawingml/2006/main" prst="rect">
            <a:avLst/>
          </a:prstGeom>
        </p:spPr>
      </p:pic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26059620-6DF1-48A7-A1B9-A1248C938C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f05ccc31941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285750"/>
            <a:ext cx="2628900" cy="600075"/>
          </a:xfrm>
          <a:prstGeom xmlns:a="http://schemas.openxmlformats.org/drawingml/2006/main" prst="rect">
            <a:avLst/>
          </a:prstGeom>
        </p:spPr>
      </p:pic>
      <p:sp>
        <p:nvSpPr>
          <p:cNvPr id="8" name="备用：算法选择与比较结论答辩">
            <a:extLst xmlns:a="http://schemas.openxmlformats.org/drawingml/2006/main">
              <a:ext uri="{FF2B5EF4-FFF2-40B4-BE49-F238E27FC236}">
                <a16:creationId xmlns:a16="http://schemas.microsoft.com/office/drawing/2014/main" id="{D1386902-73A6-4567-928D-E766BCAA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96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4B61"/>
                </a:solidFill>
                <a:latin typeface="Microsoft YaHei"/>
                <a:ea typeface="Microsoft YaHei"/>
                <a:cs typeface="Microsoft YaHei"/>
              </a:rPr>
              <a:t>备用：算法选择与结论答辩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2F7D1-CD84-4335-88D0-73336384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9E0"/>
          </a:solidFill>
          <a:ln xmlns:a="http://schemas.openxmlformats.org/drawingml/2006/main" w="0">
            <a:noFill/>
          </a:ln>
        </p:spPr>
      </p:sp>
      <p:sp>
        <p:nvSpPr>
          <p:cNvPr id="10" name="21">
            <a:extLst xmlns:a="http://schemas.openxmlformats.org/drawingml/2006/main">
              <a:ext uri="{FF2B5EF4-FFF2-40B4-BE49-F238E27FC236}">
                <a16:creationId xmlns:a16="http://schemas.microsoft.com/office/drawing/2014/main" id="{9AD5055D-89E6-4A95-9DDE-903CC095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674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11" name="为什么选择 DQN + PPO，没有继续增加算法？">
            <a:extLst xmlns:a="http://schemas.openxmlformats.org/drawingml/2006/main">
              <a:ext uri="{FF2B5EF4-FFF2-40B4-BE49-F238E27FC236}">
                <a16:creationId xmlns:a16="http://schemas.microsoft.com/office/drawing/2014/main" id="{4E6CD32C-C08D-419A-A891-5C6C0B88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38350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为什么选择 DQN + PPO，没有继续增加算法？</a:t>
            </a:r>
          </a:p>
        </p:txBody>
      </p:sp>
      <p:sp>
        <p:nvSpPr>
          <p:cNvPr id="12" name="覆盖价值学习与策略优化两种机制；A2C 可行，但新增算法必须配套调参、重复训练和一致测试。">
            <a:extLst xmlns:a="http://schemas.openxmlformats.org/drawingml/2006/main">
              <a:ext uri="{FF2B5EF4-FFF2-40B4-BE49-F238E27FC236}">
                <a16:creationId xmlns:a16="http://schemas.microsoft.com/office/drawing/2014/main" id="{3C0764BE-ADE7-40F9-B01E-3A4A1821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574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覆盖价值学习与策略优化两种机制；A2C 可行，但新增算法必须配套调参、重复训练和一致测试。</a:t>
            </a:r>
          </a:p>
        </p:txBody>
      </p:sp>
      <p:sp>
        <p:nvSpPr>
          <p:cNvPr id="13" name="能否宣布 DQN 更优、KL 反馈有效？">
            <a:extLst xmlns:a="http://schemas.openxmlformats.org/drawingml/2006/main">
              <a:ext uri="{FF2B5EF4-FFF2-40B4-BE49-F238E27FC236}">
                <a16:creationId xmlns:a16="http://schemas.microsoft.com/office/drawing/2014/main" id="{2FAB9664-601F-498E-9872-79ADEE68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90900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能否宣布 DQN 更优、KL 反馈有效？</a:t>
            </a:r>
          </a:p>
        </p:txBody>
      </p:sp>
      <p:sp>
        <p:nvSpPr>
          <p:cNvPr id="14" name="当前固定 DQN 候选在统一测试中占优；训练预算不同，不能推广为算法排名。KL 三次续训的">
            <a:extLst xmlns:a="http://schemas.openxmlformats.org/drawingml/2006/main">
              <a:ext uri="{FF2B5EF4-FFF2-40B4-BE49-F238E27FC236}">
                <a16:creationId xmlns:a16="http://schemas.microsoft.com/office/drawing/2014/main" id="{CACAE226-543D-42FD-9B3B-21893ADB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1000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当前固定 DQN 候选在统一测试中占优；训练预算不同，不能推广为算法排名。KL 三次续训的收益不一致，尚未确认稳定优势。</a:t>
            </a:r>
          </a:p>
        </p:txBody>
      </p:sp>
      <p:sp>
        <p:nvSpPr>
          <p:cNvPr id="15" name="项目方法上的工作体现在哪里？">
            <a:extLst xmlns:a="http://schemas.openxmlformats.org/drawingml/2006/main">
              <a:ext uri="{FF2B5EF4-FFF2-40B4-BE49-F238E27FC236}">
                <a16:creationId xmlns:a16="http://schemas.microsoft.com/office/drawing/2014/main" id="{ED4C2091-50DD-48B6-B554-6622E303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43450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65980"/>
                </a:solidFill>
                <a:latin typeface="Microsoft YaHei"/>
                <a:ea typeface="Microsoft YaHei"/>
                <a:cs typeface="Microsoft YaHei"/>
              </a:rPr>
              <a:t>项目方法上的工作体现在哪里？</a:t>
            </a:r>
          </a:p>
        </p:txBody>
      </p:sp>
      <p:sp>
        <p:nvSpPr>
          <p:cNvPr id="16" name="统一像素环境；回退诊断与开发选模；独立梯度裁剪 / Huber、GAE 与有界 KL 反馈">
            <a:extLst xmlns:a="http://schemas.openxmlformats.org/drawingml/2006/main">
              <a:ext uri="{FF2B5EF4-FFF2-40B4-BE49-F238E27FC236}">
                <a16:creationId xmlns:a16="http://schemas.microsoft.com/office/drawing/2014/main" id="{B0EB32FB-F6DB-481D-9383-F0D998D2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625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1B29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3746"/>
                </a:solidFill>
                <a:latin typeface="Microsoft YaHei"/>
                <a:ea typeface="Microsoft YaHei"/>
                <a:cs typeface="Microsoft YaHei"/>
              </a:rPr>
              <a:t>统一像素环境；回退诊断与开发选模；独立梯度裁剪 / Huber、GAE 与有界 KL 反馈的实现及配对验证。工程变体不宣称新算法。</a:t>
            </a:r>
          </a:p>
        </p:txBody>
      </p:sp>
      <p:sp>
        <p:nvSpPr>
          <p:cNvPr id="17" name="参考：SB3 官方 DQN / PPO / Algorithms；Schulman et ">
            <a:extLst xmlns:a="http://schemas.openxmlformats.org/drawingml/2006/main">
              <a:ext uri="{FF2B5EF4-FFF2-40B4-BE49-F238E27FC236}">
                <a16:creationId xmlns:a16="http://schemas.microsoft.com/office/drawing/2014/main" id="{99F4B318-AB47-4CDE-AA92-3B67AC29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67475"/>
            <a:ext cx="1072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5D69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rPr>
              <a:t>参考：</a:t>
            </a:r>
            <a:r>
              <a: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cadae1b0ca540f7"/>
              </a:rPr>
              <a:t>SB3 官方 DQN</a:t>
            </a:r>
            <a:r>
              <a: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97208434cac41d6"/>
              </a:rPr>
              <a:t>PPO</a:t>
            </a:r>
            <a:r>
              <a: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81f28dc348c4f4f"/>
              </a:rPr>
              <a:t>Algorithms</a:t>
            </a:r>
            <a:r>
              <a: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</a:rPr>
              <a:t>；</a:t>
            </a:r>
            <a:r>
              <a:rPr sz="975" b="0">
                <a:solidFill>
                  <a:srgbClr val="63758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05e4c0c2eda4719"/>
              </a:rPr>
              <a:t>Schulman et al., Proximal Policy Optimization Algorithms (2017)</a:t>
            </a:r>
          </a:p>
        </p:txBody>
      </p:sp>
    </p:spTree>
    <p:extLst>
      <p:ext uri="{BB962C8B-B14F-4D97-AF65-F5344CB8AC3E}">
        <p14:creationId xmlns:p14="http://schemas.microsoft.com/office/powerpoint/2010/main" val="291142206"/>
      </p:ext>
    </p:extLst>
  </p:cSld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2026-10-25T07:48:12.5020000Z</dcterms:created>
  <dcterms:modified xsi:type="dcterms:W3CDTF">2026-10-25T07:48:12.5020000Z</dcterms:modified>
</coreProperties>
</file>