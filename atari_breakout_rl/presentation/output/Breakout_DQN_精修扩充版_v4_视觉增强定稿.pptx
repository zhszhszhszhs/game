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725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动作价值 Q（教学示例）</a:t>
            </a:r>
            <a:endParaRPr sz="1725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数值</c:f>
              <c:strCache>
                <c:ptCount val="1"/>
                <c:pt idx="0">
                  <c:v>数值</c:v>
                </c:pt>
              </c:strCache>
            </c:strRef>
          </c:tx>
          <c:spPr>
            <a:solidFill>
              <a:srgbClr val="58DADE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64798C"/>
              </a:solidFill>
            </c:spPr>
          </c:dPt>
          <c:dPt>
            <c:idx val="1"/>
            <c:invertIfNegative val="0"/>
            <c:bubble3D val="0"/>
            <c:spPr>
              <a:solidFill>
                <a:srgbClr val="64798C"/>
              </a:solidFill>
            </c:spPr>
          </c:dPt>
          <c:dPt>
            <c:idx val="2"/>
            <c:invertIfNegative val="0"/>
            <c:bubble3D val="0"/>
            <c:spPr>
              <a:solidFill>
                <a:srgbClr val="64798C"/>
              </a:solidFill>
            </c:spPr>
          </c:dPt>
          <c:dPt>
            <c:idx val="3"/>
            <c:invertIfNegative val="0"/>
            <c:bubble3D val="0"/>
            <c:spPr>
              <a:solidFill>
                <a:srgbClr val="58DADE"/>
              </a:solidFill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Data'!$A$2:$A$5</c:f>
              <c:strCache>
                <c:ptCount val="4"/>
                <c:pt idx="0">
                  <c:v>等待</c:v>
                </c:pt>
                <c:pt idx="1">
                  <c:v>发球</c:v>
                </c:pt>
                <c:pt idx="2">
                  <c:v>右移</c:v>
                </c:pt>
                <c:pt idx="3">
                  <c:v>左移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2.1</c:v>
                </c:pt>
                <c:pt idx="1">
                  <c:v>2.3</c:v>
                </c:pt>
                <c:pt idx="2">
                  <c:v>1.4</c:v>
                </c:pt>
                <c:pt idx="3">
                  <c:v>5.8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4763">
            <a:solidFill>
              <a:srgbClr val="73859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7"/>
          <c:min val="0"/>
        </c:scaling>
        <c:delete val="0"/>
        <c:axPos val="l"/>
        <c:majorGridlines>
          <c:spPr>
            <a:ln w="4763">
              <a:solidFill>
                <a:srgbClr val="283548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650" b="0" i="0" u="none" strike="noStrike" kern="1200" baseline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</c:valAx>
      <c:spPr>
        <a:solidFill>
          <a:srgbClr val="0B1422"/>
        </a:solidFill>
        <a:ln w="0"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62f15026-6a3a-4adb-b363-3409289067e7}"/>
      </c:ext>
    </c:extLst>
  </c:chart>
  <c:spPr>
    <a:solidFill>
      <a:srgbClr val="0B1422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725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随机动作概率 ε</a:t>
            </a:r>
            <a:endParaRPr sz="1725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探索概率</c:f>
              <c:strCache>
                <c:ptCount val="1"/>
                <c:pt idx="0">
                  <c:v>探索概率</c:v>
                </c:pt>
              </c:strCache>
            </c:strRef>
          </c:tx>
          <c:spPr>
            <a:ln w="38100" cap="rnd">
              <a:solidFill>
                <a:srgbClr val="58DADE"/>
              </a:solidFill>
              <a:prstDash val="solid"/>
              <a:round/>
            </a:ln>
          </c:spPr>
          <c:marker>
            <c:symbol val="circle"/>
            <c:size val="8"/>
            <c:spPr>
              <a:solidFill>
                <a:srgbClr val="58DADE"/>
              </a:solidFill>
            </c:spPr>
          </c:marker>
          <c:dLbls>
            <c:delete val="1"/>
          </c:dLbls>
          <c:cat>
            <c:strRef>
              <c:f>'Chart Data'!$A$2:$A$7</c:f>
              <c:strCache>
                <c:ptCount val="6"/>
                <c:pt idx="0">
                  <c:v>0</c:v>
                </c:pt>
                <c:pt idx="1">
                  <c:v>100k</c:v>
                </c:pt>
                <c:pt idx="2">
                  <c:v>200k</c:v>
                </c:pt>
                <c:pt idx="3">
                  <c:v>300k</c:v>
                </c:pt>
                <c:pt idx="4">
                  <c:v>400k</c:v>
                </c:pt>
                <c:pt idx="5">
                  <c:v>500k</c:v>
                </c:pt>
              </c:strCache>
            </c:strRef>
          </c:cat>
          <c:val>
            <c:numRef>
              <c:f>'Chart Data'!$B$2:$B$7</c:f>
              <c:numCache>
                <c:formatCode>0%</c:formatCode>
                <c:ptCount val="6"/>
                <c:pt idx="0">
                  <c:v>1</c:v>
                </c:pt>
                <c:pt idx="1">
                  <c:v>0.683333</c:v>
                </c:pt>
                <c:pt idx="2">
                  <c:v>0.366667</c:v>
                </c:pt>
                <c:pt idx="3">
                  <c:v>0.05</c:v>
                </c:pt>
                <c:pt idx="4">
                  <c:v>0.05</c:v>
                </c:pt>
                <c:pt idx="5">
                  <c:v>0.05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4763">
            <a:solidFill>
              <a:srgbClr val="73859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4763">
              <a:solidFill>
                <a:srgbClr val="283548"/>
              </a:solidFill>
              <a:prstDash val="solid"/>
              <a:round/>
            </a:ln>
          </c:spPr>
        </c:majorGridlines>
        <c:numFmt formatCode="0%" sourceLinked="1"/>
        <c:majorTickMark val="none"/>
        <c:minorTickMark val="none"/>
        <c:tickLblPos val="nextTo"/>
        <c:spPr>
          <a:ln w="0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650" b="0" i="0" u="none" strike="noStrike" kern="1200" baseline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  <c:majorUnit val="0.2"/>
      </c:valAx>
      <c:spPr>
        <a:solidFill>
          <a:srgbClr val="0B1422"/>
        </a:solidFill>
        <a:ln w="0"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54c07675-1272-4f45-a42b-b553b4bcc3a3}"/>
      </c:ext>
    </c:extLst>
  </c:chart>
  <c:spPr>
    <a:solidFill>
      <a:srgbClr val="0B1422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725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平均游戏得分（文档记录）</a:t>
            </a:r>
            <a:endParaRPr sz="1725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数值</c:f>
              <c:strCache>
                <c:ptCount val="1"/>
                <c:pt idx="0">
                  <c:v>数值</c:v>
                </c:pt>
              </c:strCache>
            </c:strRef>
          </c:tx>
          <c:spPr>
            <a:solidFill>
              <a:srgbClr val="58DADE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64798C"/>
              </a:solidFill>
            </c:spPr>
          </c:dPt>
          <c:dPt>
            <c:idx val="1"/>
            <c:invertIfNegative val="0"/>
            <c:bubble3D val="0"/>
            <c:spPr>
              <a:solidFill>
                <a:srgbClr val="58DADE"/>
              </a:solidFill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Data'!$A$2:$A$3</c:f>
              <c:strCache>
                <c:ptCount val="2"/>
                <c:pt idx="0">
                  <c:v>上一轮最终模型</c:v>
                </c:pt>
                <c:pt idx="1">
                  <c:v>推荐模型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122.4</c:v>
                </c:pt>
                <c:pt idx="1">
                  <c:v>260.27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4763">
            <a:solidFill>
              <a:srgbClr val="73859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0"/>
          <c:min val="0"/>
        </c:scaling>
        <c:delete val="0"/>
        <c:axPos val="l"/>
        <c:majorGridlines>
          <c:spPr>
            <a:ln w="4763">
              <a:solidFill>
                <a:srgbClr val="283548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650" b="0" i="0" u="none" strike="noStrike" kern="1200" baseline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</c:valAx>
      <c:spPr>
        <a:solidFill>
          <a:srgbClr val="0B1422"/>
        </a:solidFill>
        <a:ln w="0"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8286a472-0ef4-43e5-bb2d-61423919f2c8}"/>
      </c:ext>
    </c:extLst>
  </c:chart>
  <c:spPr>
    <a:solidFill>
      <a:srgbClr val="0B1422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725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低学习率续训阶段开发均分（50 局）</a:t>
            </a:r>
            <a:endParaRPr sz="1725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数值</c:f>
              <c:strCache>
                <c:ptCount val="1"/>
                <c:pt idx="0">
                  <c:v>数值</c:v>
                </c:pt>
              </c:strCache>
            </c:strRef>
          </c:tx>
          <c:spPr>
            <a:solidFill>
              <a:srgbClr val="58DADE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58DADE"/>
              </a:solidFill>
            </c:spPr>
          </c:dPt>
          <c:dPt>
            <c:idx val="1"/>
            <c:invertIfNegative val="0"/>
            <c:bubble3D val="0"/>
            <c:spPr>
              <a:solidFill>
                <a:srgbClr val="64798C"/>
              </a:solidFill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Data'!$A$2:$A$3</c:f>
              <c:strCache>
                <c:ptCount val="2"/>
                <c:pt idx="0">
                  <c:v>本阶段最佳</c:v>
                </c:pt>
                <c:pt idx="1">
                  <c:v>阶段结束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283.48</c:v>
                </c:pt>
                <c:pt idx="1">
                  <c:v>113.12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4763">
            <a:solidFill>
              <a:srgbClr val="73859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20"/>
          <c:min val="0"/>
        </c:scaling>
        <c:delete val="0"/>
        <c:axPos val="l"/>
        <c:majorGridlines>
          <c:spPr>
            <a:ln w="4763">
              <a:solidFill>
                <a:srgbClr val="283548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650" b="0" i="0" u="none" strike="noStrike" kern="1200" baseline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</c:valAx>
      <c:spPr>
        <a:solidFill>
          <a:srgbClr val="0B1422"/>
        </a:solidFill>
        <a:ln w="0"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77001ee8-6dd0-4bcd-99f7-5e2eb75c7cd2}"/>
      </c:ext>
    </c:extLst>
  </c:chart>
  <c:spPr>
    <a:solidFill>
      <a:srgbClr val="0B1422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各位老师、同学好，我今天汇报的项目是基于 DQN 的 Breakout 智能体，也就是让计算机学习打砖块。大家玩这类游戏时，会自然地判断球的方向，然后提前移动挡板。但对计算机来说，输入只是一组像素，它既不知道球的运动规律，也没有每一步的正确动作答案。我们的目标是让它通过反复交互，仅凭游戏画面和得分反馈，逐步学会接球与击砖。下面我会围绕任务、方法和验证方案展开介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明确项目最核心的设定。我们不会给模型标注这一帧应该向左、下一帧应该向右，也不会把小球坐标或预测落点直接传给它。模型只能执行动作，再观察新画面和奖励。这里希望回答两个问题：第一，图像中的运动信息能否支持挡板控制？第二，只有击砖得分的反馈，能否让模型逐渐形成有效策略？因此，项目目标既包括学习一个会控制挡板的策略，也包括设计一套能够验证学习收益的评估流程。整场汇报可以沿着屏幕上的这条主线理解：先讲任务为什么值得学习，再讲 DQN 怎样评价动作，最后讲我们如何判断它真的学到了东西。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当前使用自制的固定球速环境。画面中的挡板左右移动，小球与挡板、墙壁和砖块发生碰撞，击碎砖块后获得分数。规则包括五条生命，每面六行十八列砖块，共两面砖墙，最高分八百六十四。球速固定为每秒一百二十像素，挡板宽度固定为十六像素。接球位置会影响反弹方向，但规则不会随着击球次数变化。固定这些条件，是为了让不同训练实验面对同一个问题，便于比较策略差异。开局和失球后由环境自动发球，因此我们把重点放在接球和击砖控制上。还需要说明，这是一套自制的规则重建环境，分数用于本任务内部比较，不能直接套用原版 Atari 的成绩。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虽然动作数量很少，这个任务仍然包含几类典型的强化学习难点。首先是感知问题。单张图可以告诉我们球大概在哪里，但不能充分说明它正向上还是向下，所以需要利用时间信息。其次是延迟奖励。挡板向左移动时往往没有分数，甚至接住球也没有分数，真正的奖励可能要到球随后击中砖块才出现。模型必须把后面的收益与之前的动作联系起来。最后是连续决策，一次判断正确并不够，整局游戏需要反复做出有效动作，而一次失误就可能失去生命。也就是说，这里要学习的不只是识别物体，而是从视觉信息出发，在长期得分目标下持续控制挡板。这也决定了我们需要强化学习，而不能只训练一个静态的图像分类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张图把整个任务概括成智能体与环境之间的交互。右侧是控制挡板的智能体，左侧是游戏环境。智能体根据观测选择一个动作，环境执行动作后，返回新的画面和奖励。动作空间保留等待、发球、右移和左移，发球还有环境的自动辅助。观测是连续画面的组合，奖励则来自击碎砖块的原生游戏分数。这里我们没有额外设置接球奖励、存活奖励或失球惩罚，让优化目标始终对应游戏本身的得分。一回合包含完整的五条生命，生命耗尽或两面砖墙清空才真正结束，时间上限另作截断。这样得到的交互记录会进入训练流程，成为模型判断哪些动作更有利的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为了处理刚才的感知问题，我们把连续四帧共同交给网络。请看这几张图，小球在相邻画面中的位置变化，为模型提供了运动方向的线索。这些图来自当前环境的实际观测，用于说明输入格式，并不代表学习策略已经表现很好。原始图像是二百一十乘一百六十的 RGB 画面，预处理会重复执行动作四个物理帧，并对相邻画面做最大池化，然后灰度化、缩放到八十四乘八十四，最后堆叠四帧。输入规模因此变成四乘八十四乘八十四。需要区分动作重复和帧堆叠：前者控制多长时间重新决策，后者给当前决策保留近期历史。训练、评估和展示使用相同处理，保证模型面对一致的输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有了图像输入，接下来需要决定怎样选择动作。我们采用深度 Q 网络，也就是 DQN。前面的 CNN 从画面中提取与控制相关的特征，例如球、挡板和砖块之间的位置关系。后面的价值网络为每个离散动作输出一个 Q 值。Q 值的含义是，在当前状态选择这个动作，再继续执行策略，预计能够获得多少折扣累计回报。它不是动作概率，也不是下一步必然获得的分数。由于图像状态的组合数量极大，我们无法逐个建立 Q 表，因此需要神经网络在相似画面之间共享特征。选择 DQN 主要是因为它适合小规模离散动作，也能处理图像输入，符合这个课程项目的目标。图中只展示功能关系，不表示模型内部已经显式还原了球的精确坐标或物理方程。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为了让 Q 值更直观，这里用一组教学示例说明决策过程。假设当前小球正向左下方运动，网络对等待、发球、右移和左移分别给出图中的价值估计，其中左移最高。评估阶段采用贪心决策，因此选择左移。这里所有数值都是解释算法的示例，不是仓库模型的真实输出。我们关注的是它们的相对排序，而不是把五点八理解成下一步就能得到五点八分。网络在训练初期可能把动作排错，甚至对错误动作给出很高的价值。这些估计必须通过后续交互修正。如果左移更有助于接住球并继续击砖，相关经验反复进入训练后，模型才有机会提高这一类动作的评价。因此，选择动作和学习动作价值，是互相联系但不同的两个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那模型怎样修正动作评价呢？核心直觉是把当前奖励与下一状态的未来价值结合起来。假设刚才左移的即时奖励是零，但它让挡板更接近球的落点，因此后续状态仍然可能很有价值。举一个数值例子，如果下一状态的最佳估计价值是十，折扣因子是零点九九，那么学习目标就是零加零点九九乘十，等于九点九。如果网络原先只把当前动作估成六，训练就会让估计朝这个目标靠近。注意，这并不是一次更新就直接改成九点九，也不是把后来的全部分数无条件发给之前的每个动作。它依靠反复采样和价值自举，让延迟到来的击砖收益逐步影响更早的判断。所以，即使接球没有直接奖励，长期收益仍可能让接球动作得到更高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深度网络学习动作价值时，训练容易波动，DQN 使用两种机制缓解这个问题。第一种是经验回放。连续游戏画面高度相似，如果始终只根据刚发生的经历更新，网络可能过度受近期轨迹影响。我们把交互转移存入回放池，随机抽取小批量数据学习，让一段有价值的经历可以被重复使用。这里保存的不只是成功经历，失败和低奖励经验也很重要。第二种是目标网络。在线网络负责学习与选择动作，目标网络负责提供更新较慢的后续价值估计，再定期同步参数。这样能降低学习目标变化过快带来的影响。但这两种机制并不保证训练曲线单调上升，也不能完全消除遗忘。后面仍然需要独立评估来判断策略是否真的进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除了怎样学习，还要决定怎样收集经验。我们采用 epsilon greedy，也就是以一定概率随机探索，其余时候选择当前 Q 值最大的动作。图中展示的是基础配置定义的探索计划，不是训练效果曲线。开始时随机动作概率较高，前六成训练预算内逐渐降到百分之五，之后维持这一水平。如果一開始完全相信尚未学好的网络，就可能长期重复无效动作。相反，如果一直高度随机，即使学到了有效行为，也难以稳定地执行。这个计划用来在探索与利用之间做折中。正式评估时，我们使用贪心动作，尽量观察网络本身的能力。因此，带探索的训练分数与贪心评估分数，不能直接当作同一个指标来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具体实现中，项目已经把环境、训练、评估和展示串联起来。Gymnasium 提供统一交互接口，Stable-Baselines3 负责 DQN 训练。基础训练预算是五十万决策步，经验回放容量五万条，达到预热步数后开始更新参数。训练期间会定期保存检查点，并在开发种子上评估候选策略，保存表现较好的模型。最后通过网页回放观察模型行为，结合曲线和评估文件分析结果。这里需要强调，五十万步只是一个计算预算，不代表一定收敛，也不保证通关。项目设计还支持保存和恢复模型、必要时续训，让实验能够继续推进，而不是每次都从零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实验最重要的比较对象是随机策略。我们让随机策略与 DQN 使用同一物理版本、同一预处理，以及相同的逐局种子集合。这样每一对结果对应尽量一致的开局条件，减少环境差异的干扰。首先看平均分，了解整体得分水平，再看中位数，判断典型一局是否也有改善。如果均分上升但中位数很低，可能只是少数高分局抬高了平均值，所以还应检查低分局和分数分布。开发评估用于选择模型，最终测试则在模型确定后使用留出种子。一个需要特别注意的区别是，多种开局测试检验同一个策略的表现，多次重新训练才检验训练过程的可重复性，两者不能互相替代。一段精彩演示有助于理解行为，但最终结论要靠这些完整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期效果可以分成三个层次。第一个是行为层面，在不同对局中观察到挡板能够根据小球运动进行有效调整，并多次完成接球和击砖。第二个是得分层面，学习策略在相同种子下的平均分与中位数优于随机策略，说明提升并非仅来自一次偶然的高分。第三个是可靠性，希望低分局减少，并且能够解释主要失败原因，比如移动过晚、反弹后的方向判断失误，或者对特定开局适应不足。前两项给出是否有效的证据，第三项帮助我们认识边界。这些都是待验证的目标，不是已经全部实现的结论。项目没有凭空设定必须达到多少分，也不把训练预算等同于稳定通关保证。最终希望交付的是一个可展示、可比较、能解释局限的强化学习实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仓库目前并非只有方案，文档已经记录了阶段性开发评估。这张图仅比较同一组三十个开发种子上的两份模型记录：上一轮最终模型均分是一百二十二点四，推荐模型均分是二百六十点二七。这说明选择哪一个训练节点作为候选策略，会明显影响后续展示和分析。推荐模型在这组复测中的中位数是二百五十七。不过，这两项都是开发数据，比较对象也都是学习模型，而不是随机策略。因此不能用这张图直接宣布最终泛化性能，更不能声称已经证明优于随机。另有五十局开发评估记录放在备用页，两套协议分别报告。当前最需要补齐的证据，仍然是冻结模型后的随机基线对照和最终留出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已有记录还提醒我们一个重要问题：继续训练不一定持续改善。网络参数不断变化，采集到的经验分布也会随着策略改变，模型可能在学新行为时削弱原有的有效行为。仅凭分数下降不能马上断定具体原因，但至少说明最后一个模型未必最好。仓库已经为此设计了一些保护措施，包括保存历史最佳策略、续训开始前评估起点、用已有策略预热新的经验池，以及在连续没有改善时早停。更低的学习率是一个可验证的调整方向，而不是保证有效的结论。后续分析应在保持环境规则一致的前提下，尽量一次研究一个因素，并记录比较条件。这样即使某次尝试没有提升，我们也能说明尝试了什么，以及它在当前预算下是否值得继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接下来按四个阶段推进。第一阶段固定环境和评估协议，复核随机基线，确保比较条件一致。第二阶段在开发数据上选择候选策略，必要时进行有限的续训，并保留最好的历史模型。第三阶段冻结策略，在留出种子上完成最终评估，汇总均分、中位数和低分情况。第四阶段整理成功与失败对局，把模型、配置、评估数据和展示材料一起归档。课堂上可以用网页展示行为，同时准备视频避免现场运行影响节奏。这里的重点是每一个阶段都有明确产物，而不是单纯增加训练步数。最终无论是否稳定通关，都应该能回答模型学到了什么、提升证据是什么，以及下一步最值得改进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最后回到开头的问题：没有正确动作的标签，智能体怎样学会接球？我们的方案是把连续画面作为观测，用 DQN 估计各动作的长期收益，再通过探索、经验回放和目标网络不断修正这些估计。预期结果是在固定规则的打砖块环境中形成有效控制，并通过公平的多局比较验证得分提升。这个项目的价值，在于把强化学习的建模、学习和评估连接成一个能够观察和分析的完整实例。下一阶段会重点补齐独立测试与失败分析。以上是我的汇报，谢谢大家，欢迎老师和同学提出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一步 DQN 的目标是即时奖励加上折扣后的下一状态最大动作价值。目标网络提供后续价值估计，在线网络根据 TD 误差更新参数。本项目使用 Huber loss 与 Adam。真正终止时不再自举，时间上限截断需要与真正终止区分。普通 DQN 使用目标网络完成最大值估计，本项目没有把它表述成 Double DQN。主讲中的九点九只是方便理解的假设例子。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基础配置为五十万新增决策步、五万回放容量、批量大小三十二、两万步预热、学习率零点零零零一、折扣因子零点九九。目标网络每一万步同步，探索概率在前三十万步从一降到零点零五。动作重复四个物理帧，所以决策步与物理帧不能混为一谈。续训配置采用更低且衰减的学习率，并具备起点评估、策略预热和早停。五万图像经验回放约占二点八 GB 系统内存，压缩保存主要节约磁盘空间。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推荐模型的五十局开发评估均分二百八十三点四八。额外三十个开发种子复测均分二百六十点二七、中位数二百五十七。两套评估的种子集合和局数不同，需要分别报告，不能合成一个最终测试分数。后续三步回报和扩大回放实验未超过起点，已早停。这些数字取自仓库文档记录，最终留出测试仍未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2476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强化学习课程项目</a:t>
            </a:r>
            <a:endParaRPr sz="1350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68050" y="6353175"/>
            <a:ext cx="590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50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28650" y="2133600"/>
            <a:ext cx="7334250" cy="1257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74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4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BREAKOUT</a:t>
            </a:r>
            <a:endParaRPr sz="7425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3571875"/>
            <a:ext cx="72866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 DQN 的打砖块智能体</a:t>
            </a:r>
            <a:endParaRPr sz="3150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95325" y="4524375"/>
            <a:ext cx="6572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A6C3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0">
                <a:solidFill>
                  <a:srgbClr val="A6C3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从像素感知，到长期回报</a:t>
            </a:r>
            <a:endParaRPr sz="2325" b="0">
              <a:solidFill>
                <a:srgbClr val="A6C3D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04850" y="5791200"/>
            <a:ext cx="4191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早期展示</a:t>
            </a:r>
            <a:endParaRPr sz="1875" b="0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647700" y="2476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任务与目标</a:t>
            </a:r>
            <a:endParaRPr sz="1350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68050" y="6353175"/>
            <a:ext cx="590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50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714375"/>
            <a:ext cx="10953750" cy="752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没有正确动作的标签，怎样学会接球？</a:t>
            </a:r>
            <a:endParaRPr sz="3225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720" y="1658541"/>
            <a:ext cx="2552700" cy="3350419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4618355" y="1733550"/>
            <a:ext cx="5887085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画面：学习控制线索</a:t>
            </a:r>
            <a:endParaRPr sz="2100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618355" y="2276475"/>
            <a:ext cx="5864225" cy="923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不提供球坐标或未来落点</a:t>
            </a:r>
            <a:endParaRPr sz="2325" b="0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325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从连续观测中判断如何移动</a:t>
            </a:r>
            <a:endParaRPr sz="2325" b="0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618355" y="3524250"/>
            <a:ext cx="5887085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F49D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49D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奖励：评价长期收益</a:t>
            </a:r>
            <a:endParaRPr sz="2100" b="1">
              <a:solidFill>
                <a:srgbClr val="F49D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618355" y="4067175"/>
            <a:ext cx="5864225" cy="923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没有每一步的正确动作标签</a:t>
            </a:r>
            <a:endParaRPr sz="2325" b="0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325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用后续击砖得分修正动作评价</a:t>
            </a:r>
            <a:endParaRPr sz="2325" b="0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47700" y="5448300"/>
            <a:ext cx="53340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025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09675" y="5467350"/>
            <a:ext cx="30861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任务与建模</a:t>
            </a:r>
            <a:endParaRPr sz="2025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362450" y="5448300"/>
            <a:ext cx="53340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025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924425" y="5467350"/>
            <a:ext cx="30861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DQN 的学习过程</a:t>
            </a:r>
            <a:endParaRPr sz="2025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077200" y="5448300"/>
            <a:ext cx="53340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025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639175" y="5467350"/>
            <a:ext cx="30861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效果如何验证</a:t>
            </a:r>
            <a:endParaRPr sz="2025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647700" y="2476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任务与目标</a:t>
            </a:r>
            <a:endParaRPr sz="1350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68050" y="6353175"/>
            <a:ext cx="590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50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714375"/>
            <a:ext cx="10953750" cy="752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一套可控的打砖块任务</a:t>
            </a:r>
            <a:endParaRPr sz="3225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425" y="1737420"/>
            <a:ext cx="2809875" cy="3687961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4476750" y="1743075"/>
            <a:ext cx="2276475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70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70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5700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495800" y="2819400"/>
            <a:ext cx="2286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条生命</a:t>
            </a:r>
            <a:endParaRPr sz="1725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29425" y="1743075"/>
            <a:ext cx="2276475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70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70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120</a:t>
            </a:r>
            <a:endParaRPr sz="5700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48475" y="2819400"/>
            <a:ext cx="2286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px/s 固定球速</a:t>
            </a:r>
            <a:endParaRPr sz="1725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182100" y="1743075"/>
            <a:ext cx="2276475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70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70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864</a:t>
            </a:r>
            <a:endParaRPr sz="5700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201150" y="2819400"/>
            <a:ext cx="2286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规则最高分</a:t>
            </a:r>
            <a:endParaRPr sz="1725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486275" y="3676650"/>
            <a:ext cx="6905625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× 18 块砖，共两面砖墙</a:t>
            </a:r>
            <a:endParaRPr sz="2100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486275" y="4257675"/>
            <a:ext cx="6924675" cy="1285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挡板宽度固定 16 px</a:t>
            </a:r>
            <a:endParaRPr sz="2175" b="0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175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接球位置决定反弹方向</a:t>
            </a:r>
            <a:endParaRPr sz="2175" b="0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175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开局与丢球后自动发球</a:t>
            </a:r>
            <a:endParaRPr sz="2175" b="0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47700" y="5962650"/>
            <a:ext cx="107442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自制规则环境，图中为实际观测示例</a:t>
            </a:r>
            <a:endParaRPr sz="1650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647700" y="2476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任务与目标</a:t>
            </a:r>
            <a:endParaRPr sz="1350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68050" y="6353175"/>
            <a:ext cx="590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350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714375"/>
            <a:ext cx="10953750" cy="752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动作很少，决策并不简单</a:t>
            </a:r>
            <a:endParaRPr sz="3225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1697236"/>
            <a:ext cx="2609850" cy="3425428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571500" y="5257800"/>
            <a:ext cx="28003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6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等待 / 发球 / 右移 / 左移</a:t>
            </a:r>
            <a:endParaRPr sz="1650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057650" y="1762125"/>
            <a:ext cx="7239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700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0" y="1762125"/>
            <a:ext cx="6477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看见运动</a:t>
            </a:r>
            <a:endParaRPr sz="2100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0" y="2314575"/>
            <a:ext cx="6534150" cy="676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相同位置，可能有不同运动方向</a:t>
            </a:r>
            <a:endParaRPr sz="2100" b="0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057650" y="3009900"/>
            <a:ext cx="7239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700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953000" y="3009900"/>
            <a:ext cx="6477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等待奖励</a:t>
            </a:r>
            <a:endParaRPr sz="2100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953000" y="3562350"/>
            <a:ext cx="6534150" cy="676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移动与接球通常不会立刻得分</a:t>
            </a:r>
            <a:endParaRPr sz="2100" b="0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057650" y="4257675"/>
            <a:ext cx="7239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700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953000" y="4257675"/>
            <a:ext cx="6477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连续控制</a:t>
            </a:r>
            <a:endParaRPr sz="2100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953000" y="4810125"/>
            <a:ext cx="6534150" cy="676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一次正确动作，还不足以完成一局</a:t>
            </a:r>
            <a:endParaRPr sz="2100" b="0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47700" y="5962650"/>
            <a:ext cx="107442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四种离散动作，同时考验视觉感知与长期决策</a:t>
            </a:r>
            <a:endParaRPr sz="1650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2476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任务建模</a:t>
            </a:r>
            <a:endParaRPr sz="1350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68050" y="6353175"/>
            <a:ext cx="590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350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714375"/>
            <a:ext cx="10953750" cy="752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把游戏变成反复交互的学习问题</a:t>
            </a:r>
            <a:endParaRPr sz="3225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029200" y="2105025"/>
            <a:ext cx="33337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 aₜ</a:t>
            </a:r>
            <a:endParaRPr sz="2250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305300" y="4305300"/>
            <a:ext cx="47720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画面 sₜ₊₁  +  奖励 rₜ</a:t>
            </a:r>
            <a:endParaRPr sz="2175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266825" y="52482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25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</a:t>
            </a:r>
            <a:endParaRPr sz="2250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981950" y="5248275"/>
            <a:ext cx="31051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25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</a:t>
            </a:r>
            <a:endParaRPr sz="2250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47700" y="5962650"/>
            <a:ext cx="107442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状态近似表示、离散动作、原生击砖奖励，共同构成交互任务</a:t>
            </a:r>
            <a:endParaRPr sz="1650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647700" y="2476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任务建模</a:t>
            </a:r>
            <a:endParaRPr sz="1350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68050" y="6353175"/>
            <a:ext cx="590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350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714375"/>
            <a:ext cx="10953750" cy="752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连续四帧，让模型有机会看懂运动</a:t>
            </a:r>
            <a:endParaRPr sz="3225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571625"/>
            <a:ext cx="5381625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80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× 84 × 84</a:t>
            </a:r>
            <a:endParaRPr sz="4800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81725" y="1781175"/>
            <a:ext cx="5048250" cy="561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模型每次接收的图像输入</a:t>
            </a:r>
            <a:endParaRPr sz="2100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225" y="2752725"/>
            <a:ext cx="2381250" cy="2381250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676275" y="5257800"/>
            <a:ext cx="237172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1 帧</a:t>
            </a:r>
            <a:endParaRPr sz="1800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25" y="2752725"/>
            <a:ext cx="2381250" cy="2381250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3495675" y="5257800"/>
            <a:ext cx="237172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帧</a:t>
            </a:r>
            <a:endParaRPr sz="1800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025" y="2752725"/>
            <a:ext cx="2381250" cy="2381250"/>
          </a:xfrm>
          <a:prstGeom prst="rect">
            <a:avLst/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6315075" y="5257800"/>
            <a:ext cx="237172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帧</a:t>
            </a:r>
            <a:endParaRPr sz="1800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5425" y="2752725"/>
            <a:ext cx="2381250" cy="2381250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9134475" y="5257800"/>
            <a:ext cx="237172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4 帧</a:t>
            </a:r>
            <a:endParaRPr sz="1800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47700" y="5962650"/>
            <a:ext cx="107442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动作重复与最大池化，随后灰度缩放，最后堆叠四帧</a:t>
            </a:r>
            <a:endParaRPr sz="1650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2476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方法设计</a:t>
            </a:r>
            <a:endParaRPr sz="1350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68050" y="6353175"/>
            <a:ext cx="590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350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714375"/>
            <a:ext cx="10953750" cy="752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DQN 用视觉特征估计动作价值</a:t>
            </a:r>
            <a:endParaRPr sz="3225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76275" y="1438275"/>
            <a:ext cx="10763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连续画面进入网络，输出四个动作的长期收益估计</a:t>
            </a:r>
            <a:endParaRPr sz="2100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4886325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7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连续帧</a:t>
            </a:r>
            <a:endParaRPr sz="2175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657600" y="4886325"/>
            <a:ext cx="46482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7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CNN 视觉特征</a:t>
            </a:r>
            <a:endParaRPr sz="2175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096375" y="4886325"/>
            <a:ext cx="2447925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7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 Q 值</a:t>
            </a:r>
            <a:endParaRPr sz="2175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47700" y="5962650"/>
            <a:ext cx="107442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功能结构示意。Q 值是预计回报，不是动作概率</a:t>
            </a:r>
            <a:endParaRPr sz="1650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647700" y="2476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方法设计</a:t>
            </a:r>
            <a:endParaRPr sz="1350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68050" y="6353175"/>
            <a:ext cx="590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350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714375"/>
            <a:ext cx="10953750" cy="752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一次决策：比较四个动作的 Q 值</a:t>
            </a:r>
            <a:endParaRPr sz="3225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2" name="Chart"/>
          <p:cNvGraphicFramePr/>
          <p:nvPr/>
        </p:nvGraphicFramePr>
        <p:xfrm>
          <a:off x="581025" y="1857375"/>
          <a:ext cx="7219950" cy="3524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8334375" y="2343150"/>
            <a:ext cx="32385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70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70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LEFT</a:t>
            </a:r>
            <a:endParaRPr sz="5700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343900" y="3514725"/>
            <a:ext cx="3114675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7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选择左移</a:t>
            </a:r>
            <a:endParaRPr sz="2775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353425" y="4448175"/>
            <a:ext cx="3095625" cy="914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比较价值的相对大小</a:t>
            </a:r>
            <a:endParaRPr sz="1950" b="0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950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评估时采取贪心动作</a:t>
            </a:r>
            <a:endParaRPr sz="1950" b="0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47700" y="5962650"/>
            <a:ext cx="107442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假设小球向左下方运动。数值仅解释决策规则，不是模型实测输出</a:t>
            </a:r>
            <a:endParaRPr sz="1650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647700" y="2476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方法设计</a:t>
            </a:r>
            <a:endParaRPr sz="1350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68050" y="6353175"/>
            <a:ext cx="590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350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714375"/>
            <a:ext cx="10953750" cy="752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没有即时得分，正确移动仍然有价值</a:t>
            </a:r>
            <a:endParaRPr sz="3225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552575"/>
            <a:ext cx="108966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先移动和接球，奖励在击砖后出现</a:t>
            </a:r>
            <a:endParaRPr sz="2325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2287191"/>
            <a:ext cx="1638300" cy="2150269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47700" y="4562475"/>
            <a:ext cx="16383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0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移动</a:t>
            </a:r>
            <a:endParaRPr sz="2025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90550" y="5010150"/>
            <a:ext cx="17526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7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即时奖励 0</a:t>
            </a:r>
            <a:endParaRPr sz="1575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50" y="2287191"/>
            <a:ext cx="1638300" cy="2150269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2457450" y="4562475"/>
            <a:ext cx="16383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0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接球</a:t>
            </a:r>
            <a:endParaRPr sz="2025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400300" y="5010150"/>
            <a:ext cx="17526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7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即时奖励 0</a:t>
            </a:r>
            <a:endParaRPr sz="1575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2287191"/>
            <a:ext cx="1638300" cy="2150269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4267200" y="4562475"/>
            <a:ext cx="16383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0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击砖</a:t>
            </a:r>
            <a:endParaRPr sz="2025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210050" y="5010150"/>
            <a:ext cx="17526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7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获得游戏分数</a:t>
            </a:r>
            <a:endParaRPr sz="1575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772275" y="2305050"/>
            <a:ext cx="476250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假设后续价值为 10</a:t>
            </a:r>
            <a:endParaRPr sz="2100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667500" y="2971800"/>
            <a:ext cx="4876800" cy="733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3675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75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+ 0.99 × 10</a:t>
            </a:r>
            <a:endParaRPr sz="3675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791325" y="3733800"/>
            <a:ext cx="474345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600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00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 9.9</a:t>
            </a:r>
            <a:endParaRPr sz="6000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534150" y="5086350"/>
            <a:ext cx="5019675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当前估计 6，逐步向目标靠近</a:t>
            </a:r>
            <a:endParaRPr sz="2100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47700" y="5962650"/>
            <a:ext cx="107442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画面为规则控制示例；Q 值与学习目标为教学假设，假设转移未真正终止</a:t>
            </a:r>
            <a:endParaRPr sz="1650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647700" y="2476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方法设计</a:t>
            </a:r>
            <a:endParaRPr sz="1350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68050" y="6353175"/>
            <a:ext cx="590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350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714375"/>
            <a:ext cx="10953750" cy="752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两种机制，让学习过程更可控</a:t>
            </a:r>
            <a:endParaRPr sz="3225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562100"/>
            <a:ext cx="5229225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325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经验回放</a:t>
            </a:r>
            <a:endParaRPr sz="2325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315075" y="1562100"/>
            <a:ext cx="5229225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325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目标网络</a:t>
            </a:r>
            <a:endParaRPr sz="2325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5" y="1809750"/>
            <a:ext cx="10896590" cy="3632197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647700" y="5210175"/>
            <a:ext cx="5229225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025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保存交互转移，随机抽样反复学习</a:t>
            </a:r>
            <a:endParaRPr sz="2025" b="0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315075" y="5210175"/>
            <a:ext cx="5229225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025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在线网络学习，目标网络定期同步</a:t>
            </a:r>
            <a:endParaRPr sz="2025" b="0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47700" y="5686425"/>
            <a:ext cx="522922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87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减弱相邻样本的相关性</a:t>
            </a:r>
            <a:endParaRPr sz="1875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315075" y="5686425"/>
            <a:ext cx="522922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87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减缓学习目标的变化速度</a:t>
            </a:r>
            <a:endParaRPr sz="1875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647700" y="2476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方法设计</a:t>
            </a:r>
            <a:endParaRPr sz="1350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68050" y="6353175"/>
            <a:ext cx="590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350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714375"/>
            <a:ext cx="10953750" cy="752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训练前期多尝试，后期更多利用</a:t>
            </a:r>
            <a:endParaRPr sz="3225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3" name="Chart"/>
          <p:cNvGraphicFramePr/>
          <p:nvPr/>
        </p:nvGraphicFramePr>
        <p:xfrm>
          <a:off x="571500" y="1838325"/>
          <a:ext cx="8001000" cy="3562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8810625" y="2190750"/>
            <a:ext cx="2752725" cy="847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575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575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100%</a:t>
            </a:r>
            <a:endParaRPr sz="4575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839200" y="3114675"/>
            <a:ext cx="266700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初始探索概率</a:t>
            </a:r>
            <a:endParaRPr sz="1875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810625" y="4057650"/>
            <a:ext cx="2752725" cy="847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10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10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5%</a:t>
            </a:r>
            <a:endParaRPr sz="5100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839200" y="4972050"/>
            <a:ext cx="266700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300k 步后保持</a:t>
            </a:r>
            <a:endParaRPr sz="1875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47700" y="5962650"/>
            <a:ext cx="107442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横轴为决策步。图中展示探索概率计划，不代表训练成绩</a:t>
            </a:r>
            <a:endParaRPr sz="1650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矩形 17"/>
          <p:cNvSpPr>
            <a:spLocks noGrp="1"/>
          </p:cNvSpPr>
          <p:nvPr/>
        </p:nvSpPr>
        <p:spPr>
          <a:xfrm>
            <a:off x="647700" y="2476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实验设计</a:t>
            </a:r>
            <a:endParaRPr sz="1350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68050" y="6353175"/>
            <a:ext cx="590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350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714375"/>
            <a:ext cx="10953750" cy="752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训练、选模与展示形成完整流程</a:t>
            </a:r>
            <a:endParaRPr sz="3225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552575"/>
            <a:ext cx="30861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10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10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500k</a:t>
            </a:r>
            <a:endParaRPr sz="5100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324600" y="1552575"/>
            <a:ext cx="2886075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10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10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50k</a:t>
            </a:r>
            <a:endParaRPr sz="5100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933700" y="1819275"/>
            <a:ext cx="332422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基础训练预算（决策步）</a:t>
            </a:r>
            <a:endParaRPr sz="1875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401050" y="1819275"/>
            <a:ext cx="30861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经验回放容量</a:t>
            </a:r>
            <a:endParaRPr sz="1875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5" y="2143125"/>
            <a:ext cx="10896590" cy="3632197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647700" y="5229225"/>
            <a:ext cx="27241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收集经验</a:t>
            </a:r>
            <a:endParaRPr sz="2100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47700" y="5638800"/>
            <a:ext cx="27241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预热并存入回放池</a:t>
            </a:r>
            <a:endParaRPr sz="1725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371850" y="5229225"/>
            <a:ext cx="27241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更新网络</a:t>
            </a:r>
            <a:endParaRPr sz="2100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371850" y="5638800"/>
            <a:ext cx="27241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抽样训练 DQN</a:t>
            </a:r>
            <a:endParaRPr sz="1725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96000" y="5229225"/>
            <a:ext cx="27241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开发评估</a:t>
            </a:r>
            <a:endParaRPr sz="2100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096000" y="5638800"/>
            <a:ext cx="27241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比较候选策略</a:t>
            </a:r>
            <a:endParaRPr sz="1725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820150" y="5229225"/>
            <a:ext cx="27241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保存模型</a:t>
            </a:r>
            <a:endParaRPr sz="2100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820150" y="5638800"/>
            <a:ext cx="27241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保留较好检查点</a:t>
            </a:r>
            <a:endParaRPr sz="1725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47700" y="6162675"/>
            <a:ext cx="107442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流程为概念示意。训练预算不保证收敛，图中曲线不代表实测成绩</a:t>
            </a:r>
            <a:endParaRPr sz="1650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647700" y="2476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实验设计</a:t>
            </a:r>
            <a:endParaRPr sz="1350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68050" y="6353175"/>
            <a:ext cx="590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350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714375"/>
            <a:ext cx="10953750" cy="752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怎样证明模型真的学到了东西？</a:t>
            </a:r>
            <a:endParaRPr sz="3225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1" name="表格 10"/>
          <p:cNvGraphicFramePr/>
          <p:nvPr/>
        </p:nvGraphicFramePr>
        <p:xfrm>
          <a:off x="647700" y="1685925"/>
          <a:ext cx="10896600" cy="3238500"/>
        </p:xfrm>
        <a:graphic>
          <a:graphicData uri="http://schemas.openxmlformats.org/drawingml/2006/table">
            <a:tbl>
              <a:tblPr/>
              <a:tblGrid>
                <a:gridCol w="2876550"/>
                <a:gridCol w="4010025"/>
                <a:gridCol w="4010025"/>
              </a:tblGrid>
              <a:tr h="647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58DAD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比较项目</a:t>
                      </a:r>
                      <a:endParaRPr sz="1875" b="1">
                        <a:solidFill>
                          <a:srgbClr val="58DAD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114300" marB="95250" anchor="ctr">
                    <a:solidFill>
                      <a:srgbClr val="183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58DAD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随机策略 Random</a:t>
                      </a:r>
                      <a:endParaRPr sz="1875" b="1">
                        <a:solidFill>
                          <a:srgbClr val="58DAD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114300" marB="95250" anchor="ctr">
                    <a:solidFill>
                      <a:srgbClr val="183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58DAD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学习策略 DQN</a:t>
                      </a:r>
                      <a:endParaRPr sz="1875" b="1">
                        <a:solidFill>
                          <a:srgbClr val="58DAD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114300" marB="95250" anchor="ctr">
                    <a:solidFill>
                      <a:srgbClr val="18384A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6F8F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环境与输入</a:t>
                      </a:r>
                      <a:endParaRPr sz="1875" b="0">
                        <a:solidFill>
                          <a:srgbClr val="F6F8F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114300" marB="95250" anchor="ctr">
                    <a:solidFill>
                      <a:srgbClr val="101F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6F8F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同一物理规则与预处理</a:t>
                      </a:r>
                      <a:endParaRPr sz="1875" b="0">
                        <a:solidFill>
                          <a:srgbClr val="F6F8F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114300" marB="95250" anchor="ctr">
                    <a:solidFill>
                      <a:srgbClr val="101F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6F8F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同一物理规则与预处理</a:t>
                      </a:r>
                      <a:endParaRPr sz="1875" b="0">
                        <a:solidFill>
                          <a:srgbClr val="F6F8F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114300" marB="95250" anchor="ctr">
                    <a:solidFill>
                      <a:srgbClr val="101F30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6F8F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逐局开局</a:t>
                      </a:r>
                      <a:endParaRPr sz="1875" b="0">
                        <a:solidFill>
                          <a:srgbClr val="F6F8F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114300" marB="95250" anchor="ctr">
                    <a:solidFill>
                      <a:srgbClr val="1528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6F8F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相同种子、相同局数</a:t>
                      </a:r>
                      <a:endParaRPr sz="1875" b="0">
                        <a:solidFill>
                          <a:srgbClr val="F6F8F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114300" marB="95250" anchor="ctr">
                    <a:solidFill>
                      <a:srgbClr val="1528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6F8F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相同种子、相同局数</a:t>
                      </a:r>
                      <a:endParaRPr sz="1875" b="0">
                        <a:solidFill>
                          <a:srgbClr val="F6F8F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114300" marB="95250" anchor="ctr">
                    <a:solidFill>
                      <a:srgbClr val="15283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6F8F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动作选择</a:t>
                      </a:r>
                      <a:endParaRPr sz="1875" b="0">
                        <a:solidFill>
                          <a:srgbClr val="F6F8F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114300" marB="95250" anchor="ctr">
                    <a:solidFill>
                      <a:srgbClr val="101F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6F8F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随机选取动作</a:t>
                      </a:r>
                      <a:endParaRPr sz="1875" b="0">
                        <a:solidFill>
                          <a:srgbClr val="F6F8F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114300" marB="95250" anchor="ctr">
                    <a:solidFill>
                      <a:srgbClr val="101F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6F8F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选择 Q 值最大的动作</a:t>
                      </a:r>
                      <a:endParaRPr sz="1875" b="0">
                        <a:solidFill>
                          <a:srgbClr val="F6F8F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114300" marB="95250" anchor="ctr">
                    <a:solidFill>
                      <a:srgbClr val="101F30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6F8F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结果记录</a:t>
                      </a:r>
                      <a:endParaRPr sz="1875" b="0">
                        <a:solidFill>
                          <a:srgbClr val="F6F8F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114300" marB="95250" anchor="ctr">
                    <a:solidFill>
                      <a:srgbClr val="1528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6F8F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完整逐局得分</a:t>
                      </a:r>
                      <a:endParaRPr sz="1875" b="0">
                        <a:solidFill>
                          <a:srgbClr val="F6F8F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114300" marB="95250" anchor="ctr">
                    <a:solidFill>
                      <a:srgbClr val="1528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6F8F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完整逐局得分</a:t>
                      </a:r>
                      <a:endParaRPr sz="1875" b="0">
                        <a:solidFill>
                          <a:srgbClr val="F6F8F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114300" marB="95250" anchor="ctr">
                    <a:solidFill>
                      <a:srgbClr val="15283B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647700" y="5238750"/>
            <a:ext cx="530542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均分：整体表现</a:t>
            </a:r>
            <a:endParaRPr sz="2175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324600" y="5238750"/>
            <a:ext cx="521970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中位数：典型一局</a:t>
            </a:r>
            <a:endParaRPr sz="2175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5962650"/>
            <a:ext cx="107442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开发集用于选模，留出集用于最终测试；同时检查低分局与得分分布</a:t>
            </a:r>
            <a:endParaRPr sz="1650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647700" y="2476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预期与计划</a:t>
            </a:r>
            <a:endParaRPr sz="1350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68050" y="6353175"/>
            <a:ext cx="590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350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714375"/>
            <a:ext cx="10953750" cy="752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预期效果分为行为、分数和可靠性</a:t>
            </a:r>
            <a:endParaRPr sz="3225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5" y="1581150"/>
            <a:ext cx="10896590" cy="3632197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647700" y="4752975"/>
            <a:ext cx="3632197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325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行为</a:t>
            </a:r>
            <a:endParaRPr sz="2325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5248275"/>
            <a:ext cx="3632197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0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有效接球与击砖</a:t>
            </a:r>
            <a:endParaRPr sz="2025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5667375"/>
            <a:ext cx="3632197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在多局回放中观察控制</a:t>
            </a:r>
            <a:endParaRPr sz="1725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279897" y="4752975"/>
            <a:ext cx="3632197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325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分数</a:t>
            </a:r>
            <a:endParaRPr sz="2325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279897" y="5248275"/>
            <a:ext cx="3632197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0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优于随机策略</a:t>
            </a:r>
            <a:endParaRPr sz="2025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279897" y="5667375"/>
            <a:ext cx="3632197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同种子比较均分与中位数</a:t>
            </a:r>
            <a:endParaRPr sz="1725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912094" y="4752975"/>
            <a:ext cx="3632197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325" b="1">
                <a:solidFill>
                  <a:srgbClr val="F49D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F49D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可靠性</a:t>
            </a:r>
            <a:endParaRPr sz="2325" b="1">
              <a:solidFill>
                <a:srgbClr val="F49D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912094" y="5248275"/>
            <a:ext cx="3632197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0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减少明显失败</a:t>
            </a:r>
            <a:endParaRPr sz="2025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912094" y="5667375"/>
            <a:ext cx="3632197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检查低分局与失败原因</a:t>
            </a:r>
            <a:endParaRPr sz="1725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47700" y="6200775"/>
            <a:ext cx="107442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以上均为待验证的预期目标，最终结论以留出测试为准</a:t>
            </a:r>
            <a:endParaRPr sz="1650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647700" y="2476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预期与计划</a:t>
            </a:r>
            <a:endParaRPr sz="1350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68050" y="6353175"/>
            <a:ext cx="590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350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714375"/>
            <a:ext cx="10953750" cy="752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已有候选策略，仍需独立测试</a:t>
            </a:r>
            <a:endParaRPr sz="3225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2" name="Chart"/>
          <p:cNvGraphicFramePr/>
          <p:nvPr/>
        </p:nvGraphicFramePr>
        <p:xfrm>
          <a:off x="552450" y="1866900"/>
          <a:ext cx="7534275" cy="3486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8667750" y="2114550"/>
            <a:ext cx="2857500" cy="1152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90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endParaRPr sz="6900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696325" y="3390900"/>
            <a:ext cx="28575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相同开发种子</a:t>
            </a:r>
            <a:endParaRPr sz="2100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705850" y="4086225"/>
            <a:ext cx="2847975" cy="1390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42000–42029</a:t>
            </a:r>
            <a:endParaRPr sz="1950" b="0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950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两者均为学习模型</a:t>
            </a:r>
            <a:endParaRPr sz="1950" b="0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950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最终留出测试待完成</a:t>
            </a:r>
            <a:endParaRPr sz="1950" b="0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47700" y="5962650"/>
            <a:ext cx="107442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开发评估记录。仍需随机策略对照与最终留出测试</a:t>
            </a:r>
            <a:endParaRPr sz="1650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647700" y="2476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预期与计划</a:t>
            </a:r>
            <a:endParaRPr sz="1350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68050" y="6353175"/>
            <a:ext cx="590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1350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714375"/>
            <a:ext cx="10953750" cy="752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继续训练，为什么可能越练越差？</a:t>
            </a:r>
            <a:endParaRPr sz="3225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5" name="Chart"/>
          <p:cNvGraphicFramePr/>
          <p:nvPr/>
        </p:nvGraphicFramePr>
        <p:xfrm>
          <a:off x="466725" y="1866900"/>
          <a:ext cx="6848475" cy="3419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8134350" y="2057400"/>
            <a:ext cx="3400425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保留最佳</a:t>
            </a:r>
            <a:endParaRPr sz="2100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43875" y="2562225"/>
            <a:ext cx="3371850" cy="695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避免只保留最终节点</a:t>
            </a:r>
            <a:endParaRPr sz="1950" b="0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134350" y="3257550"/>
            <a:ext cx="3400425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起点评估</a:t>
            </a:r>
            <a:endParaRPr sz="2100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143875" y="3762375"/>
            <a:ext cx="3371850" cy="695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续训前建立比较起点</a:t>
            </a:r>
            <a:endParaRPr sz="1950" b="0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134350" y="4457700"/>
            <a:ext cx="3400425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F49D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49D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早停保护</a:t>
            </a:r>
            <a:endParaRPr sz="2100" b="1">
              <a:solidFill>
                <a:srgbClr val="F49D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143875" y="4962525"/>
            <a:ext cx="3371850" cy="695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连续未改善时停止</a:t>
            </a:r>
            <a:endParaRPr sz="1950" b="0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47700" y="5962650"/>
            <a:ext cx="107442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文档中的训练波动说明“最后未必最好”，不能仅凭曲线断定具体原因</a:t>
            </a:r>
            <a:endParaRPr sz="1650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647700" y="2476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预期与计划</a:t>
            </a:r>
            <a:endParaRPr sz="1350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68050" y="6353175"/>
            <a:ext cx="590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endParaRPr sz="1350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714375"/>
            <a:ext cx="10953750" cy="752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下一阶段：把学习目标变成可检验的结论</a:t>
            </a:r>
            <a:endParaRPr sz="3225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5" y="1571625"/>
            <a:ext cx="10896590" cy="3632197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647700" y="4838700"/>
            <a:ext cx="272415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75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固定协议</a:t>
            </a:r>
            <a:endParaRPr sz="2175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5381625"/>
            <a:ext cx="27241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800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统一游戏规则</a:t>
            </a:r>
            <a:endParaRPr sz="1800" b="0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5781675"/>
            <a:ext cx="27241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复核随机基线与种子</a:t>
            </a:r>
            <a:endParaRPr sz="1725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371850" y="4838700"/>
            <a:ext cx="272415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75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复核策略</a:t>
            </a:r>
            <a:endParaRPr sz="2175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371850" y="5381625"/>
            <a:ext cx="27241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800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比较候选模型</a:t>
            </a:r>
            <a:endParaRPr sz="1800" b="0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371850" y="5781675"/>
            <a:ext cx="27241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开发评估与必要续训</a:t>
            </a:r>
            <a:endParaRPr sz="1725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0" y="4838700"/>
            <a:ext cx="272415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75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独立测试</a:t>
            </a:r>
            <a:endParaRPr sz="2175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0" y="5381625"/>
            <a:ext cx="27241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800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冻结策略与参数</a:t>
            </a:r>
            <a:endParaRPr sz="1800" b="0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96000" y="5781675"/>
            <a:ext cx="27241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留出种子上汇总得分</a:t>
            </a:r>
            <a:endParaRPr sz="1725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820150" y="4838700"/>
            <a:ext cx="272415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75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归档展示</a:t>
            </a:r>
            <a:endParaRPr sz="2175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820150" y="5381625"/>
            <a:ext cx="27241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800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整理成功与失败对局</a:t>
            </a:r>
            <a:endParaRPr sz="1800" b="0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820150" y="5781675"/>
            <a:ext cx="27241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模型、报告与视频</a:t>
            </a:r>
            <a:endParaRPr sz="1725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2476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项目小结</a:t>
            </a:r>
            <a:endParaRPr sz="1350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68050" y="6353175"/>
            <a:ext cx="590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1350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76275" y="2038350"/>
            <a:ext cx="7219950" cy="1819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7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7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用长期回报</a:t>
            </a:r>
            <a:endParaRPr sz="4725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47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7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学习挡板控制</a:t>
            </a:r>
            <a:endParaRPr sz="4725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14375" y="4476750"/>
            <a:ext cx="72009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B5C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B5C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图像输入，DQN 学习，多局评估</a:t>
            </a:r>
            <a:endParaRPr sz="2175" b="0">
              <a:solidFill>
                <a:srgbClr val="B5CE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04850" y="5753100"/>
            <a:ext cx="6353175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谢谢，欢迎提问</a:t>
            </a:r>
            <a:endParaRPr sz="2550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647700" y="2476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答疑备用</a:t>
            </a:r>
            <a:endParaRPr sz="1350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68050" y="6353175"/>
            <a:ext cx="590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1350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714375"/>
            <a:ext cx="10953750" cy="752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备用：DQN 的一步学习目标</a:t>
            </a:r>
            <a:endParaRPr sz="3225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028825"/>
            <a:ext cx="10858500" cy="923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75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75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 = r + γ (1 − d) max Q_target(s′, a′)</a:t>
            </a:r>
            <a:endParaRPr sz="3675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3219450"/>
            <a:ext cx="1080135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r：即时奖励        γ：折扣因子        d：真正终止标记</a:t>
            </a:r>
            <a:endParaRPr sz="2175" b="0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42950" y="4400550"/>
            <a:ext cx="4905375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在线网络</a:t>
            </a:r>
            <a:endParaRPr sz="2100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4972050"/>
            <a:ext cx="4905375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 TD 误差调整当前 Q 值</a:t>
            </a:r>
            <a:endParaRPr sz="2100" b="0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0" y="4400550"/>
            <a:ext cx="48577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目标网络</a:t>
            </a:r>
            <a:endParaRPr sz="2100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667500" y="4972050"/>
            <a:ext cx="4857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提供更新较慢的后续价值估计</a:t>
            </a:r>
            <a:endParaRPr sz="2100" b="0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47700" y="5962650"/>
            <a:ext cx="107442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实现采用 Huber loss 与 Adam。时间上限截断与真正终止分开处理</a:t>
            </a:r>
            <a:endParaRPr sz="1650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47700" y="2476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答疑备用</a:t>
            </a:r>
            <a:endParaRPr sz="1350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68050" y="6353175"/>
            <a:ext cx="590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endParaRPr sz="1350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714375"/>
            <a:ext cx="10953750" cy="752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备用：当前基础训练配置</a:t>
            </a:r>
            <a:endParaRPr sz="3225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647700" y="1609725"/>
          <a:ext cx="10896600" cy="3886200"/>
        </p:xfrm>
        <a:graphic>
          <a:graphicData uri="http://schemas.openxmlformats.org/drawingml/2006/table">
            <a:tbl>
              <a:tblPr/>
              <a:tblGrid>
                <a:gridCol w="4105275"/>
                <a:gridCol w="6791325"/>
              </a:tblGrid>
              <a:tr h="6477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58DAD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参数</a:t>
                      </a:r>
                      <a:endParaRPr sz="1950" b="1">
                        <a:solidFill>
                          <a:srgbClr val="58DAD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114300" marB="95250" anchor="ctr">
                    <a:solidFill>
                      <a:srgbClr val="183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58DAD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从头训练配置</a:t>
                      </a:r>
                      <a:endParaRPr sz="1950" b="1">
                        <a:solidFill>
                          <a:srgbClr val="58DAD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114300" marB="95250" anchor="ctr">
                    <a:solidFill>
                      <a:srgbClr val="18384A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6F8F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预算 / 回放容量</a:t>
                      </a:r>
                      <a:endParaRPr sz="1950" b="0">
                        <a:solidFill>
                          <a:srgbClr val="F6F8F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114300" marB="95250" anchor="ctr">
                    <a:solidFill>
                      <a:srgbClr val="101F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6F8F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500,000 决策步 / 50,000 条</a:t>
                      </a:r>
                      <a:endParaRPr sz="1950" b="0">
                        <a:solidFill>
                          <a:srgbClr val="F6F8F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114300" marB="95250" anchor="ctr">
                    <a:solidFill>
                      <a:srgbClr val="101F30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6F8F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学习率 / 折扣因子</a:t>
                      </a:r>
                      <a:endParaRPr sz="1950" b="0">
                        <a:solidFill>
                          <a:srgbClr val="F6F8F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114300" marB="95250" anchor="ctr">
                    <a:solidFill>
                      <a:srgbClr val="1528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6F8F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0.0001 / 0.99</a:t>
                      </a:r>
                      <a:endParaRPr sz="1950" b="0">
                        <a:solidFill>
                          <a:srgbClr val="F6F8F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114300" marB="95250" anchor="ctr">
                    <a:solidFill>
                      <a:srgbClr val="15283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6F8F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预热 / 批量大小</a:t>
                      </a:r>
                      <a:endParaRPr sz="1950" b="0">
                        <a:solidFill>
                          <a:srgbClr val="F6F8F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114300" marB="95250" anchor="ctr">
                    <a:solidFill>
                      <a:srgbClr val="101F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6F8F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20,000 步 / 32</a:t>
                      </a:r>
                      <a:endParaRPr sz="1950" b="0">
                        <a:solidFill>
                          <a:srgbClr val="F6F8F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114300" marB="95250" anchor="ctr">
                    <a:solidFill>
                      <a:srgbClr val="101F30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6F8F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目标网络同步</a:t>
                      </a:r>
                      <a:endParaRPr sz="1950" b="0">
                        <a:solidFill>
                          <a:srgbClr val="F6F8F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114300" marB="95250" anchor="ctr">
                    <a:solidFill>
                      <a:srgbClr val="1528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6F8F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 10,000 步</a:t>
                      </a:r>
                      <a:endParaRPr sz="1950" b="0">
                        <a:solidFill>
                          <a:srgbClr val="F6F8F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114300" marB="95250" anchor="ctr">
                    <a:solidFill>
                      <a:srgbClr val="15283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6F8F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探索概率</a:t>
                      </a:r>
                      <a:endParaRPr sz="1950" b="0">
                        <a:solidFill>
                          <a:srgbClr val="F6F8F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114300" marB="95250" anchor="ctr">
                    <a:solidFill>
                      <a:srgbClr val="101F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6F8F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前 300k 步由 1.00 降至 0.05</a:t>
                      </a:r>
                      <a:endParaRPr sz="1950" b="0">
                        <a:solidFill>
                          <a:srgbClr val="F6F8F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114300" marB="95250" anchor="ctr">
                    <a:solidFill>
                      <a:srgbClr val="101F30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647700" y="5962650"/>
            <a:ext cx="107442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基础配置。续训另设更低的学习率、学习率衰减与早停</a:t>
            </a:r>
            <a:endParaRPr sz="1650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647700" y="2476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答疑备用</a:t>
            </a:r>
            <a:endParaRPr sz="1350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68050" y="6353175"/>
            <a:ext cx="590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  <a:endParaRPr sz="1350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714375"/>
            <a:ext cx="10953750" cy="752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F6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备用：开发评估的两套协议</a:t>
            </a:r>
            <a:endParaRPr sz="3225" b="1">
              <a:solidFill>
                <a:srgbClr val="F6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647700" y="1914525"/>
          <a:ext cx="10896600" cy="2628900"/>
        </p:xfrm>
        <a:graphic>
          <a:graphicData uri="http://schemas.openxmlformats.org/drawingml/2006/table">
            <a:tbl>
              <a:tblPr/>
              <a:tblGrid>
                <a:gridCol w="5286375"/>
                <a:gridCol w="1323975"/>
                <a:gridCol w="2143125"/>
                <a:gridCol w="2143125"/>
              </a:tblGrid>
              <a:tr h="8763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58DAD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开发评估协议</a:t>
                      </a:r>
                      <a:endParaRPr sz="2025" b="1">
                        <a:solidFill>
                          <a:srgbClr val="58DAD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114300" marB="95250" anchor="ctr">
                    <a:solidFill>
                      <a:srgbClr val="183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58DAD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局数</a:t>
                      </a:r>
                      <a:endParaRPr sz="2025" b="1">
                        <a:solidFill>
                          <a:srgbClr val="58DAD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114300" marB="95250" anchor="ctr">
                    <a:solidFill>
                      <a:srgbClr val="183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58DAD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均分</a:t>
                      </a:r>
                      <a:endParaRPr sz="2025" b="1">
                        <a:solidFill>
                          <a:srgbClr val="58DAD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114300" marB="95250" anchor="ctr">
                    <a:solidFill>
                      <a:srgbClr val="183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58DAD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中位数</a:t>
                      </a:r>
                      <a:endParaRPr sz="2025" b="1">
                        <a:solidFill>
                          <a:srgbClr val="58DAD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114300" marB="95250" anchor="ctr">
                    <a:solidFill>
                      <a:srgbClr val="18384A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6F8F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推荐模型开发评估</a:t>
                      </a:r>
                      <a:endParaRPr sz="2025" b="0">
                        <a:solidFill>
                          <a:srgbClr val="F6F8F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114300" marB="95250" anchor="ctr">
                    <a:solidFill>
                      <a:srgbClr val="101F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6F8F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50</a:t>
                      </a:r>
                      <a:endParaRPr sz="2025" b="0">
                        <a:solidFill>
                          <a:srgbClr val="F6F8F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114300" marB="95250" anchor="ctr">
                    <a:solidFill>
                      <a:srgbClr val="101F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6F8F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283.48</a:t>
                      </a:r>
                      <a:endParaRPr sz="2025" b="0">
                        <a:solidFill>
                          <a:srgbClr val="F6F8F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114300" marB="95250" anchor="ctr">
                    <a:solidFill>
                      <a:srgbClr val="101F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6F8F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未列出</a:t>
                      </a:r>
                      <a:endParaRPr sz="2025" b="0">
                        <a:solidFill>
                          <a:srgbClr val="F6F8F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114300" marB="95250" anchor="ctr">
                    <a:solidFill>
                      <a:srgbClr val="101F30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6F8F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额外开发种子复测</a:t>
                      </a:r>
                      <a:endParaRPr sz="2025" b="0">
                        <a:solidFill>
                          <a:srgbClr val="F6F8F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114300" marB="95250" anchor="ctr">
                    <a:solidFill>
                      <a:srgbClr val="1528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6F8F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</a:t>
                      </a:r>
                      <a:endParaRPr sz="2025" b="0">
                        <a:solidFill>
                          <a:srgbClr val="F6F8F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114300" marB="95250" anchor="ctr">
                    <a:solidFill>
                      <a:srgbClr val="1528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6F8F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260.27</a:t>
                      </a:r>
                      <a:endParaRPr sz="2025" b="0">
                        <a:solidFill>
                          <a:srgbClr val="F6F8F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114300" marB="95250" anchor="ctr">
                    <a:solidFill>
                      <a:srgbClr val="1528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6F8F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257.00</a:t>
                      </a:r>
                      <a:endParaRPr sz="2025" b="0">
                        <a:solidFill>
                          <a:srgbClr val="F6F8F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114300" marB="95250" anchor="ctr">
                    <a:solidFill>
                      <a:srgbClr val="15283B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685800" y="5153025"/>
            <a:ext cx="10858500" cy="561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58DA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两套评估分别报告，最终测试仍待完成</a:t>
            </a:r>
            <a:endParaRPr sz="2625" b="1">
              <a:solidFill>
                <a:srgbClr val="58DA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5962650"/>
            <a:ext cx="107442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9BAC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两套协议使用不同种子集合，不合并计算</a:t>
            </a:r>
            <a:endParaRPr sz="1650" b="0">
              <a:solidFill>
                <a:srgbClr val="9BAC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2146</Words>
  <Application>WPS 演示</Application>
  <PresentationFormat>Converted Presentation</PresentationFormat>
  <Paragraphs>488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柯佟</cp:lastModifiedBy>
  <cp:revision>1</cp:revision>
  <dcterms:created xsi:type="dcterms:W3CDTF">2026-10-05T05:55:42Z</dcterms:created>
  <dcterms:modified xsi:type="dcterms:W3CDTF">2026-10-05T05:55:42Z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31927DDEA043423FB518086B0BAA9188_12</vt:lpwstr>
  </property>
  <property fmtid="{D5CDD505-2E9C-101B-9397-08002B2CF9AE}" pid="3" name="KSOProductBuildVer">
    <vt:lpwstr>2052-12.1.0.28505</vt:lpwstr>
  </property>
</Properties>
</file>